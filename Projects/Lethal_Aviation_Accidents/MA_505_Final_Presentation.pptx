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63_82FC23E0.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comments/modernComment_165_E4DF6BB6.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 id="2147483742" r:id="rId5"/>
  </p:sldMasterIdLst>
  <p:notesMasterIdLst>
    <p:notesMasterId r:id="rId23"/>
  </p:notesMasterIdLst>
  <p:sldIdLst>
    <p:sldId id="279" r:id="rId6"/>
    <p:sldId id="352" r:id="rId7"/>
    <p:sldId id="437" r:id="rId8"/>
    <p:sldId id="310" r:id="rId9"/>
    <p:sldId id="355" r:id="rId10"/>
    <p:sldId id="356" r:id="rId11"/>
    <p:sldId id="357" r:id="rId12"/>
    <p:sldId id="439" r:id="rId13"/>
    <p:sldId id="358" r:id="rId14"/>
    <p:sldId id="360" r:id="rId15"/>
    <p:sldId id="441" r:id="rId16"/>
    <p:sldId id="440" r:id="rId17"/>
    <p:sldId id="363" r:id="rId18"/>
    <p:sldId id="434" r:id="rId19"/>
    <p:sldId id="442" r:id="rId20"/>
    <p:sldId id="435" r:id="rId21"/>
    <p:sldId id="43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8C6A0A3-7086-45F6-AF48-983BB5F33EF4}">
          <p14:sldIdLst>
            <p14:sldId id="279"/>
            <p14:sldId id="352"/>
            <p14:sldId id="437"/>
            <p14:sldId id="310"/>
            <p14:sldId id="355"/>
            <p14:sldId id="356"/>
            <p14:sldId id="357"/>
            <p14:sldId id="439"/>
            <p14:sldId id="358"/>
            <p14:sldId id="360"/>
            <p14:sldId id="441"/>
            <p14:sldId id="440"/>
            <p14:sldId id="363"/>
            <p14:sldId id="434"/>
            <p14:sldId id="442"/>
            <p14:sldId id="435"/>
            <p14:sldId id="43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B9C4AA-E984-8EB2-863B-5F53E6FD9B87}" name="Crawford, Clancy K." initials="CC" userId="S::CRAWFOC1@my.erau.edu::7c6ec59a-9fc9-469c-b2c6-df74f2342050" providerId="AD"/>
  <p188:author id="{1C54FBD2-6920-8ABA-F356-140B66305D1C}" name="Mascal, Timothy M." initials="TM" userId="S::MASCALT@my.erau.edu::d541609a-106c-4aea-a1d4-8329429c516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00FF00"/>
    <a:srgbClr val="FF00FF"/>
    <a:srgbClr val="008080"/>
    <a:srgbClr val="800000"/>
    <a:srgbClr val="783F05"/>
    <a:srgbClr val="C198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247C1A-2BBE-41EF-989A-EA9C87F8D7FC}" v="3416" dt="2026-04-16T20:18:08.763"/>
    <p1510:client id="{2A599527-21AD-41D8-92C1-29492CEA7ED2}" v="3" dt="2026-06-26T17:44:11.989"/>
    <p1510:client id="{46E20F70-BDB9-CD4B-AF0C-22A95DDCE943}" v="222" dt="2026-04-16T19:32:00.995"/>
    <p1510:client id="{8DF49FBE-81DD-46E8-9ACB-8BD162738929}" v="1124" dt="2026-04-16T19:13:46.088"/>
    <p1510:client id="{A0552FE3-9CD4-4446-BF79-8F4A4985CEF1}" v="353" dt="2026-04-16T20:18:29.3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omments/modernComment_163_82FC23E0.xml><?xml version="1.0" encoding="utf-8"?>
<p188:cmLst xmlns:a="http://schemas.openxmlformats.org/drawingml/2006/main" xmlns:r="http://schemas.openxmlformats.org/officeDocument/2006/relationships" xmlns:p188="http://schemas.microsoft.com/office/powerpoint/2018/8/main">
  <p188:cm id="{32514E55-F3D2-43C4-8954-DB8A4105E4AE}" authorId="{1C54FBD2-6920-8ABA-F356-140B66305D1C}" status="resolved" created="2026-04-14T22:01:08.656">
    <ac:txMkLst xmlns:ac="http://schemas.microsoft.com/office/drawing/2013/main/command">
      <pc:docMk xmlns:pc="http://schemas.microsoft.com/office/powerpoint/2013/main/command"/>
      <pc:sldMk xmlns:pc="http://schemas.microsoft.com/office/powerpoint/2013/main/command" cId="2197562336" sldId="355"/>
      <ac:spMk id="3" creationId="{1F01DF64-C699-B692-5659-8FF420B367D7}"/>
      <ac:txMk cp="168">
        <ac:context len="229" hash="688306133"/>
      </ac:txMk>
    </ac:txMkLst>
    <p188:pos x="5059018" y="2022768"/>
    <p188:txBody>
      <a:bodyPr/>
      <a:lstStyle/>
      <a:p>
        <a:r>
          <a:rPr lang="en-US"/>
          <a:t>Insert Actual Equation from Part 1</a:t>
        </a:r>
      </a:p>
    </p188:txBody>
  </p188:cm>
</p188:cmLst>
</file>

<file path=ppt/comments/modernComment_165_E4DF6BB6.xml><?xml version="1.0" encoding="utf-8"?>
<p188:cmLst xmlns:a="http://schemas.openxmlformats.org/drawingml/2006/main" xmlns:r="http://schemas.openxmlformats.org/officeDocument/2006/relationships" xmlns:p188="http://schemas.microsoft.com/office/powerpoint/2018/8/main">
  <p188:cm id="{E2ADB9F5-999F-4EA0-BB47-3F002E8C59C2}" authorId="{1C54FBD2-6920-8ABA-F356-140B66305D1C}" status="resolved" created="2026-04-14T22:01:52.399" complete="100000">
    <ac:txMkLst xmlns:ac="http://schemas.microsoft.com/office/drawing/2013/main/command">
      <pc:docMk xmlns:pc="http://schemas.microsoft.com/office/powerpoint/2013/main/command"/>
      <pc:sldMk xmlns:pc="http://schemas.microsoft.com/office/powerpoint/2013/main/command" cId="2363109296" sldId="272"/>
      <ac:graphicFrameMk id="7" creationId="{4DD0D469-06D2-F473-570D-B4D356724336}"/>
      <dc:dgmMk xmlns:dc="http://schemas.microsoft.com/office/drawing/2013/diagram/command"/>
      <dc:nodeMk xmlns:dc="http://schemas.microsoft.com/office/drawing/2013/diagram/command" id="{04411AAB-8AF4-494A-B2C0-1E65BD508A0A}"/>
      <ac:txMk cp="0" len="33">
        <ac:context len="34" hash="1100220251"/>
      </ac:txMk>
    </ac:txMkLst>
    <p188:pos x="3132413" y="1823326"/>
    <p188:txBody>
      <a:bodyPr/>
      <a:lstStyle/>
      <a:p>
        <a:r>
          <a:rPr lang="en-US"/>
          <a:t>Add more assumptions (Maybe seperatie slide) See teams message posts for detailed assumptions</a:t>
        </a:r>
      </a:p>
    </p188:txBody>
  </p188:cm>
  <p188:cm id="{308D849C-1927-4A03-91D9-C9740C3A2296}" authorId="{1C54FBD2-6920-8ABA-F356-140B66305D1C}" status="resolved" created="2026-04-14T22:02:15.842" complete="100000">
    <ac:txMkLst xmlns:ac="http://schemas.microsoft.com/office/drawing/2013/main/command">
      <pc:docMk xmlns:pc="http://schemas.microsoft.com/office/powerpoint/2013/main/command"/>
      <pc:sldMk xmlns:pc="http://schemas.microsoft.com/office/powerpoint/2013/main/command" cId="3839847350" sldId="357"/>
      <ac:graphicFrameMk id="7" creationId="{4DD0D469-06D2-F473-570D-B4D356724336}"/>
      <dc:dgmMk xmlns:dc="http://schemas.microsoft.com/office/drawing/2013/diagram/command"/>
      <dc:nodeMk xmlns:dc="http://schemas.microsoft.com/office/drawing/2013/diagram/command" id="{01FFE462-3F8B-4CA8-B800-454C2227064D}"/>
      <ac:txMk cp="0" len="30">
        <ac:context len="31" hash="3248642393"/>
      </ac:txMk>
    </ac:txMkLst>
    <p188:txBody>
      <a:bodyPr/>
      <a:lstStyle/>
      <a:p>
        <a:r>
          <a:rPr lang="en-US"/>
          <a:t>Also could use its own slide, see teams post for Algorithm Details</a:t>
        </a:r>
      </a:p>
    </p188:txBody>
  </p188:cm>
  <p188:cm id="{9477566E-5281-449E-9D5E-8349FC0816A4}" authorId="{1C54FBD2-6920-8ABA-F356-140B66305D1C}" status="resolved" created="2026-04-14T22:15:45.374" complete="100000">
    <pc:sldMkLst xmlns:pc="http://schemas.microsoft.com/office/powerpoint/2013/main/command">
      <pc:docMk/>
      <pc:sldMk cId="2363109296" sldId="272"/>
    </pc:sldMkLst>
    <p188:txBody>
      <a:bodyPr/>
      <a:lstStyle/>
      <a:p>
        <a:r>
          <a:rPr lang="en-US"/>
          <a:t>TODO: Add Slide to detail what adjustment set to isolate causal effect: See teams</a:t>
        </a:r>
      </a:p>
    </p188:txBody>
  </p188:cm>
</p188:cmLst>
</file>

<file path=ppt/diagrams/_rels/data4.xml.rels><?xml version="1.0" encoding="UTF-8" standalone="yes"?>
<Relationships xmlns="http://schemas.openxmlformats.org/package/2006/relationships"><Relationship Id="rId1" Type="http://schemas.openxmlformats.org/officeDocument/2006/relationships/hyperlink" Target="http://edis.ifas.ufl.edu/" TargetMode="External"/></Relationships>
</file>

<file path=ppt/diagrams/_rels/drawing4.xml.rels><?xml version="1.0" encoding="UTF-8" standalone="yes"?>
<Relationships xmlns="http://schemas.openxmlformats.org/package/2006/relationships"><Relationship Id="rId1" Type="http://schemas.openxmlformats.org/officeDocument/2006/relationships/hyperlink" Target="http://edis.ifas.ufl.edu/"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F59037-2F65-4B48-BAA5-2B0A043D8A85}" type="doc">
      <dgm:prSet loTypeId="urn:microsoft.com/office/officeart/2009/3/layout/DescendingProcess" loCatId="process" qsTypeId="urn:microsoft.com/office/officeart/2005/8/quickstyle/simple1" qsCatId="simple" csTypeId="urn:microsoft.com/office/officeart/2005/8/colors/accent1_2" csCatId="accent1" phldr="1"/>
      <dgm:spPr/>
      <dgm:t>
        <a:bodyPr/>
        <a:lstStyle/>
        <a:p>
          <a:endParaRPr lang="en-US"/>
        </a:p>
      </dgm:t>
    </dgm:pt>
    <dgm:pt modelId="{27F03B9D-2CEC-416F-BCB6-D8F17991F4C3}">
      <dgm:prSet phldrT="[Text]" phldr="0"/>
      <dgm:spPr/>
      <dgm:t>
        <a:bodyPr/>
        <a:lstStyle/>
        <a:p>
          <a:r>
            <a:rPr lang="en-US"/>
            <a:t>Raw Crash Summaries</a:t>
          </a:r>
        </a:p>
      </dgm:t>
    </dgm:pt>
    <dgm:pt modelId="{5A1A9184-1FAC-43A1-A548-219E808BAD87}" type="parTrans" cxnId="{E6C44798-74B2-45C2-9AD7-80D01C82C68F}">
      <dgm:prSet/>
      <dgm:spPr/>
      <dgm:t>
        <a:bodyPr/>
        <a:lstStyle/>
        <a:p>
          <a:endParaRPr lang="en-US"/>
        </a:p>
      </dgm:t>
    </dgm:pt>
    <dgm:pt modelId="{FE8EE478-8E68-49B7-BDDD-1CA8E9808E3C}" type="sibTrans" cxnId="{E6C44798-74B2-45C2-9AD7-80D01C82C68F}">
      <dgm:prSet/>
      <dgm:spPr/>
      <dgm:t>
        <a:bodyPr/>
        <a:lstStyle/>
        <a:p>
          <a:endParaRPr lang="en-US"/>
        </a:p>
      </dgm:t>
    </dgm:pt>
    <dgm:pt modelId="{17D50736-E3B9-44C2-9010-288F16536C5D}">
      <dgm:prSet phldrT="[Text]" phldr="0"/>
      <dgm:spPr/>
      <dgm:t>
        <a:bodyPr/>
        <a:lstStyle/>
        <a:p>
          <a:r>
            <a:rPr lang="en-US"/>
            <a:t>Binary Variables (yes/no)</a:t>
          </a:r>
        </a:p>
      </dgm:t>
    </dgm:pt>
    <dgm:pt modelId="{DEA47475-0E06-4BD3-B420-9411B538C6C3}" type="parTrans" cxnId="{0483FA60-B8C4-46D8-B0F9-F87655865262}">
      <dgm:prSet/>
      <dgm:spPr/>
      <dgm:t>
        <a:bodyPr/>
        <a:lstStyle/>
        <a:p>
          <a:endParaRPr lang="en-US"/>
        </a:p>
      </dgm:t>
    </dgm:pt>
    <dgm:pt modelId="{69CA400F-801B-4BF9-8860-DCEDDF0A692E}" type="sibTrans" cxnId="{0483FA60-B8C4-46D8-B0F9-F87655865262}">
      <dgm:prSet/>
      <dgm:spPr/>
      <dgm:t>
        <a:bodyPr/>
        <a:lstStyle/>
        <a:p>
          <a:endParaRPr lang="en-US"/>
        </a:p>
      </dgm:t>
    </dgm:pt>
    <dgm:pt modelId="{64038105-7A76-4E2A-9DA6-3975448DE17B}">
      <dgm:prSet phldrT="[Text]" phldr="0"/>
      <dgm:spPr/>
      <dgm:t>
        <a:bodyPr/>
        <a:lstStyle/>
        <a:p>
          <a:r>
            <a:rPr lang="en-US"/>
            <a:t>Fatality Rate</a:t>
          </a:r>
        </a:p>
      </dgm:t>
    </dgm:pt>
    <dgm:pt modelId="{D0EEAB8D-77E6-4EA2-BB81-A530A47BDEE3}" type="parTrans" cxnId="{988D98DD-0372-437D-95C9-D4B26934A806}">
      <dgm:prSet/>
      <dgm:spPr/>
      <dgm:t>
        <a:bodyPr/>
        <a:lstStyle/>
        <a:p>
          <a:endParaRPr lang="en-US"/>
        </a:p>
      </dgm:t>
    </dgm:pt>
    <dgm:pt modelId="{9C8B6EBD-7397-426C-82F6-B99BCCDA2D5E}" type="sibTrans" cxnId="{988D98DD-0372-437D-95C9-D4B26934A806}">
      <dgm:prSet/>
      <dgm:spPr/>
      <dgm:t>
        <a:bodyPr/>
        <a:lstStyle/>
        <a:p>
          <a:endParaRPr lang="en-US"/>
        </a:p>
      </dgm:t>
    </dgm:pt>
    <dgm:pt modelId="{C7A91952-5F6D-4829-902A-98BAA9919083}">
      <dgm:prSet phldrT="[Text]" phldr="0"/>
      <dgm:spPr/>
      <dgm:t>
        <a:bodyPr/>
        <a:lstStyle/>
        <a:p>
          <a:r>
            <a:rPr lang="en-US"/>
            <a:t>Cause Categories</a:t>
          </a:r>
        </a:p>
      </dgm:t>
    </dgm:pt>
    <dgm:pt modelId="{EAAFD444-70D8-426F-B215-8389002C133C}" type="parTrans" cxnId="{81FB09E5-A2D6-4346-AEBC-3F49EFECFBF2}">
      <dgm:prSet/>
      <dgm:spPr/>
      <dgm:t>
        <a:bodyPr/>
        <a:lstStyle/>
        <a:p>
          <a:endParaRPr lang="en-US"/>
        </a:p>
      </dgm:t>
    </dgm:pt>
    <dgm:pt modelId="{D6F35F6F-93CF-456D-B490-7C88295739F1}" type="sibTrans" cxnId="{81FB09E5-A2D6-4346-AEBC-3F49EFECFBF2}">
      <dgm:prSet/>
      <dgm:spPr/>
      <dgm:t>
        <a:bodyPr/>
        <a:lstStyle/>
        <a:p>
          <a:endParaRPr lang="en-US"/>
        </a:p>
      </dgm:t>
    </dgm:pt>
    <dgm:pt modelId="{8C73DB74-7B8A-40CE-9037-BDDAB941B5A6}">
      <dgm:prSet phldrT="[Text]" phldr="0"/>
      <dgm:spPr/>
      <dgm:t>
        <a:bodyPr/>
        <a:lstStyle/>
        <a:p>
          <a:r>
            <a:rPr lang="en-US"/>
            <a:t>Weather, Mechanical, Pilot error, CFIT, etc.</a:t>
          </a:r>
        </a:p>
      </dgm:t>
    </dgm:pt>
    <dgm:pt modelId="{BA702E6A-D005-43D2-AC44-320C9ACD981D}" type="parTrans" cxnId="{F3523552-DD35-4371-9D6C-A9DA06CA785E}">
      <dgm:prSet/>
      <dgm:spPr/>
      <dgm:t>
        <a:bodyPr/>
        <a:lstStyle/>
        <a:p>
          <a:endParaRPr lang="en-US"/>
        </a:p>
      </dgm:t>
    </dgm:pt>
    <dgm:pt modelId="{A23E94CC-8ED3-4948-BB20-C8D3B6854809}" type="sibTrans" cxnId="{F3523552-DD35-4371-9D6C-A9DA06CA785E}">
      <dgm:prSet/>
      <dgm:spPr/>
      <dgm:t>
        <a:bodyPr/>
        <a:lstStyle/>
        <a:p>
          <a:endParaRPr lang="en-US"/>
        </a:p>
      </dgm:t>
    </dgm:pt>
    <dgm:pt modelId="{CB996454-001A-4C38-8CE9-06F0CB7F26C3}">
      <dgm:prSet phldrT="[Text]" phldr="0"/>
      <dgm:spPr/>
      <dgm:t>
        <a:bodyPr/>
        <a:lstStyle/>
        <a:p>
          <a:r>
            <a:rPr lang="en-US"/>
            <a:t> </a:t>
          </a:r>
        </a:p>
      </dgm:t>
    </dgm:pt>
    <dgm:pt modelId="{9F35BE9E-6F42-43EA-B1F8-70BC8465B474}" type="parTrans" cxnId="{66034883-140A-4846-AF52-97726078A752}">
      <dgm:prSet/>
      <dgm:spPr/>
      <dgm:t>
        <a:bodyPr/>
        <a:lstStyle/>
        <a:p>
          <a:endParaRPr lang="en-US"/>
        </a:p>
      </dgm:t>
    </dgm:pt>
    <dgm:pt modelId="{2E10394C-03B3-4675-B9D9-609D55891606}" type="sibTrans" cxnId="{66034883-140A-4846-AF52-97726078A752}">
      <dgm:prSet/>
      <dgm:spPr/>
      <dgm:t>
        <a:bodyPr/>
        <a:lstStyle/>
        <a:p>
          <a:endParaRPr lang="en-US"/>
        </a:p>
      </dgm:t>
    </dgm:pt>
    <dgm:pt modelId="{F3BAAF21-0D9E-4A2B-95E0-2608305B50F9}" type="pres">
      <dgm:prSet presAssocID="{C7F59037-2F65-4B48-BAA5-2B0A043D8A85}" presName="Name0" presStyleCnt="0">
        <dgm:presLayoutVars>
          <dgm:chMax val="7"/>
          <dgm:chPref val="5"/>
        </dgm:presLayoutVars>
      </dgm:prSet>
      <dgm:spPr/>
    </dgm:pt>
    <dgm:pt modelId="{01F79391-D346-48F2-83A1-F3F675A41D38}" type="pres">
      <dgm:prSet presAssocID="{C7F59037-2F65-4B48-BAA5-2B0A043D8A85}" presName="arrowNode" presStyleLbl="node1" presStyleIdx="0" presStyleCnt="1" custAng="21495963" custScaleX="153098" custScaleY="96596" custLinFactNeighborX="16181" custLinFactNeighborY="-18066"/>
      <dgm:spPr/>
    </dgm:pt>
    <dgm:pt modelId="{B808C4FC-E760-4B3B-B96C-9C52E7B3FC34}" type="pres">
      <dgm:prSet presAssocID="{27F03B9D-2CEC-416F-BCB6-D8F17991F4C3}" presName="txNode1" presStyleLbl="revTx" presStyleIdx="0" presStyleCnt="5" custAng="21111293" custLinFactNeighborX="-47591" custLinFactNeighborY="93377">
        <dgm:presLayoutVars>
          <dgm:bulletEnabled val="1"/>
        </dgm:presLayoutVars>
      </dgm:prSet>
      <dgm:spPr/>
    </dgm:pt>
    <dgm:pt modelId="{C6B4E2C3-F1E1-48DF-8591-FC9DF34816EF}" type="pres">
      <dgm:prSet presAssocID="{C7A91952-5F6D-4829-902A-98BAA9919083}" presName="txNode2" presStyleLbl="revTx" presStyleIdx="1" presStyleCnt="5" custAng="21191681" custLinFactNeighborX="-99948" custLinFactNeighborY="84622">
        <dgm:presLayoutVars>
          <dgm:bulletEnabled val="1"/>
        </dgm:presLayoutVars>
      </dgm:prSet>
      <dgm:spPr/>
    </dgm:pt>
    <dgm:pt modelId="{EF617134-4E39-4AB4-8605-AAF411611B4C}" type="pres">
      <dgm:prSet presAssocID="{D6F35F6F-93CF-456D-B490-7C88295739F1}" presName="dotNode2" presStyleCnt="0"/>
      <dgm:spPr/>
    </dgm:pt>
    <dgm:pt modelId="{EE680823-F9B3-47FC-90F4-52B6012F77DF}" type="pres">
      <dgm:prSet presAssocID="{D6F35F6F-93CF-456D-B490-7C88295739F1}" presName="dotRepeatNode" presStyleLbl="fgShp" presStyleIdx="0" presStyleCnt="3" custAng="744622"/>
      <dgm:spPr/>
    </dgm:pt>
    <dgm:pt modelId="{7DC82614-8C16-47E7-A5A7-DC5EAB1A81FB}" type="pres">
      <dgm:prSet presAssocID="{17D50736-E3B9-44C2-9010-288F16536C5D}" presName="txNode3" presStyleLbl="revTx" presStyleIdx="2" presStyleCnt="5" custAng="20952981" custLinFactX="20498" custLinFactY="-16444" custLinFactNeighborX="100000" custLinFactNeighborY="-100000">
        <dgm:presLayoutVars>
          <dgm:bulletEnabled val="1"/>
        </dgm:presLayoutVars>
      </dgm:prSet>
      <dgm:spPr/>
    </dgm:pt>
    <dgm:pt modelId="{BA2C4738-2D21-4E35-B6A4-9A68A9FA23E8}" type="pres">
      <dgm:prSet presAssocID="{69CA400F-801B-4BF9-8860-DCEDDF0A692E}" presName="dotNode3" presStyleCnt="0"/>
      <dgm:spPr/>
    </dgm:pt>
    <dgm:pt modelId="{1623018B-83ED-48FE-B9AC-B5D5009BC423}" type="pres">
      <dgm:prSet presAssocID="{69CA400F-801B-4BF9-8860-DCEDDF0A692E}" presName="dotRepeatNode" presStyleLbl="fgShp" presStyleIdx="1" presStyleCnt="3" custAng="19719652" custLinFactX="300000" custLinFactY="-200000" custLinFactNeighborX="339460" custLinFactNeighborY="-224062"/>
      <dgm:spPr/>
    </dgm:pt>
    <dgm:pt modelId="{59943F05-B714-4763-BF1B-A7A76F1649D6}" type="pres">
      <dgm:prSet presAssocID="{64038105-7A76-4E2A-9DA6-3975448DE17B}" presName="txNode4" presStyleLbl="revTx" presStyleIdx="3" presStyleCnt="5" custAng="21317964" custLinFactNeighborX="-62352" custLinFactNeighborY="-31182">
        <dgm:presLayoutVars>
          <dgm:bulletEnabled val="1"/>
        </dgm:presLayoutVars>
      </dgm:prSet>
      <dgm:spPr/>
    </dgm:pt>
    <dgm:pt modelId="{F7243E54-224D-47B3-8A07-9F386AC8174E}" type="pres">
      <dgm:prSet presAssocID="{9C8B6EBD-7397-426C-82F6-B99BCCDA2D5E}" presName="dotNode4" presStyleCnt="0"/>
      <dgm:spPr/>
    </dgm:pt>
    <dgm:pt modelId="{EAE4F54E-AD77-4855-BF5E-9E2240FEAB64}" type="pres">
      <dgm:prSet presAssocID="{9C8B6EBD-7397-426C-82F6-B99BCCDA2D5E}" presName="dotRepeatNode" presStyleLbl="fgShp" presStyleIdx="2" presStyleCnt="3" custAng="1189993" custLinFactX="530833" custLinFactY="-300000" custLinFactNeighborX="600000" custLinFactNeighborY="-352922"/>
      <dgm:spPr/>
    </dgm:pt>
    <dgm:pt modelId="{99389DD3-E574-4688-8A2C-D58227CD2B92}" type="pres">
      <dgm:prSet presAssocID="{CB996454-001A-4C38-8CE9-06F0CB7F26C3}" presName="txNode5" presStyleLbl="revTx" presStyleIdx="4" presStyleCnt="5">
        <dgm:presLayoutVars>
          <dgm:bulletEnabled val="1"/>
        </dgm:presLayoutVars>
      </dgm:prSet>
      <dgm:spPr/>
    </dgm:pt>
  </dgm:ptLst>
  <dgm:cxnLst>
    <dgm:cxn modelId="{A7B4991A-D3C1-4534-A5EA-B47BAB64E737}" type="presOf" srcId="{64038105-7A76-4E2A-9DA6-3975448DE17B}" destId="{59943F05-B714-4763-BF1B-A7A76F1649D6}" srcOrd="0" destOrd="0" presId="urn:microsoft.com/office/officeart/2009/3/layout/DescendingProcess"/>
    <dgm:cxn modelId="{84755136-F27C-43D5-BE6B-559ACD830324}" type="presOf" srcId="{C7A91952-5F6D-4829-902A-98BAA9919083}" destId="{C6B4E2C3-F1E1-48DF-8591-FC9DF34816EF}" srcOrd="0" destOrd="0" presId="urn:microsoft.com/office/officeart/2009/3/layout/DescendingProcess"/>
    <dgm:cxn modelId="{0483FA60-B8C4-46D8-B0F9-F87655865262}" srcId="{C7F59037-2F65-4B48-BAA5-2B0A043D8A85}" destId="{17D50736-E3B9-44C2-9010-288F16536C5D}" srcOrd="2" destOrd="0" parTransId="{DEA47475-0E06-4BD3-B420-9411B538C6C3}" sibTransId="{69CA400F-801B-4BF9-8860-DCEDDF0A692E}"/>
    <dgm:cxn modelId="{4561F546-A72D-420A-824C-F7F6E3D2A3D7}" type="presOf" srcId="{9C8B6EBD-7397-426C-82F6-B99BCCDA2D5E}" destId="{EAE4F54E-AD77-4855-BF5E-9E2240FEAB64}" srcOrd="0" destOrd="0" presId="urn:microsoft.com/office/officeart/2009/3/layout/DescendingProcess"/>
    <dgm:cxn modelId="{F3523552-DD35-4371-9D6C-A9DA06CA785E}" srcId="{C7A91952-5F6D-4829-902A-98BAA9919083}" destId="{8C73DB74-7B8A-40CE-9037-BDDAB941B5A6}" srcOrd="0" destOrd="0" parTransId="{BA702E6A-D005-43D2-AC44-320C9ACD981D}" sibTransId="{A23E94CC-8ED3-4948-BB20-C8D3B6854809}"/>
    <dgm:cxn modelId="{0FD9C57C-377E-4651-87C7-D8F48B4B5357}" type="presOf" srcId="{27F03B9D-2CEC-416F-BCB6-D8F17991F4C3}" destId="{B808C4FC-E760-4B3B-B96C-9C52E7B3FC34}" srcOrd="0" destOrd="0" presId="urn:microsoft.com/office/officeart/2009/3/layout/DescendingProcess"/>
    <dgm:cxn modelId="{66034883-140A-4846-AF52-97726078A752}" srcId="{C7F59037-2F65-4B48-BAA5-2B0A043D8A85}" destId="{CB996454-001A-4C38-8CE9-06F0CB7F26C3}" srcOrd="4" destOrd="0" parTransId="{9F35BE9E-6F42-43EA-B1F8-70BC8465B474}" sibTransId="{2E10394C-03B3-4675-B9D9-609D55891606}"/>
    <dgm:cxn modelId="{E6C44798-74B2-45C2-9AD7-80D01C82C68F}" srcId="{C7F59037-2F65-4B48-BAA5-2B0A043D8A85}" destId="{27F03B9D-2CEC-416F-BCB6-D8F17991F4C3}" srcOrd="0" destOrd="0" parTransId="{5A1A9184-1FAC-43A1-A548-219E808BAD87}" sibTransId="{FE8EE478-8E68-49B7-BDDD-1CA8E9808E3C}"/>
    <dgm:cxn modelId="{5DE678BA-1811-4EE1-940F-631384872D2E}" type="presOf" srcId="{C7F59037-2F65-4B48-BAA5-2B0A043D8A85}" destId="{F3BAAF21-0D9E-4A2B-95E0-2608305B50F9}" srcOrd="0" destOrd="0" presId="urn:microsoft.com/office/officeart/2009/3/layout/DescendingProcess"/>
    <dgm:cxn modelId="{A9FC96BD-970D-4D75-A1B2-CA4050C37034}" type="presOf" srcId="{D6F35F6F-93CF-456D-B490-7C88295739F1}" destId="{EE680823-F9B3-47FC-90F4-52B6012F77DF}" srcOrd="0" destOrd="0" presId="urn:microsoft.com/office/officeart/2009/3/layout/DescendingProcess"/>
    <dgm:cxn modelId="{E6A2C5C2-0FCE-4543-BC6E-3AE7B8932860}" type="presOf" srcId="{CB996454-001A-4C38-8CE9-06F0CB7F26C3}" destId="{99389DD3-E574-4688-8A2C-D58227CD2B92}" srcOrd="0" destOrd="0" presId="urn:microsoft.com/office/officeart/2009/3/layout/DescendingProcess"/>
    <dgm:cxn modelId="{FEBC4AD0-BD8B-437A-8713-532F6693BA80}" type="presOf" srcId="{17D50736-E3B9-44C2-9010-288F16536C5D}" destId="{7DC82614-8C16-47E7-A5A7-DC5EAB1A81FB}" srcOrd="0" destOrd="0" presId="urn:microsoft.com/office/officeart/2009/3/layout/DescendingProcess"/>
    <dgm:cxn modelId="{974535D3-49FF-49A1-9448-4C5B768210AF}" type="presOf" srcId="{69CA400F-801B-4BF9-8860-DCEDDF0A692E}" destId="{1623018B-83ED-48FE-B9AC-B5D5009BC423}" srcOrd="0" destOrd="0" presId="urn:microsoft.com/office/officeart/2009/3/layout/DescendingProcess"/>
    <dgm:cxn modelId="{988D98DD-0372-437D-95C9-D4B26934A806}" srcId="{C7F59037-2F65-4B48-BAA5-2B0A043D8A85}" destId="{64038105-7A76-4E2A-9DA6-3975448DE17B}" srcOrd="3" destOrd="0" parTransId="{D0EEAB8D-77E6-4EA2-BB81-A530A47BDEE3}" sibTransId="{9C8B6EBD-7397-426C-82F6-B99BCCDA2D5E}"/>
    <dgm:cxn modelId="{81FB09E5-A2D6-4346-AEBC-3F49EFECFBF2}" srcId="{C7F59037-2F65-4B48-BAA5-2B0A043D8A85}" destId="{C7A91952-5F6D-4829-902A-98BAA9919083}" srcOrd="1" destOrd="0" parTransId="{EAAFD444-70D8-426F-B215-8389002C133C}" sibTransId="{D6F35F6F-93CF-456D-B490-7C88295739F1}"/>
    <dgm:cxn modelId="{4CBC9DFA-E839-4825-9FAD-9DE98393CA83}" type="presOf" srcId="{8C73DB74-7B8A-40CE-9037-BDDAB941B5A6}" destId="{C6B4E2C3-F1E1-48DF-8591-FC9DF34816EF}" srcOrd="0" destOrd="1" presId="urn:microsoft.com/office/officeart/2009/3/layout/DescendingProcess"/>
    <dgm:cxn modelId="{CC2BE173-1DB3-464C-B265-BDEBB66AEB88}" type="presParOf" srcId="{F3BAAF21-0D9E-4A2B-95E0-2608305B50F9}" destId="{01F79391-D346-48F2-83A1-F3F675A41D38}" srcOrd="0" destOrd="0" presId="urn:microsoft.com/office/officeart/2009/3/layout/DescendingProcess"/>
    <dgm:cxn modelId="{1C8665E0-5870-4A1C-9F55-AACBE5D8C479}" type="presParOf" srcId="{F3BAAF21-0D9E-4A2B-95E0-2608305B50F9}" destId="{B808C4FC-E760-4B3B-B96C-9C52E7B3FC34}" srcOrd="1" destOrd="0" presId="urn:microsoft.com/office/officeart/2009/3/layout/DescendingProcess"/>
    <dgm:cxn modelId="{0673FDC7-E5B0-4345-B94E-800779B4F347}" type="presParOf" srcId="{F3BAAF21-0D9E-4A2B-95E0-2608305B50F9}" destId="{C6B4E2C3-F1E1-48DF-8591-FC9DF34816EF}" srcOrd="2" destOrd="0" presId="urn:microsoft.com/office/officeart/2009/3/layout/DescendingProcess"/>
    <dgm:cxn modelId="{F0505BEA-F047-4E48-9EF5-9978774E0745}" type="presParOf" srcId="{F3BAAF21-0D9E-4A2B-95E0-2608305B50F9}" destId="{EF617134-4E39-4AB4-8605-AAF411611B4C}" srcOrd="3" destOrd="0" presId="urn:microsoft.com/office/officeart/2009/3/layout/DescendingProcess"/>
    <dgm:cxn modelId="{7BDF39F4-13BC-4AD4-8901-011E2ADEB36D}" type="presParOf" srcId="{EF617134-4E39-4AB4-8605-AAF411611B4C}" destId="{EE680823-F9B3-47FC-90F4-52B6012F77DF}" srcOrd="0" destOrd="0" presId="urn:microsoft.com/office/officeart/2009/3/layout/DescendingProcess"/>
    <dgm:cxn modelId="{E3299946-2110-4F68-8B16-8CAC6FD2783F}" type="presParOf" srcId="{F3BAAF21-0D9E-4A2B-95E0-2608305B50F9}" destId="{7DC82614-8C16-47E7-A5A7-DC5EAB1A81FB}" srcOrd="4" destOrd="0" presId="urn:microsoft.com/office/officeart/2009/3/layout/DescendingProcess"/>
    <dgm:cxn modelId="{54AA5AEB-8DA6-4F39-B831-76D2636C27DA}" type="presParOf" srcId="{F3BAAF21-0D9E-4A2B-95E0-2608305B50F9}" destId="{BA2C4738-2D21-4E35-B6A4-9A68A9FA23E8}" srcOrd="5" destOrd="0" presId="urn:microsoft.com/office/officeart/2009/3/layout/DescendingProcess"/>
    <dgm:cxn modelId="{4958402A-9DC2-4F2C-860A-C46750587CE9}" type="presParOf" srcId="{BA2C4738-2D21-4E35-B6A4-9A68A9FA23E8}" destId="{1623018B-83ED-48FE-B9AC-B5D5009BC423}" srcOrd="0" destOrd="0" presId="urn:microsoft.com/office/officeart/2009/3/layout/DescendingProcess"/>
    <dgm:cxn modelId="{07FC4A3A-EFDD-405C-BDD2-8F68DDB83F32}" type="presParOf" srcId="{F3BAAF21-0D9E-4A2B-95E0-2608305B50F9}" destId="{59943F05-B714-4763-BF1B-A7A76F1649D6}" srcOrd="6" destOrd="0" presId="urn:microsoft.com/office/officeart/2009/3/layout/DescendingProcess"/>
    <dgm:cxn modelId="{0E982501-BD5A-4D09-BDAF-00658739044B}" type="presParOf" srcId="{F3BAAF21-0D9E-4A2B-95E0-2608305B50F9}" destId="{F7243E54-224D-47B3-8A07-9F386AC8174E}" srcOrd="7" destOrd="0" presId="urn:microsoft.com/office/officeart/2009/3/layout/DescendingProcess"/>
    <dgm:cxn modelId="{2AF49D78-B3E2-413A-924A-D88CF6E51E7D}" type="presParOf" srcId="{F7243E54-224D-47B3-8A07-9F386AC8174E}" destId="{EAE4F54E-AD77-4855-BF5E-9E2240FEAB64}" srcOrd="0" destOrd="0" presId="urn:microsoft.com/office/officeart/2009/3/layout/DescendingProcess"/>
    <dgm:cxn modelId="{964EDA15-ED00-4DCA-9467-2F0D5A06DEFA}" type="presParOf" srcId="{F3BAAF21-0D9E-4A2B-95E0-2608305B50F9}" destId="{99389DD3-E574-4688-8A2C-D58227CD2B92}" srcOrd="8" destOrd="0" presId="urn:microsoft.com/office/officeart/2009/3/layout/Descending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653408-4D43-4C31-ABD4-13CFBB65431E}" type="doc">
      <dgm:prSet loTypeId="urn:microsoft.com/office/officeart/2005/8/layout/list1" loCatId="list" qsTypeId="urn:microsoft.com/office/officeart/2005/8/quickstyle/simple1" qsCatId="simple" csTypeId="urn:microsoft.com/office/officeart/2005/8/colors/accent6_1" csCatId="accent6" phldr="1"/>
      <dgm:spPr/>
      <dgm:t>
        <a:bodyPr/>
        <a:lstStyle/>
        <a:p>
          <a:endParaRPr lang="en-US"/>
        </a:p>
      </dgm:t>
    </dgm:pt>
    <dgm:pt modelId="{2D2EA1AE-8C52-48F0-82D2-0981BA08C3C6}">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dgm:spPr>
      <dgm:t>
        <a:bodyPr/>
        <a:lstStyle/>
        <a:p>
          <a:r>
            <a:rPr lang="en-US"/>
            <a:t>Dataset</a:t>
          </a:r>
        </a:p>
      </dgm:t>
    </dgm:pt>
    <dgm:pt modelId="{628878B5-EE58-4A6C-840E-DF5F5130EDA4}" type="parTrans" cxnId="{E9F50C25-6E42-4EDC-BCBE-2BA4ED491580}">
      <dgm:prSet/>
      <dgm:spPr/>
      <dgm:t>
        <a:bodyPr/>
        <a:lstStyle/>
        <a:p>
          <a:endParaRPr lang="en-US"/>
        </a:p>
      </dgm:t>
    </dgm:pt>
    <dgm:pt modelId="{853D3F9B-C711-4153-BECE-8809DA8DC6D2}" type="sibTrans" cxnId="{E9F50C25-6E42-4EDC-BCBE-2BA4ED491580}">
      <dgm:prSet/>
      <dgm:spPr/>
      <dgm:t>
        <a:bodyPr/>
        <a:lstStyle/>
        <a:p>
          <a:endParaRPr lang="en-US"/>
        </a:p>
      </dgm:t>
    </dgm:pt>
    <dgm:pt modelId="{CFA163A7-BF48-4F5F-AA6F-BB3AB4B1704C}">
      <dgm:prSet phldrT="[Text]">
        <dgm:style>
          <a:lnRef idx="0">
            <a:scrgbClr r="0" g="0" b="0"/>
          </a:lnRef>
          <a:fillRef idx="0">
            <a:scrgbClr r="0" g="0" b="0"/>
          </a:fillRef>
          <a:effectRef idx="0">
            <a:scrgbClr r="0" g="0" b="0"/>
          </a:effectRef>
          <a:fontRef idx="minor">
            <a:schemeClr val="lt1"/>
          </a:fontRef>
        </dgm:style>
      </dgm:prSet>
      <dgm: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dgm:spPr>
      <dgm:t>
        <a:bodyPr/>
        <a:lstStyle/>
        <a:p>
          <a:r>
            <a:rPr lang="en-US"/>
            <a:t>Strong Accuracy Performance</a:t>
          </a:r>
        </a:p>
      </dgm:t>
    </dgm:pt>
    <dgm:pt modelId="{C939E8E5-715C-43DB-9D93-A05610F1D824}" type="parTrans" cxnId="{ED4CECD4-CC36-4293-82B9-18040F2E9366}">
      <dgm:prSet/>
      <dgm:spPr/>
      <dgm:t>
        <a:bodyPr/>
        <a:lstStyle/>
        <a:p>
          <a:endParaRPr lang="en-US"/>
        </a:p>
      </dgm:t>
    </dgm:pt>
    <dgm:pt modelId="{D1B81ADC-4963-44A7-BF2C-36E1A78CAC75}" type="sibTrans" cxnId="{ED4CECD4-CC36-4293-82B9-18040F2E9366}">
      <dgm:prSet/>
      <dgm:spPr/>
      <dgm:t>
        <a:bodyPr/>
        <a:lstStyle/>
        <a:p>
          <a:endParaRPr lang="en-US"/>
        </a:p>
      </dgm:t>
    </dgm:pt>
    <dgm:pt modelId="{31164F10-CC15-40BF-BD0E-FF870021EAB7}">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dgm:spPr>
      <dgm:t>
        <a:bodyPr/>
        <a:lstStyle/>
        <a:p>
          <a:r>
            <a:rPr lang="en-US"/>
            <a:t>Lower Accuracy Performance</a:t>
          </a:r>
        </a:p>
      </dgm:t>
    </dgm:pt>
    <dgm:pt modelId="{EC5D36C8-A779-48BC-B72B-CD08CFD06CC8}" type="parTrans" cxnId="{3A97D2A4-29D1-4F9D-A62A-BF9E66F1AE0D}">
      <dgm:prSet/>
      <dgm:spPr/>
      <dgm:t>
        <a:bodyPr/>
        <a:lstStyle/>
        <a:p>
          <a:endParaRPr lang="en-US"/>
        </a:p>
      </dgm:t>
    </dgm:pt>
    <dgm:pt modelId="{A3857C77-A909-49C8-9E32-4C9294155491}" type="sibTrans" cxnId="{3A97D2A4-29D1-4F9D-A62A-BF9E66F1AE0D}">
      <dgm:prSet/>
      <dgm:spPr/>
      <dgm:t>
        <a:bodyPr/>
        <a:lstStyle/>
        <a:p>
          <a:endParaRPr lang="en-US"/>
        </a:p>
      </dgm:t>
    </dgm:pt>
    <dgm:pt modelId="{07EF1B00-D0FC-4AF5-87C4-926BCD2B119B}">
      <dgm:prSet phldrT="[Text]" phldr="0"/>
      <dgm:spPr>
        <a:effectLst>
          <a:outerShdw blurRad="50800" dist="38100" dir="5400000" algn="t" rotWithShape="0">
            <a:prstClr val="black">
              <a:alpha val="40000"/>
            </a:prstClr>
          </a:outerShdw>
        </a:effectLst>
      </dgm:spPr>
      <dgm:t>
        <a:bodyPr/>
        <a:lstStyle/>
        <a:p>
          <a:r>
            <a:rPr lang="en-US"/>
            <a:t>5,268 aviation accidents (1908–2009)</a:t>
          </a:r>
        </a:p>
      </dgm:t>
    </dgm:pt>
    <dgm:pt modelId="{DCCBD9C0-E12C-4089-875C-CAAF161EDDEA}" type="parTrans" cxnId="{675773FE-86DC-46F6-9490-D3DF74BB0EA0}">
      <dgm:prSet/>
      <dgm:spPr/>
      <dgm:t>
        <a:bodyPr/>
        <a:lstStyle/>
        <a:p>
          <a:endParaRPr lang="en-US"/>
        </a:p>
      </dgm:t>
    </dgm:pt>
    <dgm:pt modelId="{A56C4A60-20E5-44C1-A924-3AB29632DF75}" type="sibTrans" cxnId="{675773FE-86DC-46F6-9490-D3DF74BB0EA0}">
      <dgm:prSet/>
      <dgm:spPr/>
      <dgm:t>
        <a:bodyPr/>
        <a:lstStyle/>
        <a:p>
          <a:endParaRPr lang="en-US"/>
        </a:p>
      </dgm:t>
    </dgm:pt>
    <dgm:pt modelId="{36EFCC9A-EA2F-41C4-96F6-53C0E0D5EFB7}">
      <dgm:prSet/>
      <dgm:spPr>
        <a:effectLst>
          <a:outerShdw blurRad="50800" dist="38100" dir="5400000" algn="t" rotWithShape="0">
            <a:prstClr val="black">
              <a:alpha val="40000"/>
            </a:prstClr>
          </a:outerShdw>
        </a:effectLst>
      </dgm:spPr>
      <dgm:t>
        <a:bodyPr/>
        <a:lstStyle/>
        <a:p>
          <a:r>
            <a:rPr lang="en-US"/>
            <a:t>Extracted causes from crash summaries (unstructured text)</a:t>
          </a:r>
        </a:p>
      </dgm:t>
    </dgm:pt>
    <dgm:pt modelId="{988FF3E7-B69B-4711-83A8-A5C6849D9019}" type="parTrans" cxnId="{8961D277-CD43-4112-A7F8-40D128EA2EF4}">
      <dgm:prSet/>
      <dgm:spPr/>
      <dgm:t>
        <a:bodyPr/>
        <a:lstStyle/>
        <a:p>
          <a:endParaRPr lang="en-US"/>
        </a:p>
      </dgm:t>
    </dgm:pt>
    <dgm:pt modelId="{B44BAFC0-9B83-4CF0-AECE-F9C94491DD2B}" type="sibTrans" cxnId="{8961D277-CD43-4112-A7F8-40D128EA2EF4}">
      <dgm:prSet/>
      <dgm:spPr/>
      <dgm:t>
        <a:bodyPr/>
        <a:lstStyle/>
        <a:p>
          <a:endParaRPr lang="en-US"/>
        </a:p>
      </dgm:t>
    </dgm:pt>
    <dgm:pt modelId="{463CF4E3-A69B-41EF-A6BA-F3DA29BEC056}">
      <dgm:prSet/>
      <dgm:spPr>
        <a:effectLst>
          <a:outerShdw blurRad="50800" dist="38100" dir="5400000" algn="t" rotWithShape="0">
            <a:prstClr val="black">
              <a:alpha val="40000"/>
            </a:prstClr>
          </a:outerShdw>
        </a:effectLst>
      </dgm:spPr>
      <dgm:t>
        <a:bodyPr/>
        <a:lstStyle/>
        <a:p>
          <a:r>
            <a:rPr lang="en-US"/>
            <a:t>Classified into 11 contributing factor categories</a:t>
          </a:r>
        </a:p>
      </dgm:t>
    </dgm:pt>
    <dgm:pt modelId="{555EBA57-2D1F-4E78-A01B-BAAB5C4A5AE2}" type="parTrans" cxnId="{84817FE7-79E8-4C78-A990-A6D057A06437}">
      <dgm:prSet/>
      <dgm:spPr/>
      <dgm:t>
        <a:bodyPr/>
        <a:lstStyle/>
        <a:p>
          <a:endParaRPr lang="en-US"/>
        </a:p>
      </dgm:t>
    </dgm:pt>
    <dgm:pt modelId="{2376DB6D-80E4-4CEB-AC68-6BDAA308E820}" type="sibTrans" cxnId="{84817FE7-79E8-4C78-A990-A6D057A06437}">
      <dgm:prSet/>
      <dgm:spPr/>
      <dgm:t>
        <a:bodyPr/>
        <a:lstStyle/>
        <a:p>
          <a:endParaRPr lang="en-US"/>
        </a:p>
      </dgm:t>
    </dgm:pt>
    <dgm:pt modelId="{CBB768A8-C6E6-4BE9-A06D-E6668A9FD3FE}">
      <dgm:prSet/>
      <dgm:spPr>
        <a:effectLst>
          <a:outerShdw blurRad="50800" dist="38100" dir="5400000" algn="t" rotWithShape="0">
            <a:prstClr val="black">
              <a:alpha val="40000"/>
            </a:prstClr>
          </a:outerShdw>
        </a:effectLst>
      </dgm:spPr>
      <dgm:t>
        <a:bodyPr/>
        <a:lstStyle/>
        <a:p>
          <a:r>
            <a:rPr lang="en-US"/>
            <a:t>Weather (F1 ≈ 0.96)</a:t>
          </a:r>
        </a:p>
      </dgm:t>
    </dgm:pt>
    <dgm:pt modelId="{1DF56972-4E4A-42D7-A608-9998754128E1}" type="parTrans" cxnId="{CC80DF64-883C-45B1-899D-08C52DD1D84C}">
      <dgm:prSet/>
      <dgm:spPr/>
      <dgm:t>
        <a:bodyPr/>
        <a:lstStyle/>
        <a:p>
          <a:endParaRPr lang="en-US"/>
        </a:p>
      </dgm:t>
    </dgm:pt>
    <dgm:pt modelId="{BDEECEF0-D868-4DBE-9AA3-E04900ECBEAC}" type="sibTrans" cxnId="{CC80DF64-883C-45B1-899D-08C52DD1D84C}">
      <dgm:prSet/>
      <dgm:spPr/>
      <dgm:t>
        <a:bodyPr/>
        <a:lstStyle/>
        <a:p>
          <a:endParaRPr lang="en-US"/>
        </a:p>
      </dgm:t>
    </dgm:pt>
    <dgm:pt modelId="{E1685410-1C91-4803-93E2-3FB557B050E0}">
      <dgm:prSet/>
      <dgm:spPr>
        <a:effectLst>
          <a:outerShdw blurRad="50800" dist="38100" dir="5400000" algn="t" rotWithShape="0">
            <a:prstClr val="black">
              <a:alpha val="40000"/>
            </a:prstClr>
          </a:outerShdw>
        </a:effectLst>
      </dgm:spPr>
      <dgm:t>
        <a:bodyPr/>
        <a:lstStyle/>
        <a:p>
          <a:r>
            <a:rPr lang="en-US"/>
            <a:t>CFIT (F1 ≈ 0.93)</a:t>
          </a:r>
        </a:p>
      </dgm:t>
    </dgm:pt>
    <dgm:pt modelId="{3C5AF009-BB30-4CEB-83EF-2C84E09EF18F}" type="parTrans" cxnId="{026CACCE-DA28-4741-A044-3F8CB2FFE61D}">
      <dgm:prSet/>
      <dgm:spPr/>
      <dgm:t>
        <a:bodyPr/>
        <a:lstStyle/>
        <a:p>
          <a:endParaRPr lang="en-US"/>
        </a:p>
      </dgm:t>
    </dgm:pt>
    <dgm:pt modelId="{80973263-28C4-423B-BDD8-089D580CCAD4}" type="sibTrans" cxnId="{026CACCE-DA28-4741-A044-3F8CB2FFE61D}">
      <dgm:prSet/>
      <dgm:spPr/>
      <dgm:t>
        <a:bodyPr/>
        <a:lstStyle/>
        <a:p>
          <a:endParaRPr lang="en-US"/>
        </a:p>
      </dgm:t>
    </dgm:pt>
    <dgm:pt modelId="{BA27C1DA-8D7C-4103-A41E-749B95610DA2}">
      <dgm:prSet phldrT="[Text]" phldr="0"/>
      <dgm:spPr>
        <a:effectLst>
          <a:outerShdw blurRad="50800" dist="38100" dir="5400000" algn="t" rotWithShape="0">
            <a:prstClr val="black">
              <a:alpha val="40000"/>
            </a:prstClr>
          </a:outerShdw>
        </a:effectLst>
      </dgm:spPr>
      <dgm:t>
        <a:bodyPr/>
        <a:lstStyle/>
        <a:p>
          <a:r>
            <a:rPr lang="en-US"/>
            <a:t>Fire (F1 ≈ 0.91)</a:t>
          </a:r>
        </a:p>
      </dgm:t>
    </dgm:pt>
    <dgm:pt modelId="{93FBB3D8-755D-4F1E-86C2-D339363D07AB}" type="parTrans" cxnId="{BF0C1121-650B-4376-878B-A6C81062A8FF}">
      <dgm:prSet/>
      <dgm:spPr/>
      <dgm:t>
        <a:bodyPr/>
        <a:lstStyle/>
        <a:p>
          <a:endParaRPr lang="en-US"/>
        </a:p>
      </dgm:t>
    </dgm:pt>
    <dgm:pt modelId="{F9E1068E-3808-40CC-90F8-B156919B4920}" type="sibTrans" cxnId="{BF0C1121-650B-4376-878B-A6C81062A8FF}">
      <dgm:prSet/>
      <dgm:spPr/>
      <dgm:t>
        <a:bodyPr/>
        <a:lstStyle/>
        <a:p>
          <a:endParaRPr lang="en-US"/>
        </a:p>
      </dgm:t>
    </dgm:pt>
    <dgm:pt modelId="{26C4D50D-BEDA-4549-9B6A-09F35B3EF641}">
      <dgm:prSet phldrT="[Text]" phldr="0"/>
      <dgm:spPr>
        <a:effectLst>
          <a:outerShdw blurRad="50800" dist="38100" dir="5400000" algn="t" rotWithShape="0">
            <a:prstClr val="black">
              <a:alpha val="40000"/>
            </a:prstClr>
          </a:outerShdw>
        </a:effectLst>
      </dgm:spPr>
      <dgm:t>
        <a:bodyPr/>
        <a:lstStyle/>
        <a:p>
          <a:r>
            <a:rPr lang="en-US"/>
            <a:t>Ambiguous categories (e.g., sabotage)</a:t>
          </a:r>
        </a:p>
      </dgm:t>
    </dgm:pt>
    <dgm:pt modelId="{D3E2CA82-5466-45EA-8AA5-DDF64B65128C}" type="parTrans" cxnId="{3693525F-A894-4EE6-831D-E283CAD921F1}">
      <dgm:prSet/>
      <dgm:spPr/>
      <dgm:t>
        <a:bodyPr/>
        <a:lstStyle/>
        <a:p>
          <a:endParaRPr lang="en-US"/>
        </a:p>
      </dgm:t>
    </dgm:pt>
    <dgm:pt modelId="{F145313A-FDDD-4B82-84C7-B727C901FD6A}" type="sibTrans" cxnId="{3693525F-A894-4EE6-831D-E283CAD921F1}">
      <dgm:prSet/>
      <dgm:spPr/>
      <dgm:t>
        <a:bodyPr/>
        <a:lstStyle/>
        <a:p>
          <a:endParaRPr lang="en-US"/>
        </a:p>
      </dgm:t>
    </dgm:pt>
    <dgm:pt modelId="{2A1A6CF1-ED4B-42DE-8C01-1A77E834A5C8}">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dgm:spPr>
      <dgm:t>
        <a:bodyPr/>
        <a:lstStyle/>
        <a:p>
          <a:r>
            <a:rPr lang="en-US"/>
            <a:t>Validated</a:t>
          </a:r>
        </a:p>
      </dgm:t>
    </dgm:pt>
    <dgm:pt modelId="{FB400A68-7A4A-43D3-87D2-E476E0717E2E}" type="parTrans" cxnId="{D8D76192-EB66-47C0-B576-4882F35B1E68}">
      <dgm:prSet/>
      <dgm:spPr/>
      <dgm:t>
        <a:bodyPr/>
        <a:lstStyle/>
        <a:p>
          <a:endParaRPr lang="en-US"/>
        </a:p>
      </dgm:t>
    </dgm:pt>
    <dgm:pt modelId="{20C75904-AACD-415F-B773-FCCE884AFCAA}" type="sibTrans" cxnId="{D8D76192-EB66-47C0-B576-4882F35B1E68}">
      <dgm:prSet/>
      <dgm:spPr/>
      <dgm:t>
        <a:bodyPr/>
        <a:lstStyle/>
        <a:p>
          <a:endParaRPr lang="en-US"/>
        </a:p>
      </dgm:t>
    </dgm:pt>
    <dgm:pt modelId="{57902714-AAC4-413A-A2CA-CB489025C39A}">
      <dgm:prSet/>
      <dgm:spPr>
        <a:effectLst>
          <a:outerShdw blurRad="50800" dist="38100" dir="5400000" algn="t" rotWithShape="0">
            <a:prstClr val="black">
              <a:alpha val="40000"/>
            </a:prstClr>
          </a:outerShdw>
        </a:effectLst>
      </dgm:spPr>
      <dgm:t>
        <a:bodyPr/>
        <a:lstStyle/>
        <a:p>
          <a:r>
            <a:rPr lang="en-US"/>
            <a:t>Cochran's Sample Size Formula for Finite Populations (95% CI)</a:t>
          </a:r>
        </a:p>
      </dgm:t>
    </dgm:pt>
    <dgm:pt modelId="{9FA9BC29-D597-4218-9436-D24CC2D63E38}" type="parTrans" cxnId="{5B0140D8-D374-4C64-81E6-8126C83CA540}">
      <dgm:prSet/>
      <dgm:spPr/>
      <dgm:t>
        <a:bodyPr/>
        <a:lstStyle/>
        <a:p>
          <a:endParaRPr lang="en-US"/>
        </a:p>
      </dgm:t>
    </dgm:pt>
    <dgm:pt modelId="{F8F1DDD1-2FEB-45F1-AB48-DF4549A0DBBD}" type="sibTrans" cxnId="{5B0140D8-D374-4C64-81E6-8126C83CA540}">
      <dgm:prSet/>
      <dgm:spPr/>
      <dgm:t>
        <a:bodyPr/>
        <a:lstStyle/>
        <a:p>
          <a:endParaRPr lang="en-US"/>
        </a:p>
      </dgm:t>
    </dgm:pt>
    <dgm:pt modelId="{337A6F1C-9105-4856-8D27-D286382E56A6}">
      <dgm:prSet phldrT="[Text]" phldr="0"/>
      <dgm:spPr>
        <a:effectLst>
          <a:outerShdw blurRad="50800" dist="38100" dir="5400000" algn="t" rotWithShape="0">
            <a:prstClr val="black">
              <a:alpha val="40000"/>
            </a:prstClr>
          </a:outerShdw>
        </a:effectLst>
      </dgm:spPr>
      <dgm:t>
        <a:bodyPr/>
        <a:lstStyle/>
        <a:p>
          <a:r>
            <a:rPr lang="en-US"/>
            <a:t>Manually Labeled 358 Subset</a:t>
          </a:r>
        </a:p>
      </dgm:t>
    </dgm:pt>
    <dgm:pt modelId="{5095F345-8587-4859-88D3-7F472C78962A}" type="parTrans" cxnId="{39CC61B2-237F-4477-B517-C8F4B252C24D}">
      <dgm:prSet/>
      <dgm:spPr/>
      <dgm:t>
        <a:bodyPr/>
        <a:lstStyle/>
        <a:p>
          <a:endParaRPr lang="en-US"/>
        </a:p>
      </dgm:t>
    </dgm:pt>
    <dgm:pt modelId="{8CBC02E6-D8D9-4CA5-A5E0-E2F89E38DE8A}" type="sibTrans" cxnId="{39CC61B2-237F-4477-B517-C8F4B252C24D}">
      <dgm:prSet/>
      <dgm:spPr/>
      <dgm:t>
        <a:bodyPr/>
        <a:lstStyle/>
        <a:p>
          <a:endParaRPr lang="en-US"/>
        </a:p>
      </dgm:t>
    </dgm:pt>
    <dgm:pt modelId="{45FBF932-887C-44D1-8F7A-3FB48E31FF16}" type="pres">
      <dgm:prSet presAssocID="{F4653408-4D43-4C31-ABD4-13CFBB65431E}" presName="linear" presStyleCnt="0">
        <dgm:presLayoutVars>
          <dgm:dir/>
          <dgm:animLvl val="lvl"/>
          <dgm:resizeHandles val="exact"/>
        </dgm:presLayoutVars>
      </dgm:prSet>
      <dgm:spPr/>
    </dgm:pt>
    <dgm:pt modelId="{B22C3A92-1970-4AA0-8BE3-62B6FF080197}" type="pres">
      <dgm:prSet presAssocID="{2D2EA1AE-8C52-48F0-82D2-0981BA08C3C6}" presName="parentLin" presStyleCnt="0"/>
      <dgm:spPr/>
    </dgm:pt>
    <dgm:pt modelId="{45EF2E15-5906-47F1-9760-37065901EE7B}" type="pres">
      <dgm:prSet presAssocID="{2D2EA1AE-8C52-48F0-82D2-0981BA08C3C6}" presName="parentLeftMargin" presStyleLbl="node1" presStyleIdx="0" presStyleCnt="4"/>
      <dgm:spPr/>
    </dgm:pt>
    <dgm:pt modelId="{F23B02EC-F72C-41A1-9F28-A805A892079F}" type="pres">
      <dgm:prSet presAssocID="{2D2EA1AE-8C52-48F0-82D2-0981BA08C3C6}" presName="parentText" presStyleLbl="node1" presStyleIdx="0" presStyleCnt="4">
        <dgm:presLayoutVars>
          <dgm:chMax val="0"/>
          <dgm:bulletEnabled val="1"/>
        </dgm:presLayoutVars>
      </dgm:prSet>
      <dgm:spPr/>
    </dgm:pt>
    <dgm:pt modelId="{06104BEC-2F04-4EFE-B576-2928F4C60F82}" type="pres">
      <dgm:prSet presAssocID="{2D2EA1AE-8C52-48F0-82D2-0981BA08C3C6}" presName="negativeSpace" presStyleCnt="0"/>
      <dgm:spPr/>
    </dgm:pt>
    <dgm:pt modelId="{8F9BA898-C3E5-4359-9CEE-11F0002C713A}" type="pres">
      <dgm:prSet presAssocID="{2D2EA1AE-8C52-48F0-82D2-0981BA08C3C6}" presName="childText" presStyleLbl="conFgAcc1" presStyleIdx="0" presStyleCnt="4">
        <dgm:presLayoutVars>
          <dgm:bulletEnabled val="1"/>
        </dgm:presLayoutVars>
      </dgm:prSet>
      <dgm:spPr/>
    </dgm:pt>
    <dgm:pt modelId="{97DD467C-8F6C-4B30-8FC4-32CE4952A66E}" type="pres">
      <dgm:prSet presAssocID="{853D3F9B-C711-4153-BECE-8809DA8DC6D2}" presName="spaceBetweenRectangles" presStyleCnt="0"/>
      <dgm:spPr/>
    </dgm:pt>
    <dgm:pt modelId="{CD937750-FC1D-4AA7-A505-09D2CF0460B1}" type="pres">
      <dgm:prSet presAssocID="{CFA163A7-BF48-4F5F-AA6F-BB3AB4B1704C}" presName="parentLin" presStyleCnt="0"/>
      <dgm:spPr/>
    </dgm:pt>
    <dgm:pt modelId="{53C6CB79-2347-4407-AE3D-2C6A583E8D40}" type="pres">
      <dgm:prSet presAssocID="{CFA163A7-BF48-4F5F-AA6F-BB3AB4B1704C}" presName="parentLeftMargin" presStyleLbl="node1" presStyleIdx="0" presStyleCnt="4"/>
      <dgm:spPr/>
    </dgm:pt>
    <dgm:pt modelId="{B325AD2E-EFDC-4A98-9E3E-008A02E926A1}" type="pres">
      <dgm:prSet presAssocID="{CFA163A7-BF48-4F5F-AA6F-BB3AB4B1704C}" presName="parentText" presStyleLbl="node1" presStyleIdx="1" presStyleCnt="4">
        <dgm:presLayoutVars>
          <dgm:chMax val="0"/>
          <dgm:bulletEnabled val="1"/>
        </dgm:presLayoutVars>
      </dgm:prSet>
      <dgm:spPr/>
    </dgm:pt>
    <dgm:pt modelId="{C2E7E852-6C8E-4A87-A770-1ADF82742830}" type="pres">
      <dgm:prSet presAssocID="{CFA163A7-BF48-4F5F-AA6F-BB3AB4B1704C}" presName="negativeSpace" presStyleCnt="0"/>
      <dgm:spPr/>
    </dgm:pt>
    <dgm:pt modelId="{B9680A04-175C-4ED4-9A2D-9C3139D27B0B}" type="pres">
      <dgm:prSet presAssocID="{CFA163A7-BF48-4F5F-AA6F-BB3AB4B1704C}" presName="childText" presStyleLbl="conFgAcc1" presStyleIdx="1" presStyleCnt="4">
        <dgm:presLayoutVars>
          <dgm:bulletEnabled val="1"/>
        </dgm:presLayoutVars>
      </dgm:prSet>
      <dgm:spPr/>
    </dgm:pt>
    <dgm:pt modelId="{E91839C6-AA3B-4AC7-8918-6FA032179D6E}" type="pres">
      <dgm:prSet presAssocID="{D1B81ADC-4963-44A7-BF2C-36E1A78CAC75}" presName="spaceBetweenRectangles" presStyleCnt="0"/>
      <dgm:spPr/>
    </dgm:pt>
    <dgm:pt modelId="{7B464A6A-9EF0-4D8C-B14D-AA7BF2F75E0A}" type="pres">
      <dgm:prSet presAssocID="{31164F10-CC15-40BF-BD0E-FF870021EAB7}" presName="parentLin" presStyleCnt="0"/>
      <dgm:spPr/>
    </dgm:pt>
    <dgm:pt modelId="{D45A21F9-247B-4E98-AE2A-EF20EF57A7B0}" type="pres">
      <dgm:prSet presAssocID="{31164F10-CC15-40BF-BD0E-FF870021EAB7}" presName="parentLeftMargin" presStyleLbl="node1" presStyleIdx="1" presStyleCnt="4"/>
      <dgm:spPr/>
    </dgm:pt>
    <dgm:pt modelId="{928C0EB0-3E01-40C9-AF42-2CF6774F3623}" type="pres">
      <dgm:prSet presAssocID="{31164F10-CC15-40BF-BD0E-FF870021EAB7}" presName="parentText" presStyleLbl="node1" presStyleIdx="2" presStyleCnt="4">
        <dgm:presLayoutVars>
          <dgm:chMax val="0"/>
          <dgm:bulletEnabled val="1"/>
        </dgm:presLayoutVars>
      </dgm:prSet>
      <dgm:spPr/>
    </dgm:pt>
    <dgm:pt modelId="{CC35C92E-163E-4E27-AF13-89E2A76E2CD5}" type="pres">
      <dgm:prSet presAssocID="{31164F10-CC15-40BF-BD0E-FF870021EAB7}" presName="negativeSpace" presStyleCnt="0"/>
      <dgm:spPr/>
    </dgm:pt>
    <dgm:pt modelId="{509A51DF-539C-4E60-8667-778545921728}" type="pres">
      <dgm:prSet presAssocID="{31164F10-CC15-40BF-BD0E-FF870021EAB7}" presName="childText" presStyleLbl="conFgAcc1" presStyleIdx="2" presStyleCnt="4">
        <dgm:presLayoutVars>
          <dgm:bulletEnabled val="1"/>
        </dgm:presLayoutVars>
      </dgm:prSet>
      <dgm:spPr/>
    </dgm:pt>
    <dgm:pt modelId="{29CD8477-D145-433B-915E-BD51931878EA}" type="pres">
      <dgm:prSet presAssocID="{A3857C77-A909-49C8-9E32-4C9294155491}" presName="spaceBetweenRectangles" presStyleCnt="0"/>
      <dgm:spPr/>
    </dgm:pt>
    <dgm:pt modelId="{8B8E09FF-CB2F-404A-AE08-00A637B6CFB1}" type="pres">
      <dgm:prSet presAssocID="{2A1A6CF1-ED4B-42DE-8C01-1A77E834A5C8}" presName="parentLin" presStyleCnt="0"/>
      <dgm:spPr/>
    </dgm:pt>
    <dgm:pt modelId="{C4797E63-D7C1-462A-8B93-462C02B7F164}" type="pres">
      <dgm:prSet presAssocID="{2A1A6CF1-ED4B-42DE-8C01-1A77E834A5C8}" presName="parentLeftMargin" presStyleLbl="node1" presStyleIdx="2" presStyleCnt="4"/>
      <dgm:spPr/>
    </dgm:pt>
    <dgm:pt modelId="{47FD6945-83AF-4DC6-9A3F-D1AB1440B3EF}" type="pres">
      <dgm:prSet presAssocID="{2A1A6CF1-ED4B-42DE-8C01-1A77E834A5C8}" presName="parentText" presStyleLbl="node1" presStyleIdx="3" presStyleCnt="4">
        <dgm:presLayoutVars>
          <dgm:chMax val="0"/>
          <dgm:bulletEnabled val="1"/>
        </dgm:presLayoutVars>
      </dgm:prSet>
      <dgm:spPr/>
    </dgm:pt>
    <dgm:pt modelId="{3D418D7E-E4F8-47D6-BED4-C1BBD15410E5}" type="pres">
      <dgm:prSet presAssocID="{2A1A6CF1-ED4B-42DE-8C01-1A77E834A5C8}" presName="negativeSpace" presStyleCnt="0"/>
      <dgm:spPr/>
    </dgm:pt>
    <dgm:pt modelId="{4F11B940-67E9-45EA-9CC6-8904CC62C2B7}" type="pres">
      <dgm:prSet presAssocID="{2A1A6CF1-ED4B-42DE-8C01-1A77E834A5C8}" presName="childText" presStyleLbl="conFgAcc1" presStyleIdx="3" presStyleCnt="4">
        <dgm:presLayoutVars>
          <dgm:bulletEnabled val="1"/>
        </dgm:presLayoutVars>
      </dgm:prSet>
      <dgm:spPr/>
    </dgm:pt>
  </dgm:ptLst>
  <dgm:cxnLst>
    <dgm:cxn modelId="{A3233602-C6CE-4AAD-A503-1C24BF03EAD3}" type="presOf" srcId="{31164F10-CC15-40BF-BD0E-FF870021EAB7}" destId="{928C0EB0-3E01-40C9-AF42-2CF6774F3623}" srcOrd="1" destOrd="0" presId="urn:microsoft.com/office/officeart/2005/8/layout/list1"/>
    <dgm:cxn modelId="{CC688B0B-AE40-45E1-AF62-982350B8CF66}" type="presOf" srcId="{36EFCC9A-EA2F-41C4-96F6-53C0E0D5EFB7}" destId="{8F9BA898-C3E5-4359-9CEE-11F0002C713A}" srcOrd="0" destOrd="1" presId="urn:microsoft.com/office/officeart/2005/8/layout/list1"/>
    <dgm:cxn modelId="{030A5A0D-3314-4DC0-83B3-5B1C11142DF8}" type="presOf" srcId="{26C4D50D-BEDA-4549-9B6A-09F35B3EF641}" destId="{509A51DF-539C-4E60-8667-778545921728}" srcOrd="0" destOrd="1" presId="urn:microsoft.com/office/officeart/2005/8/layout/list1"/>
    <dgm:cxn modelId="{458FF717-B6A0-49A3-95B1-30C8A28FAADA}" type="presOf" srcId="{CFA163A7-BF48-4F5F-AA6F-BB3AB4B1704C}" destId="{53C6CB79-2347-4407-AE3D-2C6A583E8D40}" srcOrd="0" destOrd="0" presId="urn:microsoft.com/office/officeart/2005/8/layout/list1"/>
    <dgm:cxn modelId="{BF0C1121-650B-4376-878B-A6C81062A8FF}" srcId="{31164F10-CC15-40BF-BD0E-FF870021EAB7}" destId="{BA27C1DA-8D7C-4103-A41E-749B95610DA2}" srcOrd="0" destOrd="0" parTransId="{93FBB3D8-755D-4F1E-86C2-D339363D07AB}" sibTransId="{F9E1068E-3808-40CC-90F8-B156919B4920}"/>
    <dgm:cxn modelId="{E9F50C25-6E42-4EDC-BCBE-2BA4ED491580}" srcId="{F4653408-4D43-4C31-ABD4-13CFBB65431E}" destId="{2D2EA1AE-8C52-48F0-82D2-0981BA08C3C6}" srcOrd="0" destOrd="0" parTransId="{628878B5-EE58-4A6C-840E-DF5F5130EDA4}" sibTransId="{853D3F9B-C711-4153-BECE-8809DA8DC6D2}"/>
    <dgm:cxn modelId="{A64CC32C-F365-42BB-BDFF-94C48382BE07}" type="presOf" srcId="{2A1A6CF1-ED4B-42DE-8C01-1A77E834A5C8}" destId="{47FD6945-83AF-4DC6-9A3F-D1AB1440B3EF}" srcOrd="1" destOrd="0" presId="urn:microsoft.com/office/officeart/2005/8/layout/list1"/>
    <dgm:cxn modelId="{8B44C53C-6F13-44E6-9FA2-C7B5698AB2B9}" type="presOf" srcId="{337A6F1C-9105-4856-8D27-D286382E56A6}" destId="{4F11B940-67E9-45EA-9CC6-8904CC62C2B7}" srcOrd="0" destOrd="0" presId="urn:microsoft.com/office/officeart/2005/8/layout/list1"/>
    <dgm:cxn modelId="{4CD3825B-8817-4723-B686-82EF55CBC051}" type="presOf" srcId="{2D2EA1AE-8C52-48F0-82D2-0981BA08C3C6}" destId="{F23B02EC-F72C-41A1-9F28-A805A892079F}" srcOrd="1" destOrd="0" presId="urn:microsoft.com/office/officeart/2005/8/layout/list1"/>
    <dgm:cxn modelId="{3693525F-A894-4EE6-831D-E283CAD921F1}" srcId="{31164F10-CC15-40BF-BD0E-FF870021EAB7}" destId="{26C4D50D-BEDA-4549-9B6A-09F35B3EF641}" srcOrd="1" destOrd="0" parTransId="{D3E2CA82-5466-45EA-8AA5-DDF64B65128C}" sibTransId="{F145313A-FDDD-4B82-84C7-B727C901FD6A}"/>
    <dgm:cxn modelId="{78BEC943-9229-4688-B2BA-85C0F192CB4B}" type="presOf" srcId="{07EF1B00-D0FC-4AF5-87C4-926BCD2B119B}" destId="{8F9BA898-C3E5-4359-9CEE-11F0002C713A}" srcOrd="0" destOrd="0" presId="urn:microsoft.com/office/officeart/2005/8/layout/list1"/>
    <dgm:cxn modelId="{CC80DF64-883C-45B1-899D-08C52DD1D84C}" srcId="{CFA163A7-BF48-4F5F-AA6F-BB3AB4B1704C}" destId="{CBB768A8-C6E6-4BE9-A06D-E6668A9FD3FE}" srcOrd="0" destOrd="0" parTransId="{1DF56972-4E4A-42D7-A608-9998754128E1}" sibTransId="{BDEECEF0-D868-4DBE-9AA3-E04900ECBEAC}"/>
    <dgm:cxn modelId="{C4817368-D268-4496-8A7E-D44C0E2469EA}" type="presOf" srcId="{2A1A6CF1-ED4B-42DE-8C01-1A77E834A5C8}" destId="{C4797E63-D7C1-462A-8B93-462C02B7F164}" srcOrd="0" destOrd="0" presId="urn:microsoft.com/office/officeart/2005/8/layout/list1"/>
    <dgm:cxn modelId="{8961D277-CD43-4112-A7F8-40D128EA2EF4}" srcId="{2D2EA1AE-8C52-48F0-82D2-0981BA08C3C6}" destId="{36EFCC9A-EA2F-41C4-96F6-53C0E0D5EFB7}" srcOrd="1" destOrd="0" parTransId="{988FF3E7-B69B-4711-83A8-A5C6849D9019}" sibTransId="{B44BAFC0-9B83-4CF0-AECE-F9C94491DD2B}"/>
    <dgm:cxn modelId="{3681B081-9954-4963-83F7-3891FE5FCF50}" type="presOf" srcId="{57902714-AAC4-413A-A2CA-CB489025C39A}" destId="{4F11B940-67E9-45EA-9CC6-8904CC62C2B7}" srcOrd="0" destOrd="1" presId="urn:microsoft.com/office/officeart/2005/8/layout/list1"/>
    <dgm:cxn modelId="{7FF66A83-8A5E-43A3-AE74-9CCD92F09CCC}" type="presOf" srcId="{2D2EA1AE-8C52-48F0-82D2-0981BA08C3C6}" destId="{45EF2E15-5906-47F1-9760-37065901EE7B}" srcOrd="0" destOrd="0" presId="urn:microsoft.com/office/officeart/2005/8/layout/list1"/>
    <dgm:cxn modelId="{1B4B0E92-9717-46AF-9259-6C72EE233FC6}" type="presOf" srcId="{463CF4E3-A69B-41EF-A6BA-F3DA29BEC056}" destId="{8F9BA898-C3E5-4359-9CEE-11F0002C713A}" srcOrd="0" destOrd="2" presId="urn:microsoft.com/office/officeart/2005/8/layout/list1"/>
    <dgm:cxn modelId="{D8D76192-EB66-47C0-B576-4882F35B1E68}" srcId="{F4653408-4D43-4C31-ABD4-13CFBB65431E}" destId="{2A1A6CF1-ED4B-42DE-8C01-1A77E834A5C8}" srcOrd="3" destOrd="0" parTransId="{FB400A68-7A4A-43D3-87D2-E476E0717E2E}" sibTransId="{20C75904-AACD-415F-B773-FCCE884AFCAA}"/>
    <dgm:cxn modelId="{52BCFD99-00F7-4998-94FE-868EDC836033}" type="presOf" srcId="{BA27C1DA-8D7C-4103-A41E-749B95610DA2}" destId="{509A51DF-539C-4E60-8667-778545921728}" srcOrd="0" destOrd="0" presId="urn:microsoft.com/office/officeart/2005/8/layout/list1"/>
    <dgm:cxn modelId="{2C56B69B-0DF7-40FD-B9CF-442EDF50400C}" type="presOf" srcId="{CFA163A7-BF48-4F5F-AA6F-BB3AB4B1704C}" destId="{B325AD2E-EFDC-4A98-9E3E-008A02E926A1}" srcOrd="1" destOrd="0" presId="urn:microsoft.com/office/officeart/2005/8/layout/list1"/>
    <dgm:cxn modelId="{75A6F7A0-4D50-4638-81BD-F7C1DB9B83B9}" type="presOf" srcId="{F4653408-4D43-4C31-ABD4-13CFBB65431E}" destId="{45FBF932-887C-44D1-8F7A-3FB48E31FF16}" srcOrd="0" destOrd="0" presId="urn:microsoft.com/office/officeart/2005/8/layout/list1"/>
    <dgm:cxn modelId="{3A97D2A4-29D1-4F9D-A62A-BF9E66F1AE0D}" srcId="{F4653408-4D43-4C31-ABD4-13CFBB65431E}" destId="{31164F10-CC15-40BF-BD0E-FF870021EAB7}" srcOrd="2" destOrd="0" parTransId="{EC5D36C8-A779-48BC-B72B-CD08CFD06CC8}" sibTransId="{A3857C77-A909-49C8-9E32-4C9294155491}"/>
    <dgm:cxn modelId="{81EE48A6-B7A4-4641-B235-2B6D78ECF212}" type="presOf" srcId="{E1685410-1C91-4803-93E2-3FB557B050E0}" destId="{B9680A04-175C-4ED4-9A2D-9C3139D27B0B}" srcOrd="0" destOrd="1" presId="urn:microsoft.com/office/officeart/2005/8/layout/list1"/>
    <dgm:cxn modelId="{39CC61B2-237F-4477-B517-C8F4B252C24D}" srcId="{2A1A6CF1-ED4B-42DE-8C01-1A77E834A5C8}" destId="{337A6F1C-9105-4856-8D27-D286382E56A6}" srcOrd="0" destOrd="0" parTransId="{5095F345-8587-4859-88D3-7F472C78962A}" sibTransId="{8CBC02E6-D8D9-4CA5-A5E0-E2F89E38DE8A}"/>
    <dgm:cxn modelId="{026CACCE-DA28-4741-A044-3F8CB2FFE61D}" srcId="{CFA163A7-BF48-4F5F-AA6F-BB3AB4B1704C}" destId="{E1685410-1C91-4803-93E2-3FB557B050E0}" srcOrd="1" destOrd="0" parTransId="{3C5AF009-BB30-4CEB-83EF-2C84E09EF18F}" sibTransId="{80973263-28C4-423B-BDD8-089D580CCAD4}"/>
    <dgm:cxn modelId="{ED4CECD4-CC36-4293-82B9-18040F2E9366}" srcId="{F4653408-4D43-4C31-ABD4-13CFBB65431E}" destId="{CFA163A7-BF48-4F5F-AA6F-BB3AB4B1704C}" srcOrd="1" destOrd="0" parTransId="{C939E8E5-715C-43DB-9D93-A05610F1D824}" sibTransId="{D1B81ADC-4963-44A7-BF2C-36E1A78CAC75}"/>
    <dgm:cxn modelId="{5B0140D8-D374-4C64-81E6-8126C83CA540}" srcId="{2A1A6CF1-ED4B-42DE-8C01-1A77E834A5C8}" destId="{57902714-AAC4-413A-A2CA-CB489025C39A}" srcOrd="1" destOrd="0" parTransId="{9FA9BC29-D597-4218-9436-D24CC2D63E38}" sibTransId="{F8F1DDD1-2FEB-45F1-AB48-DF4549A0DBBD}"/>
    <dgm:cxn modelId="{F6A991DD-A022-4758-AA26-8B40FD10F26D}" type="presOf" srcId="{31164F10-CC15-40BF-BD0E-FF870021EAB7}" destId="{D45A21F9-247B-4E98-AE2A-EF20EF57A7B0}" srcOrd="0" destOrd="0" presId="urn:microsoft.com/office/officeart/2005/8/layout/list1"/>
    <dgm:cxn modelId="{84817FE7-79E8-4C78-A990-A6D057A06437}" srcId="{2D2EA1AE-8C52-48F0-82D2-0981BA08C3C6}" destId="{463CF4E3-A69B-41EF-A6BA-F3DA29BEC056}" srcOrd="2" destOrd="0" parTransId="{555EBA57-2D1F-4E78-A01B-BAAB5C4A5AE2}" sibTransId="{2376DB6D-80E4-4CEB-AC68-6BDAA308E820}"/>
    <dgm:cxn modelId="{4E2E4DF4-36B1-4225-BC95-6F83456F1E77}" type="presOf" srcId="{CBB768A8-C6E6-4BE9-A06D-E6668A9FD3FE}" destId="{B9680A04-175C-4ED4-9A2D-9C3139D27B0B}" srcOrd="0" destOrd="0" presId="urn:microsoft.com/office/officeart/2005/8/layout/list1"/>
    <dgm:cxn modelId="{675773FE-86DC-46F6-9490-D3DF74BB0EA0}" srcId="{2D2EA1AE-8C52-48F0-82D2-0981BA08C3C6}" destId="{07EF1B00-D0FC-4AF5-87C4-926BCD2B119B}" srcOrd="0" destOrd="0" parTransId="{DCCBD9C0-E12C-4089-875C-CAAF161EDDEA}" sibTransId="{A56C4A60-20E5-44C1-A924-3AB29632DF75}"/>
    <dgm:cxn modelId="{A6DD7A82-82F4-43D6-A71D-C4349FF3ACCE}" type="presParOf" srcId="{45FBF932-887C-44D1-8F7A-3FB48E31FF16}" destId="{B22C3A92-1970-4AA0-8BE3-62B6FF080197}" srcOrd="0" destOrd="0" presId="urn:microsoft.com/office/officeart/2005/8/layout/list1"/>
    <dgm:cxn modelId="{E193E097-AF94-4B26-BCD0-070C68D67976}" type="presParOf" srcId="{B22C3A92-1970-4AA0-8BE3-62B6FF080197}" destId="{45EF2E15-5906-47F1-9760-37065901EE7B}" srcOrd="0" destOrd="0" presId="urn:microsoft.com/office/officeart/2005/8/layout/list1"/>
    <dgm:cxn modelId="{16110F8A-696F-4B5F-84B9-68EB54AD1702}" type="presParOf" srcId="{B22C3A92-1970-4AA0-8BE3-62B6FF080197}" destId="{F23B02EC-F72C-41A1-9F28-A805A892079F}" srcOrd="1" destOrd="0" presId="urn:microsoft.com/office/officeart/2005/8/layout/list1"/>
    <dgm:cxn modelId="{506D464B-A98B-449C-93AD-8EA057E2A301}" type="presParOf" srcId="{45FBF932-887C-44D1-8F7A-3FB48E31FF16}" destId="{06104BEC-2F04-4EFE-B576-2928F4C60F82}" srcOrd="1" destOrd="0" presId="urn:microsoft.com/office/officeart/2005/8/layout/list1"/>
    <dgm:cxn modelId="{D0033F47-205F-48FE-8F62-07C4D3AC967C}" type="presParOf" srcId="{45FBF932-887C-44D1-8F7A-3FB48E31FF16}" destId="{8F9BA898-C3E5-4359-9CEE-11F0002C713A}" srcOrd="2" destOrd="0" presId="urn:microsoft.com/office/officeart/2005/8/layout/list1"/>
    <dgm:cxn modelId="{F090ECEF-B506-4F9D-AA71-3A547B469036}" type="presParOf" srcId="{45FBF932-887C-44D1-8F7A-3FB48E31FF16}" destId="{97DD467C-8F6C-4B30-8FC4-32CE4952A66E}" srcOrd="3" destOrd="0" presId="urn:microsoft.com/office/officeart/2005/8/layout/list1"/>
    <dgm:cxn modelId="{32D33C20-23D3-43BD-9790-27641A943888}" type="presParOf" srcId="{45FBF932-887C-44D1-8F7A-3FB48E31FF16}" destId="{CD937750-FC1D-4AA7-A505-09D2CF0460B1}" srcOrd="4" destOrd="0" presId="urn:microsoft.com/office/officeart/2005/8/layout/list1"/>
    <dgm:cxn modelId="{4E024EBE-F073-40F0-8055-08287F6DA7C8}" type="presParOf" srcId="{CD937750-FC1D-4AA7-A505-09D2CF0460B1}" destId="{53C6CB79-2347-4407-AE3D-2C6A583E8D40}" srcOrd="0" destOrd="0" presId="urn:microsoft.com/office/officeart/2005/8/layout/list1"/>
    <dgm:cxn modelId="{3F605122-E16E-497C-8F24-750A8763BFF5}" type="presParOf" srcId="{CD937750-FC1D-4AA7-A505-09D2CF0460B1}" destId="{B325AD2E-EFDC-4A98-9E3E-008A02E926A1}" srcOrd="1" destOrd="0" presId="urn:microsoft.com/office/officeart/2005/8/layout/list1"/>
    <dgm:cxn modelId="{4C218C70-04F3-4ACF-B64B-39B129E415EF}" type="presParOf" srcId="{45FBF932-887C-44D1-8F7A-3FB48E31FF16}" destId="{C2E7E852-6C8E-4A87-A770-1ADF82742830}" srcOrd="5" destOrd="0" presId="urn:microsoft.com/office/officeart/2005/8/layout/list1"/>
    <dgm:cxn modelId="{BE9FF090-6B28-4487-A6F4-0334DD5ED6BC}" type="presParOf" srcId="{45FBF932-887C-44D1-8F7A-3FB48E31FF16}" destId="{B9680A04-175C-4ED4-9A2D-9C3139D27B0B}" srcOrd="6" destOrd="0" presId="urn:microsoft.com/office/officeart/2005/8/layout/list1"/>
    <dgm:cxn modelId="{C93EDA32-F18C-4502-A80D-6234E90717C6}" type="presParOf" srcId="{45FBF932-887C-44D1-8F7A-3FB48E31FF16}" destId="{E91839C6-AA3B-4AC7-8918-6FA032179D6E}" srcOrd="7" destOrd="0" presId="urn:microsoft.com/office/officeart/2005/8/layout/list1"/>
    <dgm:cxn modelId="{B23C9E1B-83F2-4993-8E37-CC1A32CB9CCC}" type="presParOf" srcId="{45FBF932-887C-44D1-8F7A-3FB48E31FF16}" destId="{7B464A6A-9EF0-4D8C-B14D-AA7BF2F75E0A}" srcOrd="8" destOrd="0" presId="urn:microsoft.com/office/officeart/2005/8/layout/list1"/>
    <dgm:cxn modelId="{FEF0C1F4-65EC-43CA-A69E-776990EC79C2}" type="presParOf" srcId="{7B464A6A-9EF0-4D8C-B14D-AA7BF2F75E0A}" destId="{D45A21F9-247B-4E98-AE2A-EF20EF57A7B0}" srcOrd="0" destOrd="0" presId="urn:microsoft.com/office/officeart/2005/8/layout/list1"/>
    <dgm:cxn modelId="{D53524D2-AEC8-4AAB-8F22-7722A50F043C}" type="presParOf" srcId="{7B464A6A-9EF0-4D8C-B14D-AA7BF2F75E0A}" destId="{928C0EB0-3E01-40C9-AF42-2CF6774F3623}" srcOrd="1" destOrd="0" presId="urn:microsoft.com/office/officeart/2005/8/layout/list1"/>
    <dgm:cxn modelId="{D1B1EF0F-8ADB-48B7-BA9C-EA49D9C1F595}" type="presParOf" srcId="{45FBF932-887C-44D1-8F7A-3FB48E31FF16}" destId="{CC35C92E-163E-4E27-AF13-89E2A76E2CD5}" srcOrd="9" destOrd="0" presId="urn:microsoft.com/office/officeart/2005/8/layout/list1"/>
    <dgm:cxn modelId="{93D39CA3-E86C-4E84-A0AD-E45CD294DC93}" type="presParOf" srcId="{45FBF932-887C-44D1-8F7A-3FB48E31FF16}" destId="{509A51DF-539C-4E60-8667-778545921728}" srcOrd="10" destOrd="0" presId="urn:microsoft.com/office/officeart/2005/8/layout/list1"/>
    <dgm:cxn modelId="{F5FA8EAE-7C74-4A2C-A9AF-B056CC384D3B}" type="presParOf" srcId="{45FBF932-887C-44D1-8F7A-3FB48E31FF16}" destId="{29CD8477-D145-433B-915E-BD51931878EA}" srcOrd="11" destOrd="0" presId="urn:microsoft.com/office/officeart/2005/8/layout/list1"/>
    <dgm:cxn modelId="{0B3B167A-9F22-4F03-9385-56DC3E4E0603}" type="presParOf" srcId="{45FBF932-887C-44D1-8F7A-3FB48E31FF16}" destId="{8B8E09FF-CB2F-404A-AE08-00A637B6CFB1}" srcOrd="12" destOrd="0" presId="urn:microsoft.com/office/officeart/2005/8/layout/list1"/>
    <dgm:cxn modelId="{D22BB456-60A0-4C38-8E9D-9EADD1684D7B}" type="presParOf" srcId="{8B8E09FF-CB2F-404A-AE08-00A637B6CFB1}" destId="{C4797E63-D7C1-462A-8B93-462C02B7F164}" srcOrd="0" destOrd="0" presId="urn:microsoft.com/office/officeart/2005/8/layout/list1"/>
    <dgm:cxn modelId="{23353156-26ED-4B61-B68E-80913CD66CA7}" type="presParOf" srcId="{8B8E09FF-CB2F-404A-AE08-00A637B6CFB1}" destId="{47FD6945-83AF-4DC6-9A3F-D1AB1440B3EF}" srcOrd="1" destOrd="0" presId="urn:microsoft.com/office/officeart/2005/8/layout/list1"/>
    <dgm:cxn modelId="{84AEB9C0-9106-4EAC-B589-D6DCCFC62861}" type="presParOf" srcId="{45FBF932-887C-44D1-8F7A-3FB48E31FF16}" destId="{3D418D7E-E4F8-47D6-BED4-C1BBD15410E5}" srcOrd="13" destOrd="0" presId="urn:microsoft.com/office/officeart/2005/8/layout/list1"/>
    <dgm:cxn modelId="{44EBCBF5-843F-45C3-B2E2-8857102A7399}" type="presParOf" srcId="{45FBF932-887C-44D1-8F7A-3FB48E31FF16}" destId="{4F11B940-67E9-45EA-9CC6-8904CC62C2B7}"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653408-4D43-4C31-ABD4-13CFBB65431E}" type="doc">
      <dgm:prSet loTypeId="urn:microsoft.com/office/officeart/2005/8/layout/list1" loCatId="list" qsTypeId="urn:microsoft.com/office/officeart/2005/8/quickstyle/simple1" qsCatId="simple" csTypeId="urn:microsoft.com/office/officeart/2005/8/colors/accent6_1" csCatId="accent6" phldr="1"/>
      <dgm:spPr/>
      <dgm:t>
        <a:bodyPr/>
        <a:lstStyle/>
        <a:p>
          <a:endParaRPr lang="en-US"/>
        </a:p>
      </dgm:t>
    </dgm:pt>
    <dgm:pt modelId="{2D2EA1AE-8C52-48F0-82D2-0981BA08C3C6}">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dgm:spPr>
      <dgm:t>
        <a:bodyPr/>
        <a:lstStyle/>
        <a:p>
          <a:r>
            <a:rPr lang="en-US" b="1">
              <a:solidFill>
                <a:schemeClr val="bg1"/>
              </a:solidFill>
            </a:rPr>
            <a:t>Learn Structure</a:t>
          </a:r>
        </a:p>
      </dgm:t>
    </dgm:pt>
    <dgm:pt modelId="{628878B5-EE58-4A6C-840E-DF5F5130EDA4}" type="parTrans" cxnId="{E9F50C25-6E42-4EDC-BCBE-2BA4ED491580}">
      <dgm:prSet/>
      <dgm:spPr/>
      <dgm:t>
        <a:bodyPr/>
        <a:lstStyle/>
        <a:p>
          <a:endParaRPr lang="en-US"/>
        </a:p>
      </dgm:t>
    </dgm:pt>
    <dgm:pt modelId="{853D3F9B-C711-4153-BECE-8809DA8DC6D2}" type="sibTrans" cxnId="{E9F50C25-6E42-4EDC-BCBE-2BA4ED491580}">
      <dgm:prSet/>
      <dgm:spPr/>
      <dgm:t>
        <a:bodyPr/>
        <a:lstStyle/>
        <a:p>
          <a:endParaRPr lang="en-US"/>
        </a:p>
      </dgm:t>
    </dgm:pt>
    <dgm:pt modelId="{CFA163A7-BF48-4F5F-AA6F-BB3AB4B1704C}">
      <dgm:prSet phldrT="[Text]">
        <dgm:style>
          <a:lnRef idx="0">
            <a:scrgbClr r="0" g="0" b="0"/>
          </a:lnRef>
          <a:fillRef idx="0">
            <a:scrgbClr r="0" g="0" b="0"/>
          </a:fillRef>
          <a:effectRef idx="0">
            <a:scrgbClr r="0" g="0" b="0"/>
          </a:effectRef>
          <a:fontRef idx="minor">
            <a:schemeClr val="lt1"/>
          </a:fontRef>
        </dgm:style>
      </dgm:prSet>
      <dgm:spPr>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dgm:spPr>
      <dgm:t>
        <a:bodyPr/>
        <a:lstStyle/>
        <a:p>
          <a:r>
            <a:rPr lang="en-US" b="1">
              <a:solidFill>
                <a:schemeClr val="bg1"/>
              </a:solidFill>
              <a:ea typeface="+mn-lt"/>
              <a:cs typeface="+mn-lt"/>
            </a:rPr>
            <a:t>Apply Assumptions</a:t>
          </a:r>
          <a:endParaRPr lang="en-US" b="1">
            <a:solidFill>
              <a:schemeClr val="bg1"/>
            </a:solidFill>
          </a:endParaRPr>
        </a:p>
      </dgm:t>
    </dgm:pt>
    <dgm:pt modelId="{C939E8E5-715C-43DB-9D93-A05610F1D824}" type="parTrans" cxnId="{ED4CECD4-CC36-4293-82B9-18040F2E9366}">
      <dgm:prSet/>
      <dgm:spPr/>
      <dgm:t>
        <a:bodyPr/>
        <a:lstStyle/>
        <a:p>
          <a:endParaRPr lang="en-US"/>
        </a:p>
      </dgm:t>
    </dgm:pt>
    <dgm:pt modelId="{D1B81ADC-4963-44A7-BF2C-36E1A78CAC75}" type="sibTrans" cxnId="{ED4CECD4-CC36-4293-82B9-18040F2E9366}">
      <dgm:prSet/>
      <dgm:spPr/>
      <dgm:t>
        <a:bodyPr/>
        <a:lstStyle/>
        <a:p>
          <a:endParaRPr lang="en-US"/>
        </a:p>
      </dgm:t>
    </dgm:pt>
    <dgm:pt modelId="{07EF1B00-D0FC-4AF5-87C4-926BCD2B119B}">
      <dgm:prSet phldrT="[Text]" phldr="0"/>
      <dgm:spPr>
        <a:solidFill>
          <a:schemeClr val="accent3">
            <a:lumMod val="20000"/>
            <a:lumOff val="80000"/>
            <a:alpha val="90000"/>
          </a:schemeClr>
        </a:solidFill>
        <a:ln>
          <a:solidFill>
            <a:schemeClr val="accent3"/>
          </a:solidFill>
        </a:ln>
        <a:effectLst>
          <a:outerShdw blurRad="50800" dist="38100" dir="5400000" algn="t" rotWithShape="0">
            <a:prstClr val="black">
              <a:alpha val="40000"/>
            </a:prstClr>
          </a:outerShdw>
        </a:effectLst>
      </dgm:spPr>
      <dgm:t>
        <a:bodyPr/>
        <a:lstStyle/>
        <a:p>
          <a:r>
            <a:rPr lang="en-US">
              <a:ea typeface="+mn-lt"/>
              <a:cs typeface="+mn-lt"/>
            </a:rPr>
            <a:t>FCI</a:t>
          </a:r>
          <a:endParaRPr lang="en-US"/>
        </a:p>
      </dgm:t>
    </dgm:pt>
    <dgm:pt modelId="{DCCBD9C0-E12C-4089-875C-CAAF161EDDEA}" type="parTrans" cxnId="{675773FE-86DC-46F6-9490-D3DF74BB0EA0}">
      <dgm:prSet/>
      <dgm:spPr/>
      <dgm:t>
        <a:bodyPr/>
        <a:lstStyle/>
        <a:p>
          <a:endParaRPr lang="en-US"/>
        </a:p>
      </dgm:t>
    </dgm:pt>
    <dgm:pt modelId="{A56C4A60-20E5-44C1-A924-3AB29632DF75}" type="sibTrans" cxnId="{675773FE-86DC-46F6-9490-D3DF74BB0EA0}">
      <dgm:prSet/>
      <dgm:spPr/>
      <dgm:t>
        <a:bodyPr/>
        <a:lstStyle/>
        <a:p>
          <a:endParaRPr lang="en-US"/>
        </a:p>
      </dgm:t>
    </dgm:pt>
    <dgm:pt modelId="{F3A01C7C-D89C-42F3-B65D-C064AC8769CB}">
      <dgm:prSet/>
      <dgm:spPr>
        <a:solidFill>
          <a:schemeClr val="accent3">
            <a:lumMod val="20000"/>
            <a:lumOff val="80000"/>
            <a:alpha val="90000"/>
          </a:schemeClr>
        </a:solidFill>
        <a:ln>
          <a:solidFill>
            <a:schemeClr val="accent3"/>
          </a:solidFill>
        </a:ln>
      </dgm:spPr>
      <dgm:t>
        <a:bodyPr/>
        <a:lstStyle/>
        <a:p>
          <a:r>
            <a:rPr lang="en-US">
              <a:ea typeface="+mn-lt"/>
              <a:cs typeface="+mn-lt"/>
            </a:rPr>
            <a:t>Correct arrow direction</a:t>
          </a:r>
        </a:p>
      </dgm:t>
    </dgm:pt>
    <dgm:pt modelId="{96AD8B81-7520-4082-93A3-212EEC1EE589}" type="parTrans" cxnId="{27545243-D08F-408E-9E6E-D13BC55B4706}">
      <dgm:prSet/>
      <dgm:spPr/>
      <dgm:t>
        <a:bodyPr/>
        <a:lstStyle/>
        <a:p>
          <a:endParaRPr lang="en-US"/>
        </a:p>
      </dgm:t>
    </dgm:pt>
    <dgm:pt modelId="{96A3EF75-EB0A-44E4-B0F7-17971175A7E5}" type="sibTrans" cxnId="{27545243-D08F-408E-9E6E-D13BC55B4706}">
      <dgm:prSet/>
      <dgm:spPr/>
      <dgm:t>
        <a:bodyPr/>
        <a:lstStyle/>
        <a:p>
          <a:endParaRPr lang="en-US"/>
        </a:p>
      </dgm:t>
    </dgm:pt>
    <dgm:pt modelId="{5B8AB319-DDCE-4FC1-8235-108BFA877C06}">
      <dgm:prSet/>
      <dgm:spPr>
        <a:solidFill>
          <a:schemeClr val="accent3">
            <a:lumMod val="20000"/>
            <a:lumOff val="80000"/>
            <a:alpha val="90000"/>
          </a:schemeClr>
        </a:solidFill>
        <a:ln>
          <a:solidFill>
            <a:schemeClr val="accent3"/>
          </a:solidFill>
        </a:ln>
      </dgm:spPr>
      <dgm:t>
        <a:bodyPr/>
        <a:lstStyle/>
        <a:p>
          <a:r>
            <a:rPr lang="en-US">
              <a:ea typeface="+mn-lt"/>
              <a:cs typeface="+mn-lt"/>
            </a:rPr>
            <a:t>Realistic model</a:t>
          </a:r>
        </a:p>
      </dgm:t>
    </dgm:pt>
    <dgm:pt modelId="{C60F33A3-ED8B-44A2-9E89-1220BDB3D75F}" type="parTrans" cxnId="{327208D8-40D4-44E7-9B84-8285F762F99D}">
      <dgm:prSet/>
      <dgm:spPr/>
      <dgm:t>
        <a:bodyPr/>
        <a:lstStyle/>
        <a:p>
          <a:endParaRPr lang="en-US"/>
        </a:p>
      </dgm:t>
    </dgm:pt>
    <dgm:pt modelId="{818C5F7C-ABBB-4C3C-9EB4-BD4D9D74D377}" type="sibTrans" cxnId="{327208D8-40D4-44E7-9B84-8285F762F99D}">
      <dgm:prSet/>
      <dgm:spPr/>
      <dgm:t>
        <a:bodyPr/>
        <a:lstStyle/>
        <a:p>
          <a:endParaRPr lang="en-US"/>
        </a:p>
      </dgm:t>
    </dgm:pt>
    <dgm:pt modelId="{B4B5B9A1-275D-4746-A350-1E13B58C832F}">
      <dgm:prSet phldrT="[Text]">
        <dgm:style>
          <a:lnRef idx="0">
            <a:scrgbClr r="0" g="0" b="0"/>
          </a:lnRef>
          <a:fillRef idx="0">
            <a:scrgbClr r="0" g="0" b="0"/>
          </a:fillRef>
          <a:effectRef idx="0">
            <a:scrgbClr r="0" g="0" b="0"/>
          </a:effectRef>
          <a:fontRef idx="minor">
            <a:schemeClr val="lt1"/>
          </a:fontRef>
        </dgm:style>
      </dgm:prSet>
      <dgm:spPr>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dgm:spPr>
      <dgm:t>
        <a:bodyPr spcFirstLastPara="0" vert="horz" wrap="square" lIns="98664" tIns="0" rIns="98664" bIns="0" numCol="1" spcCol="1270" anchor="ctr" anchorCtr="0"/>
        <a:lstStyle/>
        <a:p>
          <a:pPr>
            <a:buNone/>
          </a:pPr>
          <a:r>
            <a:rPr lang="en-US" b="1">
              <a:solidFill>
                <a:schemeClr val="bg1"/>
              </a:solidFill>
              <a:ea typeface="+mn-lt"/>
              <a:cs typeface="+mn-lt"/>
            </a:rPr>
            <a:t>Interpret Graph</a:t>
          </a:r>
          <a:endParaRPr lang="en-US">
            <a:solidFill>
              <a:schemeClr val="bg1"/>
            </a:solidFill>
          </a:endParaRPr>
        </a:p>
      </dgm:t>
    </dgm:pt>
    <dgm:pt modelId="{D8FDA7E7-EA3B-4D11-81E2-31FD0C1166DF}" type="parTrans" cxnId="{91AB27C3-E50A-4C57-B780-B1293EA7B79D}">
      <dgm:prSet/>
      <dgm:spPr/>
      <dgm:t>
        <a:bodyPr/>
        <a:lstStyle/>
        <a:p>
          <a:endParaRPr lang="en-US"/>
        </a:p>
      </dgm:t>
    </dgm:pt>
    <dgm:pt modelId="{D3D58A4F-6C26-4DE2-A010-F1D7C17951A1}" type="sibTrans" cxnId="{91AB27C3-E50A-4C57-B780-B1293EA7B79D}">
      <dgm:prSet/>
      <dgm:spPr/>
      <dgm:t>
        <a:bodyPr/>
        <a:lstStyle/>
        <a:p>
          <a:endParaRPr lang="en-US"/>
        </a:p>
      </dgm:t>
    </dgm:pt>
    <dgm:pt modelId="{E8B2FB5D-8C29-4017-9F19-01724DAD0B81}">
      <dgm:prSet phldrT="[Text]" phldr="0"/>
      <dgm:spPr>
        <a:solidFill>
          <a:schemeClr val="accent3">
            <a:lumMod val="20000"/>
            <a:lumOff val="80000"/>
            <a:alpha val="90000"/>
          </a:schemeClr>
        </a:solidFill>
        <a:ln>
          <a:solidFill>
            <a:schemeClr val="accent3"/>
          </a:solidFill>
        </a:ln>
        <a:effectLst>
          <a:outerShdw blurRad="50800" dist="38100" dir="5400000" algn="t" rotWithShape="0">
            <a:prstClr val="black">
              <a:alpha val="40000"/>
            </a:prstClr>
          </a:outerShdw>
        </a:effectLst>
      </dgm:spPr>
      <dgm:t>
        <a:bodyPr/>
        <a:lstStyle/>
        <a:p>
          <a:r>
            <a:rPr lang="en-US">
              <a:ea typeface="+mn-lt"/>
              <a:cs typeface="+mn-lt"/>
            </a:rPr>
            <a:t>Accounts for hidden variables </a:t>
          </a:r>
          <a:endParaRPr lang="en-US"/>
        </a:p>
      </dgm:t>
    </dgm:pt>
    <dgm:pt modelId="{A3F3405B-BB1F-4405-ABBC-0ED3C27AE714}" type="parTrans" cxnId="{2B355421-57BE-4E31-8755-F3BB88F3F878}">
      <dgm:prSet/>
      <dgm:spPr/>
      <dgm:t>
        <a:bodyPr/>
        <a:lstStyle/>
        <a:p>
          <a:endParaRPr lang="en-US"/>
        </a:p>
      </dgm:t>
    </dgm:pt>
    <dgm:pt modelId="{2A90AAFE-0525-4CD2-98F6-3B27216E3860}" type="sibTrans" cxnId="{2B355421-57BE-4E31-8755-F3BB88F3F878}">
      <dgm:prSet/>
      <dgm:spPr/>
      <dgm:t>
        <a:bodyPr/>
        <a:lstStyle/>
        <a:p>
          <a:endParaRPr lang="en-US"/>
        </a:p>
      </dgm:t>
    </dgm:pt>
    <dgm:pt modelId="{A4728531-07B8-4FD5-BBFC-736BACC2B4B7}">
      <dgm:prSet phldrT="[Text]"/>
      <dgm:spPr>
        <a:solidFill>
          <a:schemeClr val="accent3">
            <a:lumMod val="20000"/>
            <a:lumOff val="80000"/>
            <a:alpha val="90000"/>
          </a:schemeClr>
        </a:solidFill>
        <a:ln>
          <a:solidFill>
            <a:schemeClr val="accent3"/>
          </a:solidFill>
        </a:ln>
      </dgm:spPr>
      <dgm:t>
        <a:bodyPr/>
        <a:lstStyle/>
        <a:p>
          <a:pPr>
            <a:buFont typeface="Arial" panose="020B0604020202020204" pitchFamily="34" charset="0"/>
            <a:buChar char="•"/>
          </a:pPr>
          <a:r>
            <a:rPr lang="en-US">
              <a:ea typeface="+mn-lt"/>
              <a:cs typeface="+mn-lt"/>
            </a:rPr>
            <a:t>Nodes = factors</a:t>
          </a:r>
          <a:endParaRPr lang="en-US"/>
        </a:p>
      </dgm:t>
    </dgm:pt>
    <dgm:pt modelId="{EA22402E-1D1D-4E89-A108-C77649D040A8}" type="parTrans" cxnId="{51FA94FC-44AE-4965-9465-CD2801243C20}">
      <dgm:prSet/>
      <dgm:spPr/>
      <dgm:t>
        <a:bodyPr/>
        <a:lstStyle/>
        <a:p>
          <a:endParaRPr lang="en-US"/>
        </a:p>
      </dgm:t>
    </dgm:pt>
    <dgm:pt modelId="{CCF86AAD-0DDF-4FA6-B6CB-B53CAAD7D7ED}" type="sibTrans" cxnId="{51FA94FC-44AE-4965-9465-CD2801243C20}">
      <dgm:prSet/>
      <dgm:spPr/>
      <dgm:t>
        <a:bodyPr/>
        <a:lstStyle/>
        <a:p>
          <a:endParaRPr lang="en-US"/>
        </a:p>
      </dgm:t>
    </dgm:pt>
    <dgm:pt modelId="{1959623B-08A3-445D-9C35-21714CE67851}">
      <dgm:prSet phldrT="[Text]"/>
      <dgm:spPr>
        <a:solidFill>
          <a:schemeClr val="accent3">
            <a:lumMod val="20000"/>
            <a:lumOff val="80000"/>
            <a:alpha val="90000"/>
          </a:schemeClr>
        </a:solidFill>
        <a:ln>
          <a:solidFill>
            <a:schemeClr val="accent3"/>
          </a:solidFill>
        </a:ln>
      </dgm:spPr>
      <dgm:t>
        <a:bodyPr/>
        <a:lstStyle/>
        <a:p>
          <a:pPr>
            <a:buFont typeface="Arial" panose="020B0604020202020204" pitchFamily="34" charset="0"/>
            <a:buChar char="•"/>
          </a:pPr>
          <a:r>
            <a:rPr lang="en-US">
              <a:ea typeface="+mn-lt"/>
              <a:cs typeface="+mn-lt"/>
            </a:rPr>
            <a:t>Arrows = causal influence</a:t>
          </a:r>
          <a:endParaRPr lang="en-US"/>
        </a:p>
      </dgm:t>
    </dgm:pt>
    <dgm:pt modelId="{6E47D53E-2FD9-49ED-B15C-AAABA983642E}" type="parTrans" cxnId="{0E78226D-D47C-47B3-B222-0442763DF6ED}">
      <dgm:prSet/>
      <dgm:spPr/>
      <dgm:t>
        <a:bodyPr/>
        <a:lstStyle/>
        <a:p>
          <a:endParaRPr lang="en-US"/>
        </a:p>
      </dgm:t>
    </dgm:pt>
    <dgm:pt modelId="{563104DA-E5C6-47D6-A0C2-8256C31B2CAE}" type="sibTrans" cxnId="{0E78226D-D47C-47B3-B222-0442763DF6ED}">
      <dgm:prSet/>
      <dgm:spPr/>
      <dgm:t>
        <a:bodyPr/>
        <a:lstStyle/>
        <a:p>
          <a:endParaRPr lang="en-US"/>
        </a:p>
      </dgm:t>
    </dgm:pt>
    <dgm:pt modelId="{45FBF932-887C-44D1-8F7A-3FB48E31FF16}" type="pres">
      <dgm:prSet presAssocID="{F4653408-4D43-4C31-ABD4-13CFBB65431E}" presName="linear" presStyleCnt="0">
        <dgm:presLayoutVars>
          <dgm:dir/>
          <dgm:animLvl val="lvl"/>
          <dgm:resizeHandles val="exact"/>
        </dgm:presLayoutVars>
      </dgm:prSet>
      <dgm:spPr/>
    </dgm:pt>
    <dgm:pt modelId="{B22C3A92-1970-4AA0-8BE3-62B6FF080197}" type="pres">
      <dgm:prSet presAssocID="{2D2EA1AE-8C52-48F0-82D2-0981BA08C3C6}" presName="parentLin" presStyleCnt="0"/>
      <dgm:spPr/>
    </dgm:pt>
    <dgm:pt modelId="{45EF2E15-5906-47F1-9760-37065901EE7B}" type="pres">
      <dgm:prSet presAssocID="{2D2EA1AE-8C52-48F0-82D2-0981BA08C3C6}" presName="parentLeftMargin" presStyleLbl="node1" presStyleIdx="0" presStyleCnt="3"/>
      <dgm:spPr/>
    </dgm:pt>
    <dgm:pt modelId="{F23B02EC-F72C-41A1-9F28-A805A892079F}" type="pres">
      <dgm:prSet presAssocID="{2D2EA1AE-8C52-48F0-82D2-0981BA08C3C6}" presName="parentText" presStyleLbl="node1" presStyleIdx="0" presStyleCnt="3">
        <dgm:presLayoutVars>
          <dgm:chMax val="0"/>
          <dgm:bulletEnabled val="1"/>
        </dgm:presLayoutVars>
      </dgm:prSet>
      <dgm:spPr/>
    </dgm:pt>
    <dgm:pt modelId="{06104BEC-2F04-4EFE-B576-2928F4C60F82}" type="pres">
      <dgm:prSet presAssocID="{2D2EA1AE-8C52-48F0-82D2-0981BA08C3C6}" presName="negativeSpace" presStyleCnt="0"/>
      <dgm:spPr/>
    </dgm:pt>
    <dgm:pt modelId="{8F9BA898-C3E5-4359-9CEE-11F0002C713A}" type="pres">
      <dgm:prSet presAssocID="{2D2EA1AE-8C52-48F0-82D2-0981BA08C3C6}" presName="childText" presStyleLbl="conFgAcc1" presStyleIdx="0" presStyleCnt="3">
        <dgm:presLayoutVars>
          <dgm:bulletEnabled val="1"/>
        </dgm:presLayoutVars>
      </dgm:prSet>
      <dgm:spPr/>
    </dgm:pt>
    <dgm:pt modelId="{97DD467C-8F6C-4B30-8FC4-32CE4952A66E}" type="pres">
      <dgm:prSet presAssocID="{853D3F9B-C711-4153-BECE-8809DA8DC6D2}" presName="spaceBetweenRectangles" presStyleCnt="0"/>
      <dgm:spPr/>
    </dgm:pt>
    <dgm:pt modelId="{CD937750-FC1D-4AA7-A505-09D2CF0460B1}" type="pres">
      <dgm:prSet presAssocID="{CFA163A7-BF48-4F5F-AA6F-BB3AB4B1704C}" presName="parentLin" presStyleCnt="0"/>
      <dgm:spPr/>
    </dgm:pt>
    <dgm:pt modelId="{53C6CB79-2347-4407-AE3D-2C6A583E8D40}" type="pres">
      <dgm:prSet presAssocID="{CFA163A7-BF48-4F5F-AA6F-BB3AB4B1704C}" presName="parentLeftMargin" presStyleLbl="node1" presStyleIdx="0" presStyleCnt="3"/>
      <dgm:spPr/>
    </dgm:pt>
    <dgm:pt modelId="{B325AD2E-EFDC-4A98-9E3E-008A02E926A1}" type="pres">
      <dgm:prSet presAssocID="{CFA163A7-BF48-4F5F-AA6F-BB3AB4B1704C}" presName="parentText" presStyleLbl="node1" presStyleIdx="1" presStyleCnt="3" custScaleX="105090">
        <dgm:presLayoutVars>
          <dgm:chMax val="0"/>
          <dgm:bulletEnabled val="1"/>
        </dgm:presLayoutVars>
      </dgm:prSet>
      <dgm:spPr/>
    </dgm:pt>
    <dgm:pt modelId="{C2E7E852-6C8E-4A87-A770-1ADF82742830}" type="pres">
      <dgm:prSet presAssocID="{CFA163A7-BF48-4F5F-AA6F-BB3AB4B1704C}" presName="negativeSpace" presStyleCnt="0"/>
      <dgm:spPr/>
    </dgm:pt>
    <dgm:pt modelId="{B9680A04-175C-4ED4-9A2D-9C3139D27B0B}" type="pres">
      <dgm:prSet presAssocID="{CFA163A7-BF48-4F5F-AA6F-BB3AB4B1704C}" presName="childText" presStyleLbl="conFgAcc1" presStyleIdx="1" presStyleCnt="3">
        <dgm:presLayoutVars>
          <dgm:bulletEnabled val="1"/>
        </dgm:presLayoutVars>
      </dgm:prSet>
      <dgm:spPr/>
    </dgm:pt>
    <dgm:pt modelId="{E91839C6-AA3B-4AC7-8918-6FA032179D6E}" type="pres">
      <dgm:prSet presAssocID="{D1B81ADC-4963-44A7-BF2C-36E1A78CAC75}" presName="spaceBetweenRectangles" presStyleCnt="0"/>
      <dgm:spPr/>
    </dgm:pt>
    <dgm:pt modelId="{4AF36FE4-B8D1-4E4E-B236-D902B8BABEF5}" type="pres">
      <dgm:prSet presAssocID="{B4B5B9A1-275D-4746-A350-1E13B58C832F}" presName="parentLin" presStyleCnt="0"/>
      <dgm:spPr/>
    </dgm:pt>
    <dgm:pt modelId="{3F73D6FF-6BDB-47EC-ABB6-C4D00BD9E421}" type="pres">
      <dgm:prSet presAssocID="{B4B5B9A1-275D-4746-A350-1E13B58C832F}" presName="parentLeftMargin" presStyleLbl="node1" presStyleIdx="1" presStyleCnt="3"/>
      <dgm:spPr/>
    </dgm:pt>
    <dgm:pt modelId="{8410F349-7695-4B19-B90E-CFF078A843F0}" type="pres">
      <dgm:prSet presAssocID="{B4B5B9A1-275D-4746-A350-1E13B58C832F}" presName="parentText" presStyleLbl="node1" presStyleIdx="2" presStyleCnt="3">
        <dgm:presLayoutVars>
          <dgm:chMax val="0"/>
          <dgm:bulletEnabled val="1"/>
        </dgm:presLayoutVars>
      </dgm:prSet>
      <dgm:spPr>
        <a:xfrm>
          <a:off x="186451" y="3596425"/>
          <a:ext cx="2610325" cy="590400"/>
        </a:xfrm>
        <a:prstGeom prst="roundRect">
          <a:avLst/>
        </a:prstGeom>
      </dgm:spPr>
    </dgm:pt>
    <dgm:pt modelId="{5787EDA2-F1D4-4E0C-8D33-8382ECCBB833}" type="pres">
      <dgm:prSet presAssocID="{B4B5B9A1-275D-4746-A350-1E13B58C832F}" presName="negativeSpace" presStyleCnt="0"/>
      <dgm:spPr/>
    </dgm:pt>
    <dgm:pt modelId="{4B17FC43-B28B-430D-BBEC-476512291998}" type="pres">
      <dgm:prSet presAssocID="{B4B5B9A1-275D-4746-A350-1E13B58C832F}" presName="childText" presStyleLbl="conFgAcc1" presStyleIdx="2" presStyleCnt="3">
        <dgm:presLayoutVars>
          <dgm:bulletEnabled val="1"/>
        </dgm:presLayoutVars>
      </dgm:prSet>
      <dgm:spPr/>
    </dgm:pt>
  </dgm:ptLst>
  <dgm:cxnLst>
    <dgm:cxn modelId="{55D86618-D4F5-4FD1-BF51-B9B6EA1A304B}" type="presOf" srcId="{5B8AB319-DDCE-4FC1-8235-108BFA877C06}" destId="{B9680A04-175C-4ED4-9A2D-9C3139D27B0B}" srcOrd="0" destOrd="1" presId="urn:microsoft.com/office/officeart/2005/8/layout/list1"/>
    <dgm:cxn modelId="{2B355421-57BE-4E31-8755-F3BB88F3F878}" srcId="{2D2EA1AE-8C52-48F0-82D2-0981BA08C3C6}" destId="{E8B2FB5D-8C29-4017-9F19-01724DAD0B81}" srcOrd="1" destOrd="0" parTransId="{A3F3405B-BB1F-4405-ABBC-0ED3C27AE714}" sibTransId="{2A90AAFE-0525-4CD2-98F6-3B27216E3860}"/>
    <dgm:cxn modelId="{786E7023-5F5D-451E-8D93-0B929D255A87}" type="presOf" srcId="{F3A01C7C-D89C-42F3-B65D-C064AC8769CB}" destId="{B9680A04-175C-4ED4-9A2D-9C3139D27B0B}" srcOrd="0" destOrd="0" presId="urn:microsoft.com/office/officeart/2005/8/layout/list1"/>
    <dgm:cxn modelId="{E9F50C25-6E42-4EDC-BCBE-2BA4ED491580}" srcId="{F4653408-4D43-4C31-ABD4-13CFBB65431E}" destId="{2D2EA1AE-8C52-48F0-82D2-0981BA08C3C6}" srcOrd="0" destOrd="0" parTransId="{628878B5-EE58-4A6C-840E-DF5F5130EDA4}" sibTransId="{853D3F9B-C711-4153-BECE-8809DA8DC6D2}"/>
    <dgm:cxn modelId="{AB40CF2A-4D37-413A-A19C-8C0B2E91B85E}" type="presOf" srcId="{CFA163A7-BF48-4F5F-AA6F-BB3AB4B1704C}" destId="{53C6CB79-2347-4407-AE3D-2C6A583E8D40}" srcOrd="0" destOrd="0" presId="urn:microsoft.com/office/officeart/2005/8/layout/list1"/>
    <dgm:cxn modelId="{A03BCD2B-72F0-4C74-9429-B591680A25F2}" type="presOf" srcId="{B4B5B9A1-275D-4746-A350-1E13B58C832F}" destId="{8410F349-7695-4B19-B90E-CFF078A843F0}" srcOrd="1" destOrd="0" presId="urn:microsoft.com/office/officeart/2005/8/layout/list1"/>
    <dgm:cxn modelId="{E5E2B55E-1409-4414-AE0D-4E45B29660EA}" type="presOf" srcId="{B4B5B9A1-275D-4746-A350-1E13B58C832F}" destId="{3F73D6FF-6BDB-47EC-ABB6-C4D00BD9E421}" srcOrd="0" destOrd="0" presId="urn:microsoft.com/office/officeart/2005/8/layout/list1"/>
    <dgm:cxn modelId="{27545243-D08F-408E-9E6E-D13BC55B4706}" srcId="{CFA163A7-BF48-4F5F-AA6F-BB3AB4B1704C}" destId="{F3A01C7C-D89C-42F3-B65D-C064AC8769CB}" srcOrd="0" destOrd="0" parTransId="{96AD8B81-7520-4082-93A3-212EEC1EE589}" sibTransId="{96A3EF75-EB0A-44E4-B0F7-17971175A7E5}"/>
    <dgm:cxn modelId="{0E78226D-D47C-47B3-B222-0442763DF6ED}" srcId="{B4B5B9A1-275D-4746-A350-1E13B58C832F}" destId="{1959623B-08A3-445D-9C35-21714CE67851}" srcOrd="1" destOrd="0" parTransId="{6E47D53E-2FD9-49ED-B15C-AAABA983642E}" sibTransId="{563104DA-E5C6-47D6-A0C2-8256C31B2CAE}"/>
    <dgm:cxn modelId="{6A773476-6DBE-4B2E-A5A3-9D085D1FFE75}" type="presOf" srcId="{1959623B-08A3-445D-9C35-21714CE67851}" destId="{4B17FC43-B28B-430D-BBEC-476512291998}" srcOrd="0" destOrd="1" presId="urn:microsoft.com/office/officeart/2005/8/layout/list1"/>
    <dgm:cxn modelId="{0B53AE79-20CC-4B9D-825F-BC95268581CF}" type="presOf" srcId="{CFA163A7-BF48-4F5F-AA6F-BB3AB4B1704C}" destId="{B325AD2E-EFDC-4A98-9E3E-008A02E926A1}" srcOrd="1" destOrd="0" presId="urn:microsoft.com/office/officeart/2005/8/layout/list1"/>
    <dgm:cxn modelId="{75A6F7A0-4D50-4638-81BD-F7C1DB9B83B9}" type="presOf" srcId="{F4653408-4D43-4C31-ABD4-13CFBB65431E}" destId="{45FBF932-887C-44D1-8F7A-3FB48E31FF16}" srcOrd="0" destOrd="0" presId="urn:microsoft.com/office/officeart/2005/8/layout/list1"/>
    <dgm:cxn modelId="{98ECE0A2-384A-48F2-AFCB-D1E0110B876F}" type="presOf" srcId="{2D2EA1AE-8C52-48F0-82D2-0981BA08C3C6}" destId="{45EF2E15-5906-47F1-9760-37065901EE7B}" srcOrd="0" destOrd="0" presId="urn:microsoft.com/office/officeart/2005/8/layout/list1"/>
    <dgm:cxn modelId="{647A86A9-2B6C-4797-8137-9EE9DB315918}" type="presOf" srcId="{2D2EA1AE-8C52-48F0-82D2-0981BA08C3C6}" destId="{F23B02EC-F72C-41A1-9F28-A805A892079F}" srcOrd="1" destOrd="0" presId="urn:microsoft.com/office/officeart/2005/8/layout/list1"/>
    <dgm:cxn modelId="{91AB27C3-E50A-4C57-B780-B1293EA7B79D}" srcId="{F4653408-4D43-4C31-ABD4-13CFBB65431E}" destId="{B4B5B9A1-275D-4746-A350-1E13B58C832F}" srcOrd="2" destOrd="0" parTransId="{D8FDA7E7-EA3B-4D11-81E2-31FD0C1166DF}" sibTransId="{D3D58A4F-6C26-4DE2-A010-F1D7C17951A1}"/>
    <dgm:cxn modelId="{ED4CECD4-CC36-4293-82B9-18040F2E9366}" srcId="{F4653408-4D43-4C31-ABD4-13CFBB65431E}" destId="{CFA163A7-BF48-4F5F-AA6F-BB3AB4B1704C}" srcOrd="1" destOrd="0" parTransId="{C939E8E5-715C-43DB-9D93-A05610F1D824}" sibTransId="{D1B81ADC-4963-44A7-BF2C-36E1A78CAC75}"/>
    <dgm:cxn modelId="{327208D8-40D4-44E7-9B84-8285F762F99D}" srcId="{CFA163A7-BF48-4F5F-AA6F-BB3AB4B1704C}" destId="{5B8AB319-DDCE-4FC1-8235-108BFA877C06}" srcOrd="1" destOrd="0" parTransId="{C60F33A3-ED8B-44A2-9E89-1220BDB3D75F}" sibTransId="{818C5F7C-ABBB-4C3C-9EB4-BD4D9D74D377}"/>
    <dgm:cxn modelId="{861578E1-FBB3-4E12-9CCE-0E829AA60CFF}" type="presOf" srcId="{A4728531-07B8-4FD5-BBFC-736BACC2B4B7}" destId="{4B17FC43-B28B-430D-BBEC-476512291998}" srcOrd="0" destOrd="0" presId="urn:microsoft.com/office/officeart/2005/8/layout/list1"/>
    <dgm:cxn modelId="{0DDA31F3-EE07-4A43-BEF9-E4CDA17AFAFA}" type="presOf" srcId="{07EF1B00-D0FC-4AF5-87C4-926BCD2B119B}" destId="{8F9BA898-C3E5-4359-9CEE-11F0002C713A}" srcOrd="0" destOrd="0" presId="urn:microsoft.com/office/officeart/2005/8/layout/list1"/>
    <dgm:cxn modelId="{55D740F7-4967-4679-B35A-EF107AC2E755}" type="presOf" srcId="{E8B2FB5D-8C29-4017-9F19-01724DAD0B81}" destId="{8F9BA898-C3E5-4359-9CEE-11F0002C713A}" srcOrd="0" destOrd="1" presId="urn:microsoft.com/office/officeart/2005/8/layout/list1"/>
    <dgm:cxn modelId="{51FA94FC-44AE-4965-9465-CD2801243C20}" srcId="{B4B5B9A1-275D-4746-A350-1E13B58C832F}" destId="{A4728531-07B8-4FD5-BBFC-736BACC2B4B7}" srcOrd="0" destOrd="0" parTransId="{EA22402E-1D1D-4E89-A108-C77649D040A8}" sibTransId="{CCF86AAD-0DDF-4FA6-B6CB-B53CAAD7D7ED}"/>
    <dgm:cxn modelId="{675773FE-86DC-46F6-9490-D3DF74BB0EA0}" srcId="{2D2EA1AE-8C52-48F0-82D2-0981BA08C3C6}" destId="{07EF1B00-D0FC-4AF5-87C4-926BCD2B119B}" srcOrd="0" destOrd="0" parTransId="{DCCBD9C0-E12C-4089-875C-CAAF161EDDEA}" sibTransId="{A56C4A60-20E5-44C1-A924-3AB29632DF75}"/>
    <dgm:cxn modelId="{E382F83A-DDB5-476F-B200-9590106E99DB}" type="presParOf" srcId="{45FBF932-887C-44D1-8F7A-3FB48E31FF16}" destId="{B22C3A92-1970-4AA0-8BE3-62B6FF080197}" srcOrd="0" destOrd="0" presId="urn:microsoft.com/office/officeart/2005/8/layout/list1"/>
    <dgm:cxn modelId="{8DDA3A47-986F-4B8F-BECE-F9AA01B2D3A8}" type="presParOf" srcId="{B22C3A92-1970-4AA0-8BE3-62B6FF080197}" destId="{45EF2E15-5906-47F1-9760-37065901EE7B}" srcOrd="0" destOrd="0" presId="urn:microsoft.com/office/officeart/2005/8/layout/list1"/>
    <dgm:cxn modelId="{6E136C9B-4128-4121-8D92-8A82E65FAB76}" type="presParOf" srcId="{B22C3A92-1970-4AA0-8BE3-62B6FF080197}" destId="{F23B02EC-F72C-41A1-9F28-A805A892079F}" srcOrd="1" destOrd="0" presId="urn:microsoft.com/office/officeart/2005/8/layout/list1"/>
    <dgm:cxn modelId="{86715BA2-BA48-40F9-B7F6-0CDF082E7575}" type="presParOf" srcId="{45FBF932-887C-44D1-8F7A-3FB48E31FF16}" destId="{06104BEC-2F04-4EFE-B576-2928F4C60F82}" srcOrd="1" destOrd="0" presId="urn:microsoft.com/office/officeart/2005/8/layout/list1"/>
    <dgm:cxn modelId="{0D3A4130-A684-4A9B-8053-463A9830910B}" type="presParOf" srcId="{45FBF932-887C-44D1-8F7A-3FB48E31FF16}" destId="{8F9BA898-C3E5-4359-9CEE-11F0002C713A}" srcOrd="2" destOrd="0" presId="urn:microsoft.com/office/officeart/2005/8/layout/list1"/>
    <dgm:cxn modelId="{5FA999F5-C92B-4F16-B985-49B18D2495AB}" type="presParOf" srcId="{45FBF932-887C-44D1-8F7A-3FB48E31FF16}" destId="{97DD467C-8F6C-4B30-8FC4-32CE4952A66E}" srcOrd="3" destOrd="0" presId="urn:microsoft.com/office/officeart/2005/8/layout/list1"/>
    <dgm:cxn modelId="{A8FAD62B-00F5-4C84-9B71-A70030799807}" type="presParOf" srcId="{45FBF932-887C-44D1-8F7A-3FB48E31FF16}" destId="{CD937750-FC1D-4AA7-A505-09D2CF0460B1}" srcOrd="4" destOrd="0" presId="urn:microsoft.com/office/officeart/2005/8/layout/list1"/>
    <dgm:cxn modelId="{BB1E13C3-1456-4CBF-8942-E2A790E406CA}" type="presParOf" srcId="{CD937750-FC1D-4AA7-A505-09D2CF0460B1}" destId="{53C6CB79-2347-4407-AE3D-2C6A583E8D40}" srcOrd="0" destOrd="0" presId="urn:microsoft.com/office/officeart/2005/8/layout/list1"/>
    <dgm:cxn modelId="{B56CF772-579B-4B91-9974-B8E52C81B1A1}" type="presParOf" srcId="{CD937750-FC1D-4AA7-A505-09D2CF0460B1}" destId="{B325AD2E-EFDC-4A98-9E3E-008A02E926A1}" srcOrd="1" destOrd="0" presId="urn:microsoft.com/office/officeart/2005/8/layout/list1"/>
    <dgm:cxn modelId="{0AF49A46-8E81-49F3-8FD2-036960745785}" type="presParOf" srcId="{45FBF932-887C-44D1-8F7A-3FB48E31FF16}" destId="{C2E7E852-6C8E-4A87-A770-1ADF82742830}" srcOrd="5" destOrd="0" presId="urn:microsoft.com/office/officeart/2005/8/layout/list1"/>
    <dgm:cxn modelId="{9B0FE054-4335-4F02-8F55-ECE9E383E05A}" type="presParOf" srcId="{45FBF932-887C-44D1-8F7A-3FB48E31FF16}" destId="{B9680A04-175C-4ED4-9A2D-9C3139D27B0B}" srcOrd="6" destOrd="0" presId="urn:microsoft.com/office/officeart/2005/8/layout/list1"/>
    <dgm:cxn modelId="{BC1F6FEE-F5BA-4C5D-832E-E9033834E575}" type="presParOf" srcId="{45FBF932-887C-44D1-8F7A-3FB48E31FF16}" destId="{E91839C6-AA3B-4AC7-8918-6FA032179D6E}" srcOrd="7" destOrd="0" presId="urn:microsoft.com/office/officeart/2005/8/layout/list1"/>
    <dgm:cxn modelId="{488428D8-14EE-48B6-AD76-83FAF9A1D29C}" type="presParOf" srcId="{45FBF932-887C-44D1-8F7A-3FB48E31FF16}" destId="{4AF36FE4-B8D1-4E4E-B236-D902B8BABEF5}" srcOrd="8" destOrd="0" presId="urn:microsoft.com/office/officeart/2005/8/layout/list1"/>
    <dgm:cxn modelId="{8B19FCCE-E9A9-47E2-8A07-FF2CC600F9CC}" type="presParOf" srcId="{4AF36FE4-B8D1-4E4E-B236-D902B8BABEF5}" destId="{3F73D6FF-6BDB-47EC-ABB6-C4D00BD9E421}" srcOrd="0" destOrd="0" presId="urn:microsoft.com/office/officeart/2005/8/layout/list1"/>
    <dgm:cxn modelId="{AC09147A-18A5-4C06-9FF6-9BA37BDD2D9F}" type="presParOf" srcId="{4AF36FE4-B8D1-4E4E-B236-D902B8BABEF5}" destId="{8410F349-7695-4B19-B90E-CFF078A843F0}" srcOrd="1" destOrd="0" presId="urn:microsoft.com/office/officeart/2005/8/layout/list1"/>
    <dgm:cxn modelId="{AD8C97FC-C711-4FDD-8F59-C25DA3C2379A}" type="presParOf" srcId="{45FBF932-887C-44D1-8F7A-3FB48E31FF16}" destId="{5787EDA2-F1D4-4E0C-8D33-8382ECCBB833}" srcOrd="9" destOrd="0" presId="urn:microsoft.com/office/officeart/2005/8/layout/list1"/>
    <dgm:cxn modelId="{7232C8AF-7E0D-408E-AAAF-DAEAB8A03510}" type="presParOf" srcId="{45FBF932-887C-44D1-8F7A-3FB48E31FF16}" destId="{4B17FC43-B28B-430D-BBEC-476512291998}" srcOrd="10"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FF187E-9A20-44A6-9D7B-B554D5CA3C60}" type="doc">
      <dgm:prSet loTypeId="urn:microsoft.com/office/officeart/2008/layout/VerticalCurvedList" loCatId="list" qsTypeId="urn:microsoft.com/office/officeart/2005/8/quickstyle/3d2" qsCatId="3D" csTypeId="urn:microsoft.com/office/officeart/2005/8/colors/colorful1" csCatId="colorful" phldr="1"/>
      <dgm:spPr/>
      <dgm:t>
        <a:bodyPr/>
        <a:lstStyle/>
        <a:p>
          <a:endParaRPr lang="en-US"/>
        </a:p>
      </dgm:t>
    </dgm:pt>
    <dgm:pt modelId="{41585A61-3842-4037-A3CE-22BBAD0FAB25}">
      <dgm:prSet phldrT="[Text]"/>
      <dgm:spPr>
        <a:solidFill>
          <a:schemeClr val="accent1">
            <a:lumMod val="75000"/>
          </a:schemeClr>
        </a:solidFill>
      </dgm:spPr>
      <dgm:t>
        <a:bodyPr/>
        <a:lstStyle/>
        <a:p>
          <a:r>
            <a:rPr lang="en-US">
              <a:ea typeface="+mn-lt"/>
              <a:cs typeface="+mn-lt"/>
            </a:rPr>
            <a:t>[1] J. Xu, L. Chen, H. Xing, and W. Tian, “Causation Correlation Analysis of Aviation Accidents: A Knowledge Graph-Based Approach,” Applied Sciences 2024, Vol. 14, Page 6887, vol. 14, no. 16, p. 6887, Aug. 2024, </a:t>
          </a:r>
          <a:r>
            <a:rPr lang="en-US" err="1">
              <a:ea typeface="+mn-lt"/>
              <a:cs typeface="+mn-lt"/>
            </a:rPr>
            <a:t>doi</a:t>
          </a:r>
          <a:r>
            <a:rPr lang="en-US">
              <a:ea typeface="+mn-lt"/>
              <a:cs typeface="+mn-lt"/>
            </a:rPr>
            <a:t>: 10.3390/APP14166887.</a:t>
          </a:r>
          <a:endParaRPr lang="en-US"/>
        </a:p>
      </dgm:t>
    </dgm:pt>
    <dgm:pt modelId="{E9FE70C3-FF57-4239-B677-241131A10115}" type="parTrans" cxnId="{0291E449-54D6-499C-A70B-656B13813C0B}">
      <dgm:prSet/>
      <dgm:spPr/>
      <dgm:t>
        <a:bodyPr/>
        <a:lstStyle/>
        <a:p>
          <a:endParaRPr lang="en-US"/>
        </a:p>
      </dgm:t>
    </dgm:pt>
    <dgm:pt modelId="{0443F13F-F650-41F6-B8A3-E7AD71CEC29B}" type="sibTrans" cxnId="{0291E449-54D6-499C-A70B-656B13813C0B}">
      <dgm:prSet/>
      <dgm:spPr/>
      <dgm:t>
        <a:bodyPr/>
        <a:lstStyle/>
        <a:p>
          <a:endParaRPr lang="en-US"/>
        </a:p>
      </dgm:t>
    </dgm:pt>
    <dgm:pt modelId="{C3A0D279-A388-4705-8335-783EBB030E80}">
      <dgm:prSet phldrT="[Text]"/>
      <dgm:spPr>
        <a:solidFill>
          <a:schemeClr val="accent2"/>
        </a:solidFill>
      </dgm:spPr>
      <dgm:t>
        <a:bodyPr/>
        <a:lstStyle/>
        <a:p>
          <a:r>
            <a:rPr lang="en-US">
              <a:ea typeface="+mn-lt"/>
              <a:cs typeface="+mn-lt"/>
            </a:rPr>
            <a:t>[2] G. Li and S. P. Baker, “Crash risk in general aviation,” JAMA, vol. 297, no. 14, pp. 1596–1598, Apr. 2007, </a:t>
          </a:r>
          <a:r>
            <a:rPr lang="en-US" err="1">
              <a:ea typeface="+mn-lt"/>
              <a:cs typeface="+mn-lt"/>
            </a:rPr>
            <a:t>doi</a:t>
          </a:r>
          <a:r>
            <a:rPr lang="en-US">
              <a:ea typeface="+mn-lt"/>
              <a:cs typeface="+mn-lt"/>
            </a:rPr>
            <a:t>: 10.1001/JAMA.297.14.1596.</a:t>
          </a:r>
          <a:endParaRPr lang="en-US"/>
        </a:p>
      </dgm:t>
    </dgm:pt>
    <dgm:pt modelId="{5C98BCBB-5C8A-4FCC-827D-3420606107C1}" type="parTrans" cxnId="{CE4B5249-5E2A-499E-BE70-8A86FD1EB9FF}">
      <dgm:prSet/>
      <dgm:spPr/>
      <dgm:t>
        <a:bodyPr/>
        <a:lstStyle/>
        <a:p>
          <a:endParaRPr lang="en-US"/>
        </a:p>
      </dgm:t>
    </dgm:pt>
    <dgm:pt modelId="{CA0E98B2-5B11-46B6-9196-8056FF724A70}" type="sibTrans" cxnId="{CE4B5249-5E2A-499E-BE70-8A86FD1EB9FF}">
      <dgm:prSet/>
      <dgm:spPr/>
      <dgm:t>
        <a:bodyPr/>
        <a:lstStyle/>
        <a:p>
          <a:endParaRPr lang="en-US"/>
        </a:p>
      </dgm:t>
    </dgm:pt>
    <dgm:pt modelId="{BC703E8D-CFA7-4250-B42E-3A26EF6C0FEE}">
      <dgm:prSet phldrT="[Text]"/>
      <dgm:spPr>
        <a:solidFill>
          <a:schemeClr val="accent3"/>
        </a:solidFill>
      </dgm:spPr>
      <dgm:t>
        <a:bodyPr/>
        <a:lstStyle/>
        <a:p>
          <a:r>
            <a:rPr lang="en-US">
              <a:ea typeface="+mn-lt"/>
              <a:cs typeface="+mn-lt"/>
            </a:rPr>
            <a:t>[3] G. D. Israel, “Determining Sample Size 1”, Accessed: Apr. 05, 2026. [Online]. Available: </a:t>
          </a:r>
          <a:r>
            <a:rPr lang="en-US">
              <a:ea typeface="+mn-lt"/>
              <a:cs typeface="+mn-lt"/>
              <a:hlinkClick xmlns:r="http://schemas.openxmlformats.org/officeDocument/2006/relationships" r:id="rId1"/>
            </a:rPr>
            <a:t>http://edis.ifas.ufl.edu</a:t>
          </a:r>
          <a:r>
            <a:rPr lang="en-US">
              <a:ea typeface="+mn-lt"/>
              <a:cs typeface="+mn-lt"/>
            </a:rPr>
            <a:t>.</a:t>
          </a:r>
          <a:endParaRPr lang="en-US"/>
        </a:p>
      </dgm:t>
    </dgm:pt>
    <dgm:pt modelId="{DAC64858-183E-42CC-AFC4-784C8130583E}" type="parTrans" cxnId="{C62C2A5D-A2D0-40F0-AD08-6DD3692E1BCA}">
      <dgm:prSet/>
      <dgm:spPr/>
      <dgm:t>
        <a:bodyPr/>
        <a:lstStyle/>
        <a:p>
          <a:endParaRPr lang="en-US"/>
        </a:p>
      </dgm:t>
    </dgm:pt>
    <dgm:pt modelId="{88DE579E-8446-4F18-9D56-8B453BA33B3A}" type="sibTrans" cxnId="{C62C2A5D-A2D0-40F0-AD08-6DD3692E1BCA}">
      <dgm:prSet/>
      <dgm:spPr/>
      <dgm:t>
        <a:bodyPr/>
        <a:lstStyle/>
        <a:p>
          <a:endParaRPr lang="en-US"/>
        </a:p>
      </dgm:t>
    </dgm:pt>
    <dgm:pt modelId="{8D7326CB-978B-4CB6-A575-E7B5B9E511D6}">
      <dgm:prSet phldrT="[Text]"/>
      <dgm:spPr>
        <a:solidFill>
          <a:schemeClr val="accent4"/>
        </a:solidFill>
      </dgm:spPr>
      <dgm:t>
        <a:bodyPr/>
        <a:lstStyle/>
        <a:p>
          <a:r>
            <a:rPr lang="en-US">
              <a:ea typeface="+mn-lt"/>
              <a:cs typeface="+mn-lt"/>
            </a:rPr>
            <a:t>[4] </a:t>
          </a:r>
          <a:r>
            <a:rPr lang="en-US"/>
            <a:t>A. Sharma, E. Kiciman. "DoWhy: An End-to-End Library for Causal Inference," in </a:t>
          </a:r>
          <a:r>
            <a:rPr lang="en-US" i="1"/>
            <a:t>arXiv preprint arXiv:2011.04216</a:t>
          </a:r>
          <a:r>
            <a:rPr lang="en-US"/>
            <a:t>, 2020.</a:t>
          </a:r>
        </a:p>
      </dgm:t>
    </dgm:pt>
    <dgm:pt modelId="{D345233D-715F-4397-B6AD-BC07C57B8791}" type="parTrans" cxnId="{6329C3B3-BF07-461B-B5B8-AA98C206AC37}">
      <dgm:prSet/>
      <dgm:spPr/>
      <dgm:t>
        <a:bodyPr/>
        <a:lstStyle/>
        <a:p>
          <a:endParaRPr lang="en-US"/>
        </a:p>
      </dgm:t>
    </dgm:pt>
    <dgm:pt modelId="{C7832474-1E52-402D-9C49-3AAE085A5E00}" type="sibTrans" cxnId="{6329C3B3-BF07-461B-B5B8-AA98C206AC37}">
      <dgm:prSet/>
      <dgm:spPr/>
      <dgm:t>
        <a:bodyPr/>
        <a:lstStyle/>
        <a:p>
          <a:endParaRPr lang="en-US"/>
        </a:p>
      </dgm:t>
    </dgm:pt>
    <dgm:pt modelId="{BBB0E23D-3EDE-4F72-B0FD-3A1B04202C1D}">
      <dgm:prSet phldrT="[Text]"/>
      <dgm:spPr>
        <a:solidFill>
          <a:schemeClr val="accent5"/>
        </a:solidFill>
      </dgm:spPr>
      <dgm:t>
        <a:bodyPr/>
        <a:lstStyle/>
        <a:p>
          <a:r>
            <a:rPr lang="en-US">
              <a:ea typeface="+mn-lt"/>
              <a:cs typeface="+mn-lt"/>
            </a:rPr>
            <a:t>[5] P. Spirtes, C. Glymour, and R. Scheines, “Causation, Prediction, and Search”. </a:t>
          </a:r>
          <a:endParaRPr lang="en-US"/>
        </a:p>
      </dgm:t>
    </dgm:pt>
    <dgm:pt modelId="{8BE97949-A067-4355-AD93-898370F102F5}" type="parTrans" cxnId="{436AF786-607E-450E-94DC-AC440FC79631}">
      <dgm:prSet/>
      <dgm:spPr/>
      <dgm:t>
        <a:bodyPr/>
        <a:lstStyle/>
        <a:p>
          <a:endParaRPr lang="en-US"/>
        </a:p>
      </dgm:t>
    </dgm:pt>
    <dgm:pt modelId="{4852ACFF-9F2A-4FBB-B732-09BAF11AA627}" type="sibTrans" cxnId="{436AF786-607E-450E-94DC-AC440FC79631}">
      <dgm:prSet/>
      <dgm:spPr/>
      <dgm:t>
        <a:bodyPr/>
        <a:lstStyle/>
        <a:p>
          <a:endParaRPr lang="en-US"/>
        </a:p>
      </dgm:t>
    </dgm:pt>
    <dgm:pt modelId="{C3AB1994-6400-4690-A880-2B397D108EAA}" type="pres">
      <dgm:prSet presAssocID="{1EFF187E-9A20-44A6-9D7B-B554D5CA3C60}" presName="Name0" presStyleCnt="0">
        <dgm:presLayoutVars>
          <dgm:chMax val="7"/>
          <dgm:chPref val="7"/>
          <dgm:dir/>
        </dgm:presLayoutVars>
      </dgm:prSet>
      <dgm:spPr/>
    </dgm:pt>
    <dgm:pt modelId="{42737CC6-F8B1-4CB1-89DB-F48185066174}" type="pres">
      <dgm:prSet presAssocID="{1EFF187E-9A20-44A6-9D7B-B554D5CA3C60}" presName="Name1" presStyleCnt="0"/>
      <dgm:spPr/>
    </dgm:pt>
    <dgm:pt modelId="{3BB270C9-B268-45F9-9F62-FEE4B2FDF2DF}" type="pres">
      <dgm:prSet presAssocID="{1EFF187E-9A20-44A6-9D7B-B554D5CA3C60}" presName="cycle" presStyleCnt="0"/>
      <dgm:spPr/>
    </dgm:pt>
    <dgm:pt modelId="{14A20C1F-C4C1-492C-835A-2B08677463EE}" type="pres">
      <dgm:prSet presAssocID="{1EFF187E-9A20-44A6-9D7B-B554D5CA3C60}" presName="srcNode" presStyleLbl="node1" presStyleIdx="0" presStyleCnt="5"/>
      <dgm:spPr/>
    </dgm:pt>
    <dgm:pt modelId="{44A2E8F3-F891-45F9-A7BB-D1D31F771F85}" type="pres">
      <dgm:prSet presAssocID="{1EFF187E-9A20-44A6-9D7B-B554D5CA3C60}" presName="conn" presStyleLbl="parChTrans1D2" presStyleIdx="0" presStyleCnt="1"/>
      <dgm:spPr/>
    </dgm:pt>
    <dgm:pt modelId="{563C398C-5BF1-4DD4-BFD4-B338135F59D7}" type="pres">
      <dgm:prSet presAssocID="{1EFF187E-9A20-44A6-9D7B-B554D5CA3C60}" presName="extraNode" presStyleLbl="node1" presStyleIdx="0" presStyleCnt="5"/>
      <dgm:spPr/>
    </dgm:pt>
    <dgm:pt modelId="{D3539BAB-F9E1-435F-998A-B2B8D11D47E8}" type="pres">
      <dgm:prSet presAssocID="{1EFF187E-9A20-44A6-9D7B-B554D5CA3C60}" presName="dstNode" presStyleLbl="node1" presStyleIdx="0" presStyleCnt="5"/>
      <dgm:spPr/>
    </dgm:pt>
    <dgm:pt modelId="{498463FA-1736-48D7-B92B-9B78F1CEA6E4}" type="pres">
      <dgm:prSet presAssocID="{41585A61-3842-4037-A3CE-22BBAD0FAB25}" presName="text_1" presStyleLbl="node1" presStyleIdx="0" presStyleCnt="5">
        <dgm:presLayoutVars>
          <dgm:bulletEnabled val="1"/>
        </dgm:presLayoutVars>
      </dgm:prSet>
      <dgm:spPr/>
    </dgm:pt>
    <dgm:pt modelId="{A2913C5B-D300-49EE-914D-7475CCA4E678}" type="pres">
      <dgm:prSet presAssocID="{41585A61-3842-4037-A3CE-22BBAD0FAB25}" presName="accent_1" presStyleCnt="0"/>
      <dgm:spPr/>
    </dgm:pt>
    <dgm:pt modelId="{87F86E48-C003-4330-8040-FDE751D3FC06}" type="pres">
      <dgm:prSet presAssocID="{41585A61-3842-4037-A3CE-22BBAD0FAB25}" presName="accentRepeatNode" presStyleLbl="solidFgAcc1" presStyleIdx="0" presStyleCnt="5"/>
      <dgm:spPr>
        <a:prstGeom prst="flowChartOnlineStorage">
          <a:avLst/>
        </a:prstGeom>
        <a:noFill/>
        <a:ln>
          <a:noFill/>
        </a:ln>
      </dgm:spPr>
    </dgm:pt>
    <dgm:pt modelId="{6C34AF81-5AC7-4DFE-8416-3AF11B76BCD9}" type="pres">
      <dgm:prSet presAssocID="{C3A0D279-A388-4705-8335-783EBB030E80}" presName="text_2" presStyleLbl="node1" presStyleIdx="1" presStyleCnt="5">
        <dgm:presLayoutVars>
          <dgm:bulletEnabled val="1"/>
        </dgm:presLayoutVars>
      </dgm:prSet>
      <dgm:spPr/>
    </dgm:pt>
    <dgm:pt modelId="{9E6956DE-4D9B-4B4B-BD48-6A0825DA3755}" type="pres">
      <dgm:prSet presAssocID="{C3A0D279-A388-4705-8335-783EBB030E80}" presName="accent_2" presStyleCnt="0"/>
      <dgm:spPr/>
    </dgm:pt>
    <dgm:pt modelId="{0ADF8C14-A277-4EB2-9121-C00756D16849}" type="pres">
      <dgm:prSet presAssocID="{C3A0D279-A388-4705-8335-783EBB030E80}" presName="accentRepeatNode" presStyleLbl="solidFgAcc1" presStyleIdx="1" presStyleCnt="5"/>
      <dgm:spPr>
        <a:noFill/>
        <a:ln>
          <a:noFill/>
        </a:ln>
      </dgm:spPr>
    </dgm:pt>
    <dgm:pt modelId="{BD6BBB50-3A57-4DAC-AE94-C6DC1FBD0C30}" type="pres">
      <dgm:prSet presAssocID="{BC703E8D-CFA7-4250-B42E-3A26EF6C0FEE}" presName="text_3" presStyleLbl="node1" presStyleIdx="2" presStyleCnt="5">
        <dgm:presLayoutVars>
          <dgm:bulletEnabled val="1"/>
        </dgm:presLayoutVars>
      </dgm:prSet>
      <dgm:spPr/>
    </dgm:pt>
    <dgm:pt modelId="{670488A0-AF38-4FF9-AB72-EE1F9CD35E6F}" type="pres">
      <dgm:prSet presAssocID="{BC703E8D-CFA7-4250-B42E-3A26EF6C0FEE}" presName="accent_3" presStyleCnt="0"/>
      <dgm:spPr/>
    </dgm:pt>
    <dgm:pt modelId="{C145EC2B-6563-4F34-BED2-0E3A4E3E0CCA}" type="pres">
      <dgm:prSet presAssocID="{BC703E8D-CFA7-4250-B42E-3A26EF6C0FEE}" presName="accentRepeatNode" presStyleLbl="solidFgAcc1" presStyleIdx="2" presStyleCnt="5"/>
      <dgm:spPr>
        <a:noFill/>
        <a:ln>
          <a:noFill/>
        </a:ln>
      </dgm:spPr>
    </dgm:pt>
    <dgm:pt modelId="{9FCD45FC-D5F5-402A-8592-8FA8CBDD4E65}" type="pres">
      <dgm:prSet presAssocID="{8D7326CB-978B-4CB6-A575-E7B5B9E511D6}" presName="text_4" presStyleLbl="node1" presStyleIdx="3" presStyleCnt="5">
        <dgm:presLayoutVars>
          <dgm:bulletEnabled val="1"/>
        </dgm:presLayoutVars>
      </dgm:prSet>
      <dgm:spPr/>
    </dgm:pt>
    <dgm:pt modelId="{82ED051E-9EDD-40F0-9D7F-862B40FF4352}" type="pres">
      <dgm:prSet presAssocID="{8D7326CB-978B-4CB6-A575-E7B5B9E511D6}" presName="accent_4" presStyleCnt="0"/>
      <dgm:spPr/>
    </dgm:pt>
    <dgm:pt modelId="{F9C43BF6-536F-42DA-AE49-092783E977F5}" type="pres">
      <dgm:prSet presAssocID="{8D7326CB-978B-4CB6-A575-E7B5B9E511D6}" presName="accentRepeatNode" presStyleLbl="solidFgAcc1" presStyleIdx="3" presStyleCnt="5"/>
      <dgm:spPr>
        <a:noFill/>
        <a:ln>
          <a:noFill/>
        </a:ln>
      </dgm:spPr>
    </dgm:pt>
    <dgm:pt modelId="{7275ECD8-3B13-409C-A394-B7A4398C735C}" type="pres">
      <dgm:prSet presAssocID="{BBB0E23D-3EDE-4F72-B0FD-3A1B04202C1D}" presName="text_5" presStyleLbl="node1" presStyleIdx="4" presStyleCnt="5">
        <dgm:presLayoutVars>
          <dgm:bulletEnabled val="1"/>
        </dgm:presLayoutVars>
      </dgm:prSet>
      <dgm:spPr/>
    </dgm:pt>
    <dgm:pt modelId="{63A24A7B-2529-4950-A1E4-8394734572DE}" type="pres">
      <dgm:prSet presAssocID="{BBB0E23D-3EDE-4F72-B0FD-3A1B04202C1D}" presName="accent_5" presStyleCnt="0"/>
      <dgm:spPr/>
    </dgm:pt>
    <dgm:pt modelId="{A14C7759-2187-49E0-AA02-F0E832F7F97A}" type="pres">
      <dgm:prSet presAssocID="{BBB0E23D-3EDE-4F72-B0FD-3A1B04202C1D}" presName="accentRepeatNode" presStyleLbl="solidFgAcc1" presStyleIdx="4" presStyleCnt="5"/>
      <dgm:spPr>
        <a:noFill/>
        <a:ln>
          <a:noFill/>
        </a:ln>
      </dgm:spPr>
    </dgm:pt>
  </dgm:ptLst>
  <dgm:cxnLst>
    <dgm:cxn modelId="{400F641F-0817-4683-AF9F-33F1362801BF}" type="presOf" srcId="{C3A0D279-A388-4705-8335-783EBB030E80}" destId="{6C34AF81-5AC7-4DFE-8416-3AF11B76BCD9}" srcOrd="0" destOrd="0" presId="urn:microsoft.com/office/officeart/2008/layout/VerticalCurvedList"/>
    <dgm:cxn modelId="{F715803B-15E7-4992-9C85-9EE59D4BA557}" type="presOf" srcId="{BBB0E23D-3EDE-4F72-B0FD-3A1B04202C1D}" destId="{7275ECD8-3B13-409C-A394-B7A4398C735C}" srcOrd="0" destOrd="0" presId="urn:microsoft.com/office/officeart/2008/layout/VerticalCurvedList"/>
    <dgm:cxn modelId="{C62C2A5D-A2D0-40F0-AD08-6DD3692E1BCA}" srcId="{1EFF187E-9A20-44A6-9D7B-B554D5CA3C60}" destId="{BC703E8D-CFA7-4250-B42E-3A26EF6C0FEE}" srcOrd="2" destOrd="0" parTransId="{DAC64858-183E-42CC-AFC4-784C8130583E}" sibTransId="{88DE579E-8446-4F18-9D56-8B453BA33B3A}"/>
    <dgm:cxn modelId="{CE4B5249-5E2A-499E-BE70-8A86FD1EB9FF}" srcId="{1EFF187E-9A20-44A6-9D7B-B554D5CA3C60}" destId="{C3A0D279-A388-4705-8335-783EBB030E80}" srcOrd="1" destOrd="0" parTransId="{5C98BCBB-5C8A-4FCC-827D-3420606107C1}" sibTransId="{CA0E98B2-5B11-46B6-9196-8056FF724A70}"/>
    <dgm:cxn modelId="{0291E449-54D6-499C-A70B-656B13813C0B}" srcId="{1EFF187E-9A20-44A6-9D7B-B554D5CA3C60}" destId="{41585A61-3842-4037-A3CE-22BBAD0FAB25}" srcOrd="0" destOrd="0" parTransId="{E9FE70C3-FF57-4239-B677-241131A10115}" sibTransId="{0443F13F-F650-41F6-B8A3-E7AD71CEC29B}"/>
    <dgm:cxn modelId="{AAF1D156-944F-486F-86C1-D1708EFC4112}" type="presOf" srcId="{1EFF187E-9A20-44A6-9D7B-B554D5CA3C60}" destId="{C3AB1994-6400-4690-A880-2B397D108EAA}" srcOrd="0" destOrd="0" presId="urn:microsoft.com/office/officeart/2008/layout/VerticalCurvedList"/>
    <dgm:cxn modelId="{436AF786-607E-450E-94DC-AC440FC79631}" srcId="{1EFF187E-9A20-44A6-9D7B-B554D5CA3C60}" destId="{BBB0E23D-3EDE-4F72-B0FD-3A1B04202C1D}" srcOrd="4" destOrd="0" parTransId="{8BE97949-A067-4355-AD93-898370F102F5}" sibTransId="{4852ACFF-9F2A-4FBB-B732-09BAF11AA627}"/>
    <dgm:cxn modelId="{3B27BE8B-6D75-4384-8616-45A1BA20A35B}" type="presOf" srcId="{BC703E8D-CFA7-4250-B42E-3A26EF6C0FEE}" destId="{BD6BBB50-3A57-4DAC-AE94-C6DC1FBD0C30}" srcOrd="0" destOrd="0" presId="urn:microsoft.com/office/officeart/2008/layout/VerticalCurvedList"/>
    <dgm:cxn modelId="{A6D39899-51A0-4C5A-AC35-792F2D9C4F27}" type="presOf" srcId="{0443F13F-F650-41F6-B8A3-E7AD71CEC29B}" destId="{44A2E8F3-F891-45F9-A7BB-D1D31F771F85}" srcOrd="0" destOrd="0" presId="urn:microsoft.com/office/officeart/2008/layout/VerticalCurvedList"/>
    <dgm:cxn modelId="{437BFDA4-83EA-4C6C-BDF7-44A56E4417F0}" type="presOf" srcId="{8D7326CB-978B-4CB6-A575-E7B5B9E511D6}" destId="{9FCD45FC-D5F5-402A-8592-8FA8CBDD4E65}" srcOrd="0" destOrd="0" presId="urn:microsoft.com/office/officeart/2008/layout/VerticalCurvedList"/>
    <dgm:cxn modelId="{6329C3B3-BF07-461B-B5B8-AA98C206AC37}" srcId="{1EFF187E-9A20-44A6-9D7B-B554D5CA3C60}" destId="{8D7326CB-978B-4CB6-A575-E7B5B9E511D6}" srcOrd="3" destOrd="0" parTransId="{D345233D-715F-4397-B6AD-BC07C57B8791}" sibTransId="{C7832474-1E52-402D-9C49-3AAE085A5E00}"/>
    <dgm:cxn modelId="{3D6F64E1-57B8-47AA-B012-5C9F1C847DD2}" type="presOf" srcId="{41585A61-3842-4037-A3CE-22BBAD0FAB25}" destId="{498463FA-1736-48D7-B92B-9B78F1CEA6E4}" srcOrd="0" destOrd="0" presId="urn:microsoft.com/office/officeart/2008/layout/VerticalCurvedList"/>
    <dgm:cxn modelId="{7FFDD39E-63C9-483F-9A56-5F5848426AEE}" type="presParOf" srcId="{C3AB1994-6400-4690-A880-2B397D108EAA}" destId="{42737CC6-F8B1-4CB1-89DB-F48185066174}" srcOrd="0" destOrd="0" presId="urn:microsoft.com/office/officeart/2008/layout/VerticalCurvedList"/>
    <dgm:cxn modelId="{6F675616-D988-48DB-8373-DEAE93D1D589}" type="presParOf" srcId="{42737CC6-F8B1-4CB1-89DB-F48185066174}" destId="{3BB270C9-B268-45F9-9F62-FEE4B2FDF2DF}" srcOrd="0" destOrd="0" presId="urn:microsoft.com/office/officeart/2008/layout/VerticalCurvedList"/>
    <dgm:cxn modelId="{6D25E4B8-07A2-4E3B-8E31-F365B8620051}" type="presParOf" srcId="{3BB270C9-B268-45F9-9F62-FEE4B2FDF2DF}" destId="{14A20C1F-C4C1-492C-835A-2B08677463EE}" srcOrd="0" destOrd="0" presId="urn:microsoft.com/office/officeart/2008/layout/VerticalCurvedList"/>
    <dgm:cxn modelId="{11A7A050-42DD-463F-BDAE-EB762DBEAE70}" type="presParOf" srcId="{3BB270C9-B268-45F9-9F62-FEE4B2FDF2DF}" destId="{44A2E8F3-F891-45F9-A7BB-D1D31F771F85}" srcOrd="1" destOrd="0" presId="urn:microsoft.com/office/officeart/2008/layout/VerticalCurvedList"/>
    <dgm:cxn modelId="{0C138BB7-8059-400D-A1C7-3580B70995CF}" type="presParOf" srcId="{3BB270C9-B268-45F9-9F62-FEE4B2FDF2DF}" destId="{563C398C-5BF1-4DD4-BFD4-B338135F59D7}" srcOrd="2" destOrd="0" presId="urn:microsoft.com/office/officeart/2008/layout/VerticalCurvedList"/>
    <dgm:cxn modelId="{83F2100E-953B-43DE-B2E2-6AE32FC4F2F7}" type="presParOf" srcId="{3BB270C9-B268-45F9-9F62-FEE4B2FDF2DF}" destId="{D3539BAB-F9E1-435F-998A-B2B8D11D47E8}" srcOrd="3" destOrd="0" presId="urn:microsoft.com/office/officeart/2008/layout/VerticalCurvedList"/>
    <dgm:cxn modelId="{11DFBA7D-6C25-4389-97ED-8B9732241957}" type="presParOf" srcId="{42737CC6-F8B1-4CB1-89DB-F48185066174}" destId="{498463FA-1736-48D7-B92B-9B78F1CEA6E4}" srcOrd="1" destOrd="0" presId="urn:microsoft.com/office/officeart/2008/layout/VerticalCurvedList"/>
    <dgm:cxn modelId="{8F07CC29-D89F-4BD4-B212-3A523FA74FC5}" type="presParOf" srcId="{42737CC6-F8B1-4CB1-89DB-F48185066174}" destId="{A2913C5B-D300-49EE-914D-7475CCA4E678}" srcOrd="2" destOrd="0" presId="urn:microsoft.com/office/officeart/2008/layout/VerticalCurvedList"/>
    <dgm:cxn modelId="{1C81FC65-940C-46E0-B940-0F7A5E3C64F8}" type="presParOf" srcId="{A2913C5B-D300-49EE-914D-7475CCA4E678}" destId="{87F86E48-C003-4330-8040-FDE751D3FC06}" srcOrd="0" destOrd="0" presId="urn:microsoft.com/office/officeart/2008/layout/VerticalCurvedList"/>
    <dgm:cxn modelId="{8458EB83-150C-41DC-A9AF-54AC09125472}" type="presParOf" srcId="{42737CC6-F8B1-4CB1-89DB-F48185066174}" destId="{6C34AF81-5AC7-4DFE-8416-3AF11B76BCD9}" srcOrd="3" destOrd="0" presId="urn:microsoft.com/office/officeart/2008/layout/VerticalCurvedList"/>
    <dgm:cxn modelId="{0F380C3E-3CAB-4809-A7AE-B7D46B7ADFAA}" type="presParOf" srcId="{42737CC6-F8B1-4CB1-89DB-F48185066174}" destId="{9E6956DE-4D9B-4B4B-BD48-6A0825DA3755}" srcOrd="4" destOrd="0" presId="urn:microsoft.com/office/officeart/2008/layout/VerticalCurvedList"/>
    <dgm:cxn modelId="{6B46FE23-8A34-4BE6-96FF-74DB4C825B59}" type="presParOf" srcId="{9E6956DE-4D9B-4B4B-BD48-6A0825DA3755}" destId="{0ADF8C14-A277-4EB2-9121-C00756D16849}" srcOrd="0" destOrd="0" presId="urn:microsoft.com/office/officeart/2008/layout/VerticalCurvedList"/>
    <dgm:cxn modelId="{216521BE-4F88-4953-976C-C9B16D923758}" type="presParOf" srcId="{42737CC6-F8B1-4CB1-89DB-F48185066174}" destId="{BD6BBB50-3A57-4DAC-AE94-C6DC1FBD0C30}" srcOrd="5" destOrd="0" presId="urn:microsoft.com/office/officeart/2008/layout/VerticalCurvedList"/>
    <dgm:cxn modelId="{2003E937-F52C-4EBB-BD70-F191C7A8AFC3}" type="presParOf" srcId="{42737CC6-F8B1-4CB1-89DB-F48185066174}" destId="{670488A0-AF38-4FF9-AB72-EE1F9CD35E6F}" srcOrd="6" destOrd="0" presId="urn:microsoft.com/office/officeart/2008/layout/VerticalCurvedList"/>
    <dgm:cxn modelId="{64B7DD7A-6031-48D1-A48A-1C658AC2A063}" type="presParOf" srcId="{670488A0-AF38-4FF9-AB72-EE1F9CD35E6F}" destId="{C145EC2B-6563-4F34-BED2-0E3A4E3E0CCA}" srcOrd="0" destOrd="0" presId="urn:microsoft.com/office/officeart/2008/layout/VerticalCurvedList"/>
    <dgm:cxn modelId="{7EB01F54-9DE0-4768-8D75-4E323350179D}" type="presParOf" srcId="{42737CC6-F8B1-4CB1-89DB-F48185066174}" destId="{9FCD45FC-D5F5-402A-8592-8FA8CBDD4E65}" srcOrd="7" destOrd="0" presId="urn:microsoft.com/office/officeart/2008/layout/VerticalCurvedList"/>
    <dgm:cxn modelId="{8F8E9B05-D020-4E98-9C07-1D62F377F23E}" type="presParOf" srcId="{42737CC6-F8B1-4CB1-89DB-F48185066174}" destId="{82ED051E-9EDD-40F0-9D7F-862B40FF4352}" srcOrd="8" destOrd="0" presId="urn:microsoft.com/office/officeart/2008/layout/VerticalCurvedList"/>
    <dgm:cxn modelId="{FB9AB5F4-DA20-49DC-8ADC-A4D7BACED517}" type="presParOf" srcId="{82ED051E-9EDD-40F0-9D7F-862B40FF4352}" destId="{F9C43BF6-536F-42DA-AE49-092783E977F5}" srcOrd="0" destOrd="0" presId="urn:microsoft.com/office/officeart/2008/layout/VerticalCurvedList"/>
    <dgm:cxn modelId="{384816CE-7CBD-4FDB-85F7-86AB298BAC62}" type="presParOf" srcId="{42737CC6-F8B1-4CB1-89DB-F48185066174}" destId="{7275ECD8-3B13-409C-A394-B7A4398C735C}" srcOrd="9" destOrd="0" presId="urn:microsoft.com/office/officeart/2008/layout/VerticalCurvedList"/>
    <dgm:cxn modelId="{8D03582A-3A94-4F2D-8628-A7B95CCF2165}" type="presParOf" srcId="{42737CC6-F8B1-4CB1-89DB-F48185066174}" destId="{63A24A7B-2529-4950-A1E4-8394734572DE}" srcOrd="10" destOrd="0" presId="urn:microsoft.com/office/officeart/2008/layout/VerticalCurvedList"/>
    <dgm:cxn modelId="{AE4C46BE-6992-4679-BF3B-B08DAA9F9CE8}" type="presParOf" srcId="{63A24A7B-2529-4950-A1E4-8394734572DE}" destId="{A14C7759-2187-49E0-AA02-F0E832F7F97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79391-D346-48F2-83A1-F3F675A41D38}">
      <dsp:nvSpPr>
        <dsp:cNvPr id="0" name=""/>
        <dsp:cNvSpPr/>
      </dsp:nvSpPr>
      <dsp:spPr>
        <a:xfrm rot="4292337">
          <a:off x="2804755" y="-512840"/>
          <a:ext cx="3647149" cy="6050408"/>
        </a:xfrm>
        <a:prstGeom prst="swooshArrow">
          <a:avLst>
            <a:gd name="adj1" fmla="val 16310"/>
            <a:gd name="adj2" fmla="val 313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680823-F9B3-47FC-90F4-52B6012F77DF}">
      <dsp:nvSpPr>
        <dsp:cNvPr id="0" name=""/>
        <dsp:cNvSpPr/>
      </dsp:nvSpPr>
      <dsp:spPr>
        <a:xfrm rot="744622">
          <a:off x="3477429" y="1504221"/>
          <a:ext cx="118126" cy="118126"/>
        </a:xfrm>
        <a:prstGeom prst="ellipse">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623018B-83ED-48FE-B9AC-B5D5009BC423}">
      <dsp:nvSpPr>
        <dsp:cNvPr id="0" name=""/>
        <dsp:cNvSpPr/>
      </dsp:nvSpPr>
      <dsp:spPr>
        <a:xfrm rot="19719652">
          <a:off x="5041648" y="1655697"/>
          <a:ext cx="118126" cy="118126"/>
        </a:xfrm>
        <a:prstGeom prst="ellipse">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E4F54E-AD77-4855-BF5E-9E2240FEAB64}">
      <dsp:nvSpPr>
        <dsp:cNvPr id="0" name=""/>
        <dsp:cNvSpPr/>
      </dsp:nvSpPr>
      <dsp:spPr>
        <a:xfrm rot="1189993">
          <a:off x="6228278" y="2148300"/>
          <a:ext cx="118126" cy="118126"/>
        </a:xfrm>
        <a:prstGeom prst="ellipse">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08C4FC-E760-4B3B-B96C-9C52E7B3FC34}">
      <dsp:nvSpPr>
        <dsp:cNvPr id="0" name=""/>
        <dsp:cNvSpPr/>
      </dsp:nvSpPr>
      <dsp:spPr>
        <a:xfrm rot="21111293">
          <a:off x="361991" y="809566"/>
          <a:ext cx="2205397"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b" anchorCtr="0">
          <a:noAutofit/>
        </a:bodyPr>
        <a:lstStyle/>
        <a:p>
          <a:pPr marL="0" lvl="0" indent="0" algn="ctr" defTabSz="933450">
            <a:lnSpc>
              <a:spcPct val="90000"/>
            </a:lnSpc>
            <a:spcBef>
              <a:spcPct val="0"/>
            </a:spcBef>
            <a:spcAft>
              <a:spcPct val="35000"/>
            </a:spcAft>
            <a:buNone/>
          </a:pPr>
          <a:r>
            <a:rPr lang="en-US" sz="2100" kern="1200"/>
            <a:t>Raw Crash Summaries</a:t>
          </a:r>
        </a:p>
      </dsp:txBody>
      <dsp:txXfrm>
        <a:off x="361991" y="809566"/>
        <a:ext cx="2205397" cy="866986"/>
      </dsp:txXfrm>
    </dsp:sp>
    <dsp:sp modelId="{C6B4E2C3-F1E1-48DF-8591-FC9DF34816EF}">
      <dsp:nvSpPr>
        <dsp:cNvPr id="0" name=""/>
        <dsp:cNvSpPr/>
      </dsp:nvSpPr>
      <dsp:spPr>
        <a:xfrm rot="21191681">
          <a:off x="936393" y="1863453"/>
          <a:ext cx="3218688"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0" lvl="0" indent="0" algn="l" defTabSz="933450">
            <a:lnSpc>
              <a:spcPct val="90000"/>
            </a:lnSpc>
            <a:spcBef>
              <a:spcPct val="0"/>
            </a:spcBef>
            <a:spcAft>
              <a:spcPct val="35000"/>
            </a:spcAft>
            <a:buNone/>
          </a:pPr>
          <a:r>
            <a:rPr lang="en-US" sz="2100" kern="1200"/>
            <a:t>Cause Categories</a:t>
          </a:r>
        </a:p>
        <a:p>
          <a:pPr marL="171450" lvl="1" indent="-171450" algn="l" defTabSz="711200">
            <a:lnSpc>
              <a:spcPct val="90000"/>
            </a:lnSpc>
            <a:spcBef>
              <a:spcPct val="0"/>
            </a:spcBef>
            <a:spcAft>
              <a:spcPct val="15000"/>
            </a:spcAft>
            <a:buChar char="•"/>
          </a:pPr>
          <a:r>
            <a:rPr lang="en-US" sz="1600" kern="1200"/>
            <a:t>Weather, Mechanical, Pilot error, CFIT, etc.</a:t>
          </a:r>
        </a:p>
      </dsp:txBody>
      <dsp:txXfrm>
        <a:off x="936393" y="1863453"/>
        <a:ext cx="3218688" cy="866986"/>
      </dsp:txXfrm>
    </dsp:sp>
    <dsp:sp modelId="{7DC82614-8C16-47E7-A5A7-DC5EAB1A81FB}">
      <dsp:nvSpPr>
        <dsp:cNvPr id="0" name=""/>
        <dsp:cNvSpPr/>
      </dsp:nvSpPr>
      <dsp:spPr>
        <a:xfrm rot="20952981">
          <a:off x="4499961" y="772645"/>
          <a:ext cx="2563029"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r" defTabSz="933450">
            <a:lnSpc>
              <a:spcPct val="90000"/>
            </a:lnSpc>
            <a:spcBef>
              <a:spcPct val="0"/>
            </a:spcBef>
            <a:spcAft>
              <a:spcPct val="35000"/>
            </a:spcAft>
            <a:buNone/>
          </a:pPr>
          <a:r>
            <a:rPr lang="en-US" sz="2100" kern="1200"/>
            <a:t>Binary Variables (yes/no)</a:t>
          </a:r>
        </a:p>
      </dsp:txBody>
      <dsp:txXfrm>
        <a:off x="4499961" y="772645"/>
        <a:ext cx="2563029" cy="866986"/>
      </dsp:txXfrm>
    </dsp:sp>
    <dsp:sp modelId="{59943F05-B714-4763-BF1B-A7A76F1649D6}">
      <dsp:nvSpPr>
        <dsp:cNvPr id="0" name=""/>
        <dsp:cNvSpPr/>
      </dsp:nvSpPr>
      <dsp:spPr>
        <a:xfrm rot="21317964">
          <a:off x="4178671" y="2274804"/>
          <a:ext cx="1966976"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l" defTabSz="933450">
            <a:lnSpc>
              <a:spcPct val="90000"/>
            </a:lnSpc>
            <a:spcBef>
              <a:spcPct val="0"/>
            </a:spcBef>
            <a:spcAft>
              <a:spcPct val="35000"/>
            </a:spcAft>
            <a:buNone/>
          </a:pPr>
          <a:r>
            <a:rPr lang="en-US" sz="2100" kern="1200"/>
            <a:t>Fatality Rate</a:t>
          </a:r>
        </a:p>
      </dsp:txBody>
      <dsp:txXfrm>
        <a:off x="4178671" y="2274804"/>
        <a:ext cx="1966976" cy="866986"/>
      </dsp:txXfrm>
    </dsp:sp>
    <dsp:sp modelId="{99389DD3-E574-4688-8A2C-D58227CD2B92}">
      <dsp:nvSpPr>
        <dsp:cNvPr id="0" name=""/>
        <dsp:cNvSpPr/>
      </dsp:nvSpPr>
      <dsp:spPr>
        <a:xfrm>
          <a:off x="4391829" y="4551680"/>
          <a:ext cx="2980266" cy="866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0" lvl="0" indent="0" algn="ctr" defTabSz="933450">
            <a:lnSpc>
              <a:spcPct val="90000"/>
            </a:lnSpc>
            <a:spcBef>
              <a:spcPct val="0"/>
            </a:spcBef>
            <a:spcAft>
              <a:spcPct val="35000"/>
            </a:spcAft>
            <a:buNone/>
          </a:pPr>
          <a:r>
            <a:rPr lang="en-US" sz="2100" kern="1200"/>
            <a:t> </a:t>
          </a:r>
        </a:p>
      </dsp:txBody>
      <dsp:txXfrm>
        <a:off x="4391829" y="4551680"/>
        <a:ext cx="2980266" cy="8669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9BA898-C3E5-4359-9CEE-11F0002C713A}">
      <dsp:nvSpPr>
        <dsp:cNvPr id="0" name=""/>
        <dsp:cNvSpPr/>
      </dsp:nvSpPr>
      <dsp:spPr>
        <a:xfrm>
          <a:off x="0" y="228309"/>
          <a:ext cx="3729037" cy="1389150"/>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89415" tIns="291592" rIns="28941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5,268 aviation accidents (1908–2009)</a:t>
          </a:r>
        </a:p>
        <a:p>
          <a:pPr marL="114300" lvl="1" indent="-114300" algn="l" defTabSz="622300">
            <a:lnSpc>
              <a:spcPct val="90000"/>
            </a:lnSpc>
            <a:spcBef>
              <a:spcPct val="0"/>
            </a:spcBef>
            <a:spcAft>
              <a:spcPct val="15000"/>
            </a:spcAft>
            <a:buChar char="•"/>
          </a:pPr>
          <a:r>
            <a:rPr lang="en-US" sz="1400" kern="1200"/>
            <a:t>Extracted causes from crash summaries (unstructured text)</a:t>
          </a:r>
        </a:p>
        <a:p>
          <a:pPr marL="114300" lvl="1" indent="-114300" algn="l" defTabSz="622300">
            <a:lnSpc>
              <a:spcPct val="90000"/>
            </a:lnSpc>
            <a:spcBef>
              <a:spcPct val="0"/>
            </a:spcBef>
            <a:spcAft>
              <a:spcPct val="15000"/>
            </a:spcAft>
            <a:buChar char="•"/>
          </a:pPr>
          <a:r>
            <a:rPr lang="en-US" sz="1400" kern="1200"/>
            <a:t>Classified into 11 contributing factor categories</a:t>
          </a:r>
        </a:p>
      </dsp:txBody>
      <dsp:txXfrm>
        <a:off x="0" y="228309"/>
        <a:ext cx="3729037" cy="1389150"/>
      </dsp:txXfrm>
    </dsp:sp>
    <dsp:sp modelId="{F23B02EC-F72C-41A1-9F28-A805A892079F}">
      <dsp:nvSpPr>
        <dsp:cNvPr id="0" name=""/>
        <dsp:cNvSpPr/>
      </dsp:nvSpPr>
      <dsp:spPr>
        <a:xfrm>
          <a:off x="186451" y="21669"/>
          <a:ext cx="2610325" cy="413280"/>
        </a:xfrm>
        <a:prstGeom prst="round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98664" tIns="0" rIns="98664" bIns="0" numCol="1" spcCol="1270" anchor="ctr" anchorCtr="0">
          <a:noAutofit/>
        </a:bodyPr>
        <a:lstStyle/>
        <a:p>
          <a:pPr marL="0" lvl="0" indent="0" algn="l" defTabSz="622300">
            <a:lnSpc>
              <a:spcPct val="90000"/>
            </a:lnSpc>
            <a:spcBef>
              <a:spcPct val="0"/>
            </a:spcBef>
            <a:spcAft>
              <a:spcPct val="35000"/>
            </a:spcAft>
            <a:buNone/>
          </a:pPr>
          <a:r>
            <a:rPr lang="en-US" sz="1400" kern="1200"/>
            <a:t>Dataset</a:t>
          </a:r>
        </a:p>
      </dsp:txBody>
      <dsp:txXfrm>
        <a:off x="206626" y="41844"/>
        <a:ext cx="2569975" cy="372930"/>
      </dsp:txXfrm>
    </dsp:sp>
    <dsp:sp modelId="{B9680A04-175C-4ED4-9A2D-9C3139D27B0B}">
      <dsp:nvSpPr>
        <dsp:cNvPr id="0" name=""/>
        <dsp:cNvSpPr/>
      </dsp:nvSpPr>
      <dsp:spPr>
        <a:xfrm>
          <a:off x="0" y="1899699"/>
          <a:ext cx="3729037" cy="793800"/>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89415" tIns="291592" rIns="28941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Weather (F1 ≈ 0.96)</a:t>
          </a:r>
        </a:p>
        <a:p>
          <a:pPr marL="114300" lvl="1" indent="-114300" algn="l" defTabSz="622300">
            <a:lnSpc>
              <a:spcPct val="90000"/>
            </a:lnSpc>
            <a:spcBef>
              <a:spcPct val="0"/>
            </a:spcBef>
            <a:spcAft>
              <a:spcPct val="15000"/>
            </a:spcAft>
            <a:buChar char="•"/>
          </a:pPr>
          <a:r>
            <a:rPr lang="en-US" sz="1400" kern="1200"/>
            <a:t>CFIT (F1 ≈ 0.93)</a:t>
          </a:r>
        </a:p>
      </dsp:txBody>
      <dsp:txXfrm>
        <a:off x="0" y="1899699"/>
        <a:ext cx="3729037" cy="793800"/>
      </dsp:txXfrm>
    </dsp:sp>
    <dsp:sp modelId="{B325AD2E-EFDC-4A98-9E3E-008A02E926A1}">
      <dsp:nvSpPr>
        <dsp:cNvPr id="0" name=""/>
        <dsp:cNvSpPr/>
      </dsp:nvSpPr>
      <dsp:spPr>
        <a:xfrm>
          <a:off x="186451" y="1693059"/>
          <a:ext cx="2610325" cy="413280"/>
        </a:xfrm>
        <a:prstGeom prst="round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98664" tIns="0" rIns="98664" bIns="0" numCol="1" spcCol="1270" anchor="ctr" anchorCtr="0">
          <a:noAutofit/>
        </a:bodyPr>
        <a:lstStyle/>
        <a:p>
          <a:pPr marL="0" lvl="0" indent="0" algn="l" defTabSz="622300">
            <a:lnSpc>
              <a:spcPct val="90000"/>
            </a:lnSpc>
            <a:spcBef>
              <a:spcPct val="0"/>
            </a:spcBef>
            <a:spcAft>
              <a:spcPct val="35000"/>
            </a:spcAft>
            <a:buNone/>
          </a:pPr>
          <a:r>
            <a:rPr lang="en-US" sz="1400" kern="1200"/>
            <a:t>Strong Accuracy Performance</a:t>
          </a:r>
        </a:p>
      </dsp:txBody>
      <dsp:txXfrm>
        <a:off x="206626" y="1713234"/>
        <a:ext cx="2569975" cy="372930"/>
      </dsp:txXfrm>
    </dsp:sp>
    <dsp:sp modelId="{509A51DF-539C-4E60-8667-778545921728}">
      <dsp:nvSpPr>
        <dsp:cNvPr id="0" name=""/>
        <dsp:cNvSpPr/>
      </dsp:nvSpPr>
      <dsp:spPr>
        <a:xfrm>
          <a:off x="0" y="2975740"/>
          <a:ext cx="3729037" cy="992250"/>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89415" tIns="291592" rIns="28941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Fire (F1 ≈ 0.91)</a:t>
          </a:r>
        </a:p>
        <a:p>
          <a:pPr marL="114300" lvl="1" indent="-114300" algn="l" defTabSz="622300">
            <a:lnSpc>
              <a:spcPct val="90000"/>
            </a:lnSpc>
            <a:spcBef>
              <a:spcPct val="0"/>
            </a:spcBef>
            <a:spcAft>
              <a:spcPct val="15000"/>
            </a:spcAft>
            <a:buChar char="•"/>
          </a:pPr>
          <a:r>
            <a:rPr lang="en-US" sz="1400" kern="1200"/>
            <a:t>Ambiguous categories (e.g., sabotage)</a:t>
          </a:r>
        </a:p>
      </dsp:txBody>
      <dsp:txXfrm>
        <a:off x="0" y="2975740"/>
        <a:ext cx="3729037" cy="992250"/>
      </dsp:txXfrm>
    </dsp:sp>
    <dsp:sp modelId="{928C0EB0-3E01-40C9-AF42-2CF6774F3623}">
      <dsp:nvSpPr>
        <dsp:cNvPr id="0" name=""/>
        <dsp:cNvSpPr/>
      </dsp:nvSpPr>
      <dsp:spPr>
        <a:xfrm>
          <a:off x="186451" y="2769099"/>
          <a:ext cx="2610325" cy="413280"/>
        </a:xfrm>
        <a:prstGeom prst="round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98664" tIns="0" rIns="98664" bIns="0" numCol="1" spcCol="1270" anchor="ctr" anchorCtr="0">
          <a:noAutofit/>
        </a:bodyPr>
        <a:lstStyle/>
        <a:p>
          <a:pPr marL="0" lvl="0" indent="0" algn="l" defTabSz="622300">
            <a:lnSpc>
              <a:spcPct val="90000"/>
            </a:lnSpc>
            <a:spcBef>
              <a:spcPct val="0"/>
            </a:spcBef>
            <a:spcAft>
              <a:spcPct val="35000"/>
            </a:spcAft>
            <a:buNone/>
          </a:pPr>
          <a:r>
            <a:rPr lang="en-US" sz="1400" kern="1200"/>
            <a:t>Lower Accuracy Performance</a:t>
          </a:r>
        </a:p>
      </dsp:txBody>
      <dsp:txXfrm>
        <a:off x="206626" y="2789274"/>
        <a:ext cx="2569975" cy="372930"/>
      </dsp:txXfrm>
    </dsp:sp>
    <dsp:sp modelId="{4F11B940-67E9-45EA-9CC6-8904CC62C2B7}">
      <dsp:nvSpPr>
        <dsp:cNvPr id="0" name=""/>
        <dsp:cNvSpPr/>
      </dsp:nvSpPr>
      <dsp:spPr>
        <a:xfrm>
          <a:off x="0" y="4250230"/>
          <a:ext cx="3729037" cy="992250"/>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89415" tIns="291592" rIns="28941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Manually Labeled 358 Subset</a:t>
          </a:r>
        </a:p>
        <a:p>
          <a:pPr marL="114300" lvl="1" indent="-114300" algn="l" defTabSz="622300">
            <a:lnSpc>
              <a:spcPct val="90000"/>
            </a:lnSpc>
            <a:spcBef>
              <a:spcPct val="0"/>
            </a:spcBef>
            <a:spcAft>
              <a:spcPct val="15000"/>
            </a:spcAft>
            <a:buChar char="•"/>
          </a:pPr>
          <a:r>
            <a:rPr lang="en-US" sz="1400" kern="1200"/>
            <a:t>Cochran's Sample Size Formula for Finite Populations (95% CI)</a:t>
          </a:r>
        </a:p>
      </dsp:txBody>
      <dsp:txXfrm>
        <a:off x="0" y="4250230"/>
        <a:ext cx="3729037" cy="992250"/>
      </dsp:txXfrm>
    </dsp:sp>
    <dsp:sp modelId="{47FD6945-83AF-4DC6-9A3F-D1AB1440B3EF}">
      <dsp:nvSpPr>
        <dsp:cNvPr id="0" name=""/>
        <dsp:cNvSpPr/>
      </dsp:nvSpPr>
      <dsp:spPr>
        <a:xfrm>
          <a:off x="186451" y="4043590"/>
          <a:ext cx="2610325" cy="413280"/>
        </a:xfrm>
        <a:prstGeom prst="round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98664" tIns="0" rIns="98664" bIns="0" numCol="1" spcCol="1270" anchor="ctr" anchorCtr="0">
          <a:noAutofit/>
        </a:bodyPr>
        <a:lstStyle/>
        <a:p>
          <a:pPr marL="0" lvl="0" indent="0" algn="l" defTabSz="622300">
            <a:lnSpc>
              <a:spcPct val="90000"/>
            </a:lnSpc>
            <a:spcBef>
              <a:spcPct val="0"/>
            </a:spcBef>
            <a:spcAft>
              <a:spcPct val="35000"/>
            </a:spcAft>
            <a:buNone/>
          </a:pPr>
          <a:r>
            <a:rPr lang="en-US" sz="1400" kern="1200"/>
            <a:t>Validated</a:t>
          </a:r>
        </a:p>
      </dsp:txBody>
      <dsp:txXfrm>
        <a:off x="206626" y="4063765"/>
        <a:ext cx="2569975" cy="372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9BA898-C3E5-4359-9CEE-11F0002C713A}">
      <dsp:nvSpPr>
        <dsp:cNvPr id="0" name=""/>
        <dsp:cNvSpPr/>
      </dsp:nvSpPr>
      <dsp:spPr>
        <a:xfrm>
          <a:off x="0" y="533724"/>
          <a:ext cx="3729037" cy="1417500"/>
        </a:xfrm>
        <a:prstGeom prst="rect">
          <a:avLst/>
        </a:prstGeom>
        <a:solidFill>
          <a:schemeClr val="accent3">
            <a:lumMod val="20000"/>
            <a:lumOff val="80000"/>
            <a:alpha val="90000"/>
          </a:schemeClr>
        </a:solidFill>
        <a:ln w="25400" cap="flat" cmpd="sng" algn="ctr">
          <a:solidFill>
            <a:schemeClr val="accent3"/>
          </a:solidFill>
          <a:prstDash val="solid"/>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89415" tIns="416560" rIns="289415"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ea typeface="+mn-lt"/>
              <a:cs typeface="+mn-lt"/>
            </a:rPr>
            <a:t>FCI</a:t>
          </a:r>
          <a:endParaRPr lang="en-US" sz="2000" kern="1200"/>
        </a:p>
        <a:p>
          <a:pPr marL="228600" lvl="1" indent="-228600" algn="l" defTabSz="889000">
            <a:lnSpc>
              <a:spcPct val="90000"/>
            </a:lnSpc>
            <a:spcBef>
              <a:spcPct val="0"/>
            </a:spcBef>
            <a:spcAft>
              <a:spcPct val="15000"/>
            </a:spcAft>
            <a:buChar char="•"/>
          </a:pPr>
          <a:r>
            <a:rPr lang="en-US" sz="2000" kern="1200">
              <a:ea typeface="+mn-lt"/>
              <a:cs typeface="+mn-lt"/>
            </a:rPr>
            <a:t>Accounts for hidden variables </a:t>
          </a:r>
          <a:endParaRPr lang="en-US" sz="2000" kern="1200"/>
        </a:p>
      </dsp:txBody>
      <dsp:txXfrm>
        <a:off x="0" y="533724"/>
        <a:ext cx="3729037" cy="1417500"/>
      </dsp:txXfrm>
    </dsp:sp>
    <dsp:sp modelId="{F23B02EC-F72C-41A1-9F28-A805A892079F}">
      <dsp:nvSpPr>
        <dsp:cNvPr id="0" name=""/>
        <dsp:cNvSpPr/>
      </dsp:nvSpPr>
      <dsp:spPr>
        <a:xfrm>
          <a:off x="186451" y="238524"/>
          <a:ext cx="2610325" cy="590400"/>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98664" tIns="0" rIns="98664" bIns="0" numCol="1" spcCol="1270" anchor="ctr" anchorCtr="0">
          <a:noAutofit/>
        </a:bodyPr>
        <a:lstStyle/>
        <a:p>
          <a:pPr marL="0" lvl="0" indent="0" algn="l" defTabSz="889000">
            <a:lnSpc>
              <a:spcPct val="90000"/>
            </a:lnSpc>
            <a:spcBef>
              <a:spcPct val="0"/>
            </a:spcBef>
            <a:spcAft>
              <a:spcPct val="35000"/>
            </a:spcAft>
            <a:buNone/>
          </a:pPr>
          <a:r>
            <a:rPr lang="en-US" sz="2000" b="1" kern="1200">
              <a:solidFill>
                <a:schemeClr val="bg1"/>
              </a:solidFill>
            </a:rPr>
            <a:t>Learn Structure</a:t>
          </a:r>
        </a:p>
      </dsp:txBody>
      <dsp:txXfrm>
        <a:off x="215272" y="267345"/>
        <a:ext cx="2552683" cy="532758"/>
      </dsp:txXfrm>
    </dsp:sp>
    <dsp:sp modelId="{B9680A04-175C-4ED4-9A2D-9C3139D27B0B}">
      <dsp:nvSpPr>
        <dsp:cNvPr id="0" name=""/>
        <dsp:cNvSpPr/>
      </dsp:nvSpPr>
      <dsp:spPr>
        <a:xfrm>
          <a:off x="0" y="2354425"/>
          <a:ext cx="3729037" cy="1134000"/>
        </a:xfrm>
        <a:prstGeom prst="rect">
          <a:avLst/>
        </a:prstGeom>
        <a:solidFill>
          <a:schemeClr val="accent3">
            <a:lumMod val="20000"/>
            <a:lumOff val="80000"/>
            <a:alpha val="90000"/>
          </a:schemeClr>
        </a:solidFill>
        <a:ln w="25400" cap="flat" cmpd="sng" algn="ctr">
          <a:solidFill>
            <a:schemeClr val="accent3"/>
          </a:solidFill>
          <a:prstDash val="solid"/>
        </a:ln>
        <a:effectLst/>
      </dsp:spPr>
      <dsp:style>
        <a:lnRef idx="2">
          <a:scrgbClr r="0" g="0" b="0"/>
        </a:lnRef>
        <a:fillRef idx="1">
          <a:scrgbClr r="0" g="0" b="0"/>
        </a:fillRef>
        <a:effectRef idx="0">
          <a:scrgbClr r="0" g="0" b="0"/>
        </a:effectRef>
        <a:fontRef idx="minor"/>
      </dsp:style>
      <dsp:txBody>
        <a:bodyPr spcFirstLastPara="0" vert="horz" wrap="square" lIns="289415" tIns="416560" rIns="289415"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ea typeface="+mn-lt"/>
              <a:cs typeface="+mn-lt"/>
            </a:rPr>
            <a:t>Correct arrow direction</a:t>
          </a:r>
        </a:p>
        <a:p>
          <a:pPr marL="228600" lvl="1" indent="-228600" algn="l" defTabSz="889000">
            <a:lnSpc>
              <a:spcPct val="90000"/>
            </a:lnSpc>
            <a:spcBef>
              <a:spcPct val="0"/>
            </a:spcBef>
            <a:spcAft>
              <a:spcPct val="15000"/>
            </a:spcAft>
            <a:buChar char="•"/>
          </a:pPr>
          <a:r>
            <a:rPr lang="en-US" sz="2000" kern="1200">
              <a:ea typeface="+mn-lt"/>
              <a:cs typeface="+mn-lt"/>
            </a:rPr>
            <a:t>Realistic model</a:t>
          </a:r>
        </a:p>
      </dsp:txBody>
      <dsp:txXfrm>
        <a:off x="0" y="2354425"/>
        <a:ext cx="3729037" cy="1134000"/>
      </dsp:txXfrm>
    </dsp:sp>
    <dsp:sp modelId="{B325AD2E-EFDC-4A98-9E3E-008A02E926A1}">
      <dsp:nvSpPr>
        <dsp:cNvPr id="0" name=""/>
        <dsp:cNvSpPr/>
      </dsp:nvSpPr>
      <dsp:spPr>
        <a:xfrm>
          <a:off x="186451" y="2059225"/>
          <a:ext cx="2743191" cy="590400"/>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98664" tIns="0" rIns="98664" bIns="0" numCol="1" spcCol="1270" anchor="ctr" anchorCtr="0">
          <a:noAutofit/>
        </a:bodyPr>
        <a:lstStyle/>
        <a:p>
          <a:pPr marL="0" lvl="0" indent="0" algn="l" defTabSz="889000">
            <a:lnSpc>
              <a:spcPct val="90000"/>
            </a:lnSpc>
            <a:spcBef>
              <a:spcPct val="0"/>
            </a:spcBef>
            <a:spcAft>
              <a:spcPct val="35000"/>
            </a:spcAft>
            <a:buNone/>
          </a:pPr>
          <a:r>
            <a:rPr lang="en-US" sz="2000" b="1" kern="1200">
              <a:solidFill>
                <a:schemeClr val="bg1"/>
              </a:solidFill>
              <a:ea typeface="+mn-lt"/>
              <a:cs typeface="+mn-lt"/>
            </a:rPr>
            <a:t>Apply Assumptions</a:t>
          </a:r>
          <a:endParaRPr lang="en-US" sz="2000" b="1" kern="1200">
            <a:solidFill>
              <a:schemeClr val="bg1"/>
            </a:solidFill>
          </a:endParaRPr>
        </a:p>
      </dsp:txBody>
      <dsp:txXfrm>
        <a:off x="215272" y="2088046"/>
        <a:ext cx="2685549" cy="532758"/>
      </dsp:txXfrm>
    </dsp:sp>
    <dsp:sp modelId="{4B17FC43-B28B-430D-BBEC-476512291998}">
      <dsp:nvSpPr>
        <dsp:cNvPr id="0" name=""/>
        <dsp:cNvSpPr/>
      </dsp:nvSpPr>
      <dsp:spPr>
        <a:xfrm>
          <a:off x="0" y="3891625"/>
          <a:ext cx="3729037" cy="1134000"/>
        </a:xfrm>
        <a:prstGeom prst="rect">
          <a:avLst/>
        </a:prstGeom>
        <a:solidFill>
          <a:schemeClr val="accent3">
            <a:lumMod val="20000"/>
            <a:lumOff val="80000"/>
            <a:alpha val="90000"/>
          </a:schemeClr>
        </a:solidFill>
        <a:ln w="25400" cap="flat" cmpd="sng" algn="ctr">
          <a:solidFill>
            <a:schemeClr val="accent3"/>
          </a:solidFill>
          <a:prstDash val="solid"/>
        </a:ln>
        <a:effectLst/>
      </dsp:spPr>
      <dsp:style>
        <a:lnRef idx="2">
          <a:scrgbClr r="0" g="0" b="0"/>
        </a:lnRef>
        <a:fillRef idx="1">
          <a:scrgbClr r="0" g="0" b="0"/>
        </a:fillRef>
        <a:effectRef idx="0">
          <a:scrgbClr r="0" g="0" b="0"/>
        </a:effectRef>
        <a:fontRef idx="minor"/>
      </dsp:style>
      <dsp:txBody>
        <a:bodyPr spcFirstLastPara="0" vert="horz" wrap="square" lIns="289415" tIns="416560" rIns="289415" bIns="142240" numCol="1" spcCol="1270" anchor="t"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ea typeface="+mn-lt"/>
              <a:cs typeface="+mn-lt"/>
            </a:rPr>
            <a:t>Nodes = factors</a:t>
          </a:r>
          <a:endParaRPr lang="en-US" sz="2000" kern="1200"/>
        </a:p>
        <a:p>
          <a:pPr marL="228600" lvl="1" indent="-228600" algn="l" defTabSz="889000">
            <a:lnSpc>
              <a:spcPct val="90000"/>
            </a:lnSpc>
            <a:spcBef>
              <a:spcPct val="0"/>
            </a:spcBef>
            <a:spcAft>
              <a:spcPct val="15000"/>
            </a:spcAft>
            <a:buFont typeface="Arial" panose="020B0604020202020204" pitchFamily="34" charset="0"/>
            <a:buChar char="•"/>
          </a:pPr>
          <a:r>
            <a:rPr lang="en-US" sz="2000" kern="1200">
              <a:ea typeface="+mn-lt"/>
              <a:cs typeface="+mn-lt"/>
            </a:rPr>
            <a:t>Arrows = causal influence</a:t>
          </a:r>
          <a:endParaRPr lang="en-US" sz="2000" kern="1200"/>
        </a:p>
      </dsp:txBody>
      <dsp:txXfrm>
        <a:off x="0" y="3891625"/>
        <a:ext cx="3729037" cy="1134000"/>
      </dsp:txXfrm>
    </dsp:sp>
    <dsp:sp modelId="{8410F349-7695-4B19-B90E-CFF078A843F0}">
      <dsp:nvSpPr>
        <dsp:cNvPr id="0" name=""/>
        <dsp:cNvSpPr/>
      </dsp:nvSpPr>
      <dsp:spPr>
        <a:xfrm>
          <a:off x="186451" y="3596425"/>
          <a:ext cx="2610325" cy="590400"/>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98664" tIns="0" rIns="98664" bIns="0" numCol="1" spcCol="1270" anchor="ctr" anchorCtr="0">
          <a:noAutofit/>
        </a:bodyPr>
        <a:lstStyle/>
        <a:p>
          <a:pPr marL="0" lvl="0" indent="0" algn="l" defTabSz="889000">
            <a:lnSpc>
              <a:spcPct val="90000"/>
            </a:lnSpc>
            <a:spcBef>
              <a:spcPct val="0"/>
            </a:spcBef>
            <a:spcAft>
              <a:spcPct val="35000"/>
            </a:spcAft>
            <a:buNone/>
          </a:pPr>
          <a:r>
            <a:rPr lang="en-US" sz="2000" b="1" kern="1200">
              <a:solidFill>
                <a:schemeClr val="bg1"/>
              </a:solidFill>
              <a:ea typeface="+mn-lt"/>
              <a:cs typeface="+mn-lt"/>
            </a:rPr>
            <a:t>Interpret Graph</a:t>
          </a:r>
          <a:endParaRPr lang="en-US" sz="2000" kern="1200">
            <a:solidFill>
              <a:schemeClr val="bg1"/>
            </a:solidFill>
          </a:endParaRPr>
        </a:p>
      </dsp:txBody>
      <dsp:txXfrm>
        <a:off x="215272" y="3625246"/>
        <a:ext cx="2552683" cy="5327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2E8F3-F891-45F9-A7BB-D1D31F771F85}">
      <dsp:nvSpPr>
        <dsp:cNvPr id="0" name=""/>
        <dsp:cNvSpPr/>
      </dsp:nvSpPr>
      <dsp:spPr>
        <a:xfrm>
          <a:off x="-5149321" y="-788780"/>
          <a:ext cx="6132099" cy="6132099"/>
        </a:xfrm>
        <a:prstGeom prst="blockArc">
          <a:avLst>
            <a:gd name="adj1" fmla="val 18900000"/>
            <a:gd name="adj2" fmla="val 2700000"/>
            <a:gd name="adj3" fmla="val 352"/>
          </a:avLst>
        </a:pr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98463FA-1736-48D7-B92B-9B78F1CEA6E4}">
      <dsp:nvSpPr>
        <dsp:cNvPr id="0" name=""/>
        <dsp:cNvSpPr/>
      </dsp:nvSpPr>
      <dsp:spPr>
        <a:xfrm>
          <a:off x="429866" y="284567"/>
          <a:ext cx="9797373" cy="569499"/>
        </a:xfrm>
        <a:prstGeom prst="rect">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[1] J. Xu, L. Chen, H. Xing, and W. Tian, “Causation Correlation Analysis of Aviation Accidents: A Knowledge Graph-Based Approach,” Applied Sciences 2024, Vol. 14, Page 6887, vol. 14, no. 16, p. 6887, Aug. 2024, </a:t>
          </a:r>
          <a:r>
            <a:rPr lang="en-US" sz="1300" kern="1200" err="1">
              <a:ea typeface="+mn-lt"/>
              <a:cs typeface="+mn-lt"/>
            </a:rPr>
            <a:t>doi</a:t>
          </a:r>
          <a:r>
            <a:rPr lang="en-US" sz="1300" kern="1200">
              <a:ea typeface="+mn-lt"/>
              <a:cs typeface="+mn-lt"/>
            </a:rPr>
            <a:t>: 10.3390/APP14166887.</a:t>
          </a:r>
          <a:endParaRPr lang="en-US" sz="1300" kern="1200"/>
        </a:p>
      </dsp:txBody>
      <dsp:txXfrm>
        <a:off x="429866" y="284567"/>
        <a:ext cx="9797373" cy="569499"/>
      </dsp:txXfrm>
    </dsp:sp>
    <dsp:sp modelId="{87F86E48-C003-4330-8040-FDE751D3FC06}">
      <dsp:nvSpPr>
        <dsp:cNvPr id="0" name=""/>
        <dsp:cNvSpPr/>
      </dsp:nvSpPr>
      <dsp:spPr>
        <a:xfrm>
          <a:off x="73929" y="213380"/>
          <a:ext cx="711874" cy="711874"/>
        </a:xfrm>
        <a:prstGeom prst="flowChartOnlineStorag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6C34AF81-5AC7-4DFE-8416-3AF11B76BCD9}">
      <dsp:nvSpPr>
        <dsp:cNvPr id="0" name=""/>
        <dsp:cNvSpPr/>
      </dsp:nvSpPr>
      <dsp:spPr>
        <a:xfrm>
          <a:off x="837953" y="1138543"/>
          <a:ext cx="9389287" cy="569499"/>
        </a:xfrm>
        <a:prstGeom prst="rect">
          <a:avLst/>
        </a:prstGeom>
        <a:solidFill>
          <a:schemeClr val="accent2"/>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[2] G. Li and S. P. Baker, “Crash risk in general aviation,” JAMA, vol. 297, no. 14, pp. 1596–1598, Apr. 2007, </a:t>
          </a:r>
          <a:r>
            <a:rPr lang="en-US" sz="1300" kern="1200" err="1">
              <a:ea typeface="+mn-lt"/>
              <a:cs typeface="+mn-lt"/>
            </a:rPr>
            <a:t>doi</a:t>
          </a:r>
          <a:r>
            <a:rPr lang="en-US" sz="1300" kern="1200">
              <a:ea typeface="+mn-lt"/>
              <a:cs typeface="+mn-lt"/>
            </a:rPr>
            <a:t>: 10.1001/JAMA.297.14.1596.</a:t>
          </a:r>
          <a:endParaRPr lang="en-US" sz="1300" kern="1200"/>
        </a:p>
      </dsp:txBody>
      <dsp:txXfrm>
        <a:off x="837953" y="1138543"/>
        <a:ext cx="9389287" cy="569499"/>
      </dsp:txXfrm>
    </dsp:sp>
    <dsp:sp modelId="{0ADF8C14-A277-4EB2-9121-C00756D16849}">
      <dsp:nvSpPr>
        <dsp:cNvPr id="0" name=""/>
        <dsp:cNvSpPr/>
      </dsp:nvSpPr>
      <dsp:spPr>
        <a:xfrm>
          <a:off x="482016" y="1067355"/>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BD6BBB50-3A57-4DAC-AE94-C6DC1FBD0C30}">
      <dsp:nvSpPr>
        <dsp:cNvPr id="0" name=""/>
        <dsp:cNvSpPr/>
      </dsp:nvSpPr>
      <dsp:spPr>
        <a:xfrm>
          <a:off x="963203" y="1992519"/>
          <a:ext cx="9264037" cy="569499"/>
        </a:xfrm>
        <a:prstGeom prst="rect">
          <a:avLst/>
        </a:prstGeom>
        <a:solidFill>
          <a:schemeClr val="accent3"/>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[3] G. D. Israel, “Determining Sample Size 1”, Accessed: Apr. 05, 2026. [Online]. Available: </a:t>
          </a:r>
          <a:r>
            <a:rPr lang="en-US" sz="1300" kern="1200">
              <a:ea typeface="+mn-lt"/>
              <a:cs typeface="+mn-lt"/>
              <a:hlinkClick xmlns:r="http://schemas.openxmlformats.org/officeDocument/2006/relationships" r:id="rId1"/>
            </a:rPr>
            <a:t>http://edis.ifas.ufl.edu</a:t>
          </a:r>
          <a:r>
            <a:rPr lang="en-US" sz="1300" kern="1200">
              <a:ea typeface="+mn-lt"/>
              <a:cs typeface="+mn-lt"/>
            </a:rPr>
            <a:t>.</a:t>
          </a:r>
          <a:endParaRPr lang="en-US" sz="1300" kern="1200"/>
        </a:p>
      </dsp:txBody>
      <dsp:txXfrm>
        <a:off x="963203" y="1992519"/>
        <a:ext cx="9264037" cy="569499"/>
      </dsp:txXfrm>
    </dsp:sp>
    <dsp:sp modelId="{C145EC2B-6563-4F34-BED2-0E3A4E3E0CCA}">
      <dsp:nvSpPr>
        <dsp:cNvPr id="0" name=""/>
        <dsp:cNvSpPr/>
      </dsp:nvSpPr>
      <dsp:spPr>
        <a:xfrm>
          <a:off x="607266" y="1921331"/>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9FCD45FC-D5F5-402A-8592-8FA8CBDD4E65}">
      <dsp:nvSpPr>
        <dsp:cNvPr id="0" name=""/>
        <dsp:cNvSpPr/>
      </dsp:nvSpPr>
      <dsp:spPr>
        <a:xfrm>
          <a:off x="837953" y="2846495"/>
          <a:ext cx="9389287" cy="569499"/>
        </a:xfrm>
        <a:prstGeom prst="rect">
          <a:avLst/>
        </a:prstGeom>
        <a:solidFill>
          <a:schemeClr val="accent4"/>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[4] </a:t>
          </a:r>
          <a:r>
            <a:rPr lang="en-US" sz="1300" kern="1200"/>
            <a:t>A. Sharma, E. Kiciman. "DoWhy: An End-to-End Library for Causal Inference," in </a:t>
          </a:r>
          <a:r>
            <a:rPr lang="en-US" sz="1300" i="1" kern="1200"/>
            <a:t>arXiv preprint arXiv:2011.04216</a:t>
          </a:r>
          <a:r>
            <a:rPr lang="en-US" sz="1300" kern="1200"/>
            <a:t>, 2020.</a:t>
          </a:r>
        </a:p>
      </dsp:txBody>
      <dsp:txXfrm>
        <a:off x="837953" y="2846495"/>
        <a:ext cx="9389287" cy="569499"/>
      </dsp:txXfrm>
    </dsp:sp>
    <dsp:sp modelId="{F9C43BF6-536F-42DA-AE49-092783E977F5}">
      <dsp:nvSpPr>
        <dsp:cNvPr id="0" name=""/>
        <dsp:cNvSpPr/>
      </dsp:nvSpPr>
      <dsp:spPr>
        <a:xfrm>
          <a:off x="482016" y="2775307"/>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7275ECD8-3B13-409C-A394-B7A4398C735C}">
      <dsp:nvSpPr>
        <dsp:cNvPr id="0" name=""/>
        <dsp:cNvSpPr/>
      </dsp:nvSpPr>
      <dsp:spPr>
        <a:xfrm>
          <a:off x="429866" y="3700471"/>
          <a:ext cx="9797373" cy="569499"/>
        </a:xfrm>
        <a:prstGeom prst="rect">
          <a:avLst/>
        </a:prstGeom>
        <a:solidFill>
          <a:schemeClr val="accent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[5] P. Spirtes, C. Glymour, and R. Scheines, “Causation, Prediction, and Search”. </a:t>
          </a:r>
          <a:endParaRPr lang="en-US" sz="1300" kern="1200"/>
        </a:p>
      </dsp:txBody>
      <dsp:txXfrm>
        <a:off x="429866" y="3700471"/>
        <a:ext cx="9797373" cy="569499"/>
      </dsp:txXfrm>
    </dsp:sp>
    <dsp:sp modelId="{A14C7759-2187-49E0-AA02-F0E832F7F97A}">
      <dsp:nvSpPr>
        <dsp:cNvPr id="0" name=""/>
        <dsp:cNvSpPr/>
      </dsp:nvSpPr>
      <dsp:spPr>
        <a:xfrm>
          <a:off x="73929" y="3629283"/>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BAA5C-9D57-4315-867D-0E9B39F20D6B}" type="datetimeFigureOut">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444CFF-9075-4EC1-B90D-68D4790E58E7}" type="slidenum">
              <a:t>‹#›</a:t>
            </a:fld>
            <a:endParaRPr lang="en-US"/>
          </a:p>
        </p:txBody>
      </p:sp>
    </p:spTree>
    <p:extLst>
      <p:ext uri="{BB962C8B-B14F-4D97-AF65-F5344CB8AC3E}">
        <p14:creationId xmlns:p14="http://schemas.microsoft.com/office/powerpoint/2010/main" val="3852319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Clancy</a:t>
            </a:r>
          </a:p>
        </p:txBody>
      </p:sp>
      <p:sp>
        <p:nvSpPr>
          <p:cNvPr id="4" name="Slide Number Placeholder 3"/>
          <p:cNvSpPr>
            <a:spLocks noGrp="1"/>
          </p:cNvSpPr>
          <p:nvPr>
            <p:ph type="sldNum" sz="quarter" idx="5"/>
          </p:nvPr>
        </p:nvSpPr>
        <p:spPr/>
        <p:txBody>
          <a:bodyPr/>
          <a:lstStyle/>
          <a:p>
            <a:fld id="{8A444CFF-9075-4EC1-B90D-68D4790E58E7}" type="slidenum">
              <a:rPr lang="en-US" smtClean="0"/>
              <a:t>1</a:t>
            </a:fld>
            <a:endParaRPr lang="en-US"/>
          </a:p>
        </p:txBody>
      </p:sp>
    </p:spTree>
    <p:extLst>
      <p:ext uri="{BB962C8B-B14F-4D97-AF65-F5344CB8AC3E}">
        <p14:creationId xmlns:p14="http://schemas.microsoft.com/office/powerpoint/2010/main" val="2579958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Everyone</a:t>
            </a:r>
          </a:p>
        </p:txBody>
      </p:sp>
      <p:sp>
        <p:nvSpPr>
          <p:cNvPr id="4" name="Slide Number Placeholder 3"/>
          <p:cNvSpPr>
            <a:spLocks noGrp="1"/>
          </p:cNvSpPr>
          <p:nvPr>
            <p:ph type="sldNum" sz="quarter" idx="10"/>
          </p:nvPr>
        </p:nvSpPr>
        <p:spPr/>
        <p:txBody>
          <a:bodyPr/>
          <a:lstStyle/>
          <a:p>
            <a:fld id="{B68D2766-C49B-4C1A-9FEE-6F146754B02B}" type="slidenum">
              <a:rPr lang="en-US" smtClean="0"/>
              <a:t>2</a:t>
            </a:fld>
            <a:endParaRPr lang="en-US"/>
          </a:p>
        </p:txBody>
      </p:sp>
    </p:spTree>
    <p:extLst>
      <p:ext uri="{BB962C8B-B14F-4D97-AF65-F5344CB8AC3E}">
        <p14:creationId xmlns:p14="http://schemas.microsoft.com/office/powerpoint/2010/main" val="1407001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6C7F4-E715-F3F5-D18C-AB50A9D07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5D497-31C2-ADBE-C773-77E703B52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5F204-F5DD-1950-F63A-073AA4AAF66C}"/>
              </a:ext>
            </a:extLst>
          </p:cNvPr>
          <p:cNvSpPr>
            <a:spLocks noGrp="1"/>
          </p:cNvSpPr>
          <p:nvPr>
            <p:ph type="body" idx="1"/>
          </p:nvPr>
        </p:nvSpPr>
        <p:spPr/>
        <p:txBody>
          <a:bodyPr/>
          <a:lstStyle/>
          <a:p>
            <a:r>
              <a:rPr lang="en-US"/>
              <a:t>Jordan</a:t>
            </a:r>
          </a:p>
          <a:p>
            <a:endParaRPr lang="en-US"/>
          </a:p>
          <a:p>
            <a:r>
              <a:rPr lang="en-US"/>
              <a:t>Statistics is important to the aviation industry because we can understand many factors and causes that affect the industry, like in this case, multiple deaths due to accidents and incidents. In a twenty-year span starting in 1987, aviation had a 19% crash fatality, with it still being at 16% in 2024. These can be a variety of causes, like structural and safety failures, and human error.</a:t>
            </a:r>
          </a:p>
        </p:txBody>
      </p:sp>
      <p:sp>
        <p:nvSpPr>
          <p:cNvPr id="4" name="Slide Number Placeholder 3">
            <a:extLst>
              <a:ext uri="{FF2B5EF4-FFF2-40B4-BE49-F238E27FC236}">
                <a16:creationId xmlns:a16="http://schemas.microsoft.com/office/drawing/2014/main" id="{91C7F38D-164B-E4BD-DEA7-07480D5CB5A4}"/>
              </a:ext>
            </a:extLst>
          </p:cNvPr>
          <p:cNvSpPr>
            <a:spLocks noGrp="1"/>
          </p:cNvSpPr>
          <p:nvPr>
            <p:ph type="sldNum" sz="quarter" idx="5"/>
          </p:nvPr>
        </p:nvSpPr>
        <p:spPr/>
        <p:txBody>
          <a:bodyPr/>
          <a:lstStyle/>
          <a:p>
            <a:fld id="{B68D2766-C49B-4C1A-9FEE-6F146754B02B}" type="slidenum">
              <a:rPr lang="en-US" smtClean="0"/>
              <a:t>3</a:t>
            </a:fld>
            <a:endParaRPr lang="en-US"/>
          </a:p>
        </p:txBody>
      </p:sp>
    </p:spTree>
    <p:extLst>
      <p:ext uri="{BB962C8B-B14F-4D97-AF65-F5344CB8AC3E}">
        <p14:creationId xmlns:p14="http://schemas.microsoft.com/office/powerpoint/2010/main" val="3926518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We’re analyzing over 5,000 aviation accidents using both structured data and written crash summaries.</a:t>
            </a:r>
          </a:p>
          <a:p>
            <a:r>
              <a:rPr lang="en-US"/>
              <a:t>But instead of just looking at correlations, our goal is to understand </a:t>
            </a:r>
            <a:r>
              <a:rPr lang="en-US" i="1"/>
              <a:t>causation</a:t>
            </a:r>
            <a:r>
              <a:rPr lang="en-US"/>
              <a:t>—what actually drives a crash to become highly lethal.</a:t>
            </a:r>
            <a:endParaRPr lang="en-US">
              <a:ea typeface="Calibri"/>
              <a:cs typeface="Calibri"/>
            </a:endParaRPr>
          </a:p>
          <a:p>
            <a:r>
              <a:rPr lang="en-US"/>
              <a:t>This is important because many factors interact, and simple statistics can’t capture those relationships.</a:t>
            </a:r>
          </a:p>
          <a:p>
            <a:endParaRPr lang="en-US">
              <a:ea typeface="Calibri"/>
              <a:cs typeface="Calibri"/>
            </a:endParaRPr>
          </a:p>
          <a:p>
            <a:r>
              <a:rPr lang="en-US">
                <a:ea typeface="Calibri"/>
                <a:cs typeface="Calibri"/>
              </a:rPr>
              <a:t>Clancy</a:t>
            </a:r>
          </a:p>
        </p:txBody>
      </p:sp>
      <p:sp>
        <p:nvSpPr>
          <p:cNvPr id="4" name="Slide Number Placeholder 3"/>
          <p:cNvSpPr>
            <a:spLocks noGrp="1"/>
          </p:cNvSpPr>
          <p:nvPr>
            <p:ph type="sldNum" sz="quarter" idx="5"/>
          </p:nvPr>
        </p:nvSpPr>
        <p:spPr/>
        <p:txBody>
          <a:bodyPr/>
          <a:lstStyle/>
          <a:p>
            <a:fld id="{B68D2766-C49B-4C1A-9FEE-6F146754B02B}" type="slidenum">
              <a:rPr lang="en-US" smtClean="0"/>
              <a:t>4</a:t>
            </a:fld>
            <a:endParaRPr lang="en-US"/>
          </a:p>
        </p:txBody>
      </p:sp>
    </p:spTree>
    <p:extLst>
      <p:ext uri="{BB962C8B-B14F-4D97-AF65-F5344CB8AC3E}">
        <p14:creationId xmlns:p14="http://schemas.microsoft.com/office/powerpoint/2010/main" val="2261060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26EC9-60B4-0729-37FB-151F640B2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E1D2A-2EAB-48AE-0D3B-52A6A3F3A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002BE-95F2-D460-CA83-59B3C71BE9B0}"/>
              </a:ext>
            </a:extLst>
          </p:cNvPr>
          <p:cNvSpPr>
            <a:spLocks noGrp="1"/>
          </p:cNvSpPr>
          <p:nvPr>
            <p:ph type="body" idx="1"/>
          </p:nvPr>
        </p:nvSpPr>
        <p:spPr/>
        <p:txBody>
          <a:bodyPr/>
          <a:lstStyle/>
          <a:p>
            <a:r>
              <a:rPr lang="en-US"/>
              <a:t>Tayan</a:t>
            </a:r>
          </a:p>
          <a:p>
            <a:endParaRPr lang="en-US"/>
          </a:p>
          <a:p>
            <a:r>
              <a:rPr lang="en-US"/>
              <a:t>The dataset includes text descriptions, so we converted those into structured variables using keyword classification—for example, identifying whether weather or mechanical failure was involved.</a:t>
            </a:r>
          </a:p>
          <a:p>
            <a:r>
              <a:rPr lang="en-US"/>
              <a:t>Each factor becomes a simple yes-or-no variable.</a:t>
            </a:r>
          </a:p>
          <a:p>
            <a:r>
              <a:rPr lang="en-US"/>
              <a:t>We also define our outcome: a crash is considered ‘high lethality’ if more than half of the passengers onboard died.</a:t>
            </a:r>
          </a:p>
          <a:p>
            <a:r>
              <a:rPr lang="en-US"/>
              <a:t>This allows us to turn a complex real-world problem into something we can model.</a:t>
            </a:r>
          </a:p>
        </p:txBody>
      </p:sp>
      <p:sp>
        <p:nvSpPr>
          <p:cNvPr id="4" name="Slide Number Placeholder 3">
            <a:extLst>
              <a:ext uri="{FF2B5EF4-FFF2-40B4-BE49-F238E27FC236}">
                <a16:creationId xmlns:a16="http://schemas.microsoft.com/office/drawing/2014/main" id="{4686C519-7DD0-9236-DBD7-0A79C1634C81}"/>
              </a:ext>
            </a:extLst>
          </p:cNvPr>
          <p:cNvSpPr>
            <a:spLocks noGrp="1"/>
          </p:cNvSpPr>
          <p:nvPr>
            <p:ph type="sldNum" sz="quarter" idx="5"/>
          </p:nvPr>
        </p:nvSpPr>
        <p:spPr/>
        <p:txBody>
          <a:bodyPr/>
          <a:lstStyle/>
          <a:p>
            <a:fld id="{8A444CFF-9075-4EC1-B90D-68D4790E58E7}" type="slidenum">
              <a:t>5</a:t>
            </a:fld>
            <a:endParaRPr lang="en-US"/>
          </a:p>
        </p:txBody>
      </p:sp>
    </p:spTree>
    <p:extLst>
      <p:ext uri="{BB962C8B-B14F-4D97-AF65-F5344CB8AC3E}">
        <p14:creationId xmlns:p14="http://schemas.microsoft.com/office/powerpoint/2010/main" val="1830303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Tayan</a:t>
            </a:r>
          </a:p>
        </p:txBody>
      </p:sp>
      <p:sp>
        <p:nvSpPr>
          <p:cNvPr id="4" name="Slide Number Placeholder 3"/>
          <p:cNvSpPr>
            <a:spLocks noGrp="1"/>
          </p:cNvSpPr>
          <p:nvPr>
            <p:ph type="sldNum" sz="quarter" idx="5"/>
          </p:nvPr>
        </p:nvSpPr>
        <p:spPr/>
        <p:txBody>
          <a:bodyPr/>
          <a:lstStyle/>
          <a:p>
            <a:fld id="{8A444CFF-9075-4EC1-B90D-68D4790E58E7}" type="slidenum">
              <a:rPr lang="en-US" smtClean="0"/>
              <a:t>6</a:t>
            </a:fld>
            <a:endParaRPr lang="en-US"/>
          </a:p>
        </p:txBody>
      </p:sp>
    </p:spTree>
    <p:extLst>
      <p:ext uri="{BB962C8B-B14F-4D97-AF65-F5344CB8AC3E}">
        <p14:creationId xmlns:p14="http://schemas.microsoft.com/office/powerpoint/2010/main" val="2156492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Timothy</a:t>
            </a:r>
          </a:p>
          <a:p>
            <a:endParaRPr lang="en-US"/>
          </a:p>
          <a:p>
            <a:r>
              <a:rPr lang="en-US"/>
              <a:t>Our approach has three main steps.</a:t>
            </a:r>
          </a:p>
          <a:p>
            <a:r>
              <a:rPr lang="en-US"/>
              <a:t>First, we use the FCI algorithm to learn the causal structure from the data. This is important because it can handle hidden variables that we can’t directly observe.</a:t>
            </a:r>
            <a:endParaRPr lang="en-US">
              <a:ea typeface="Calibri"/>
              <a:cs typeface="Calibri"/>
            </a:endParaRPr>
          </a:p>
          <a:p>
            <a:r>
              <a:rPr lang="en-US"/>
              <a:t>Second, we apply real-world constraints. For example, weather can only cause events—it can’t be caused by them—and lethality must be an outcome. This ensures the model stays physically realistic.</a:t>
            </a:r>
            <a:endParaRPr lang="en-US">
              <a:ea typeface="Calibri"/>
              <a:cs typeface="Calibri"/>
            </a:endParaRPr>
          </a:p>
          <a:p>
            <a:r>
              <a:rPr lang="en-US"/>
              <a:t>Finally, we interpret the resulting graph. Each node represents a factor, and each arrow represents a causal influence.</a:t>
            </a:r>
            <a:endParaRPr lang="en-US">
              <a:ea typeface="Calibri"/>
              <a:cs typeface="Calibri"/>
            </a:endParaRPr>
          </a:p>
          <a:p>
            <a:r>
              <a:rPr lang="en-US"/>
              <a:t>For example, weather may lead to mechanical issues, which can lead to controlled flight into terrain, which significantly increases lethality.</a:t>
            </a:r>
          </a:p>
          <a:p>
            <a:endParaRPr lang="en-US"/>
          </a:p>
        </p:txBody>
      </p:sp>
      <p:sp>
        <p:nvSpPr>
          <p:cNvPr id="4" name="Slide Number Placeholder 3"/>
          <p:cNvSpPr>
            <a:spLocks noGrp="1"/>
          </p:cNvSpPr>
          <p:nvPr>
            <p:ph type="sldNum" sz="quarter" idx="5"/>
          </p:nvPr>
        </p:nvSpPr>
        <p:spPr/>
        <p:txBody>
          <a:bodyPr/>
          <a:lstStyle/>
          <a:p>
            <a:fld id="{8A444CFF-9075-4EC1-B90D-68D4790E58E7}" type="slidenum">
              <a:rPr lang="en-US" smtClean="0"/>
              <a:t>7</a:t>
            </a:fld>
            <a:endParaRPr lang="en-US"/>
          </a:p>
        </p:txBody>
      </p:sp>
    </p:spTree>
    <p:extLst>
      <p:ext uri="{BB962C8B-B14F-4D97-AF65-F5344CB8AC3E}">
        <p14:creationId xmlns:p14="http://schemas.microsoft.com/office/powerpoint/2010/main" val="960737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Timothy </a:t>
            </a:r>
            <a:r>
              <a:rPr lang="en-US" b="0"/>
              <a:t>– KCI (</a:t>
            </a:r>
            <a:r>
              <a:rPr lang="en-US" sz="1200" b="0" i="0" kern="1200">
                <a:solidFill>
                  <a:schemeClr val="tx1"/>
                </a:solidFill>
                <a:effectLst/>
                <a:latin typeface="+mn-lt"/>
                <a:ea typeface="+mn-ea"/>
                <a:cs typeface="+mn-cs"/>
              </a:rPr>
              <a:t>Kernel-based Conditional Independence)</a:t>
            </a:r>
            <a:endParaRPr lang="en-US" b="0"/>
          </a:p>
        </p:txBody>
      </p:sp>
      <p:sp>
        <p:nvSpPr>
          <p:cNvPr id="4" name="Slide Number Placeholder 3"/>
          <p:cNvSpPr>
            <a:spLocks noGrp="1"/>
          </p:cNvSpPr>
          <p:nvPr>
            <p:ph type="sldNum" sz="quarter" idx="10"/>
          </p:nvPr>
        </p:nvSpPr>
        <p:spPr/>
        <p:txBody>
          <a:bodyPr/>
          <a:lstStyle/>
          <a:p>
            <a:fld id="{B68D2766-C49B-4C1A-9FEE-6F146754B02B}" type="slidenum">
              <a:rPr lang="en-US" smtClean="0"/>
              <a:t>8</a:t>
            </a:fld>
            <a:endParaRPr lang="en-US"/>
          </a:p>
        </p:txBody>
      </p:sp>
    </p:spTree>
    <p:extLst>
      <p:ext uri="{BB962C8B-B14F-4D97-AF65-F5344CB8AC3E}">
        <p14:creationId xmlns:p14="http://schemas.microsoft.com/office/powerpoint/2010/main" val="1407001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Timothy</a:t>
            </a:r>
          </a:p>
        </p:txBody>
      </p:sp>
      <p:sp>
        <p:nvSpPr>
          <p:cNvPr id="4" name="Slide Number Placeholder 3"/>
          <p:cNvSpPr>
            <a:spLocks noGrp="1"/>
          </p:cNvSpPr>
          <p:nvPr>
            <p:ph type="sldNum" sz="quarter" idx="5"/>
          </p:nvPr>
        </p:nvSpPr>
        <p:spPr/>
        <p:txBody>
          <a:bodyPr/>
          <a:lstStyle/>
          <a:p>
            <a:fld id="{8A444CFF-9075-4EC1-B90D-68D4790E58E7}" type="slidenum">
              <a:rPr lang="en-US" smtClean="0"/>
              <a:t>9</a:t>
            </a:fld>
            <a:endParaRPr lang="en-US"/>
          </a:p>
        </p:txBody>
      </p:sp>
    </p:spTree>
    <p:extLst>
      <p:ext uri="{BB962C8B-B14F-4D97-AF65-F5344CB8AC3E}">
        <p14:creationId xmlns:p14="http://schemas.microsoft.com/office/powerpoint/2010/main" val="885149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E9CD2-A3E6-0E09-072B-1CD57E73B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B1061-028F-934B-AB4A-8CCAAFCF2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2C625-BFC5-E52F-ADBF-4F336774433F}"/>
              </a:ext>
            </a:extLst>
          </p:cNvPr>
          <p:cNvSpPr>
            <a:spLocks noGrp="1"/>
          </p:cNvSpPr>
          <p:nvPr>
            <p:ph type="body" idx="1"/>
          </p:nvPr>
        </p:nvSpPr>
        <p:spPr/>
        <p:txBody>
          <a:bodyPr/>
          <a:lstStyle/>
          <a:p>
            <a:r>
              <a:rPr lang="en-US"/>
              <a:t>Timthoy</a:t>
            </a:r>
          </a:p>
          <a:p>
            <a:endParaRPr lang="en-US"/>
          </a:p>
          <a:p>
            <a:r>
              <a:rPr lang="en-US"/>
              <a:t>Once we have the causal structure, we can quantify the impact of each factor.</a:t>
            </a:r>
          </a:p>
          <a:p>
            <a:r>
              <a:rPr lang="en-US"/>
              <a:t>We use the DoWhy framework to estimate Average Treatment Effects, which tells us how much a factor changes the probability of a high-lethality crash.</a:t>
            </a:r>
          </a:p>
          <a:p>
            <a:r>
              <a:rPr lang="en-US"/>
              <a:t>Importantly, this accounts for confounding variables, so we’re isolating true causal effects rather than just associations.</a:t>
            </a:r>
          </a:p>
          <a:p>
            <a:endParaRPr lang="en-US">
              <a:ea typeface="Calibri"/>
              <a:cs typeface="Calibri"/>
            </a:endParaRPr>
          </a:p>
        </p:txBody>
      </p:sp>
      <p:sp>
        <p:nvSpPr>
          <p:cNvPr id="4" name="Slide Number Placeholder 3">
            <a:extLst>
              <a:ext uri="{FF2B5EF4-FFF2-40B4-BE49-F238E27FC236}">
                <a16:creationId xmlns:a16="http://schemas.microsoft.com/office/drawing/2014/main" id="{0BC9A8D3-9F50-5679-AFB3-91DA9AA67295}"/>
              </a:ext>
            </a:extLst>
          </p:cNvPr>
          <p:cNvSpPr>
            <a:spLocks noGrp="1"/>
          </p:cNvSpPr>
          <p:nvPr>
            <p:ph type="sldNum" sz="quarter" idx="5"/>
          </p:nvPr>
        </p:nvSpPr>
        <p:spPr/>
        <p:txBody>
          <a:bodyPr/>
          <a:lstStyle/>
          <a:p>
            <a:fld id="{8A444CFF-9075-4EC1-B90D-68D4790E58E7}" type="slidenum">
              <a:t>10</a:t>
            </a:fld>
            <a:endParaRPr lang="en-US"/>
          </a:p>
        </p:txBody>
      </p:sp>
    </p:spTree>
    <p:extLst>
      <p:ext uri="{BB962C8B-B14F-4D97-AF65-F5344CB8AC3E}">
        <p14:creationId xmlns:p14="http://schemas.microsoft.com/office/powerpoint/2010/main" val="3038422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Seth</a:t>
            </a:r>
          </a:p>
          <a:p>
            <a:endParaRPr lang="en-US"/>
          </a:p>
          <a:p>
            <a:r>
              <a:rPr lang="en-US"/>
              <a:t>We can check for causal effect via backdoor adjustment first. Controlling for mechanical, </a:t>
            </a:r>
            <a:r>
              <a:rPr lang="en-US" err="1"/>
              <a:t>cfit</a:t>
            </a:r>
            <a:r>
              <a:rPr lang="en-US"/>
              <a:t> has a backdoor to subregion via that path, and all other connections route back to subregion as well. We can rule out collisions, fire, sabotage, and getting shot down as there’s no direct path, and fuel can not be adjusted as there is no spurious path.</a:t>
            </a:r>
          </a:p>
          <a:p>
            <a:endParaRPr lang="en-US"/>
          </a:p>
        </p:txBody>
      </p:sp>
      <p:sp>
        <p:nvSpPr>
          <p:cNvPr id="4" name="Slide Number Placeholder 3"/>
          <p:cNvSpPr>
            <a:spLocks noGrp="1"/>
          </p:cNvSpPr>
          <p:nvPr>
            <p:ph type="sldNum" sz="quarter" idx="5"/>
          </p:nvPr>
        </p:nvSpPr>
        <p:spPr/>
        <p:txBody>
          <a:bodyPr/>
          <a:lstStyle/>
          <a:p>
            <a:fld id="{8A444CFF-9075-4EC1-B90D-68D4790E58E7}" type="slidenum">
              <a:rPr lang="en-US" smtClean="0"/>
              <a:t>11</a:t>
            </a:fld>
            <a:endParaRPr lang="en-US"/>
          </a:p>
        </p:txBody>
      </p:sp>
    </p:spTree>
    <p:extLst>
      <p:ext uri="{BB962C8B-B14F-4D97-AF65-F5344CB8AC3E}">
        <p14:creationId xmlns:p14="http://schemas.microsoft.com/office/powerpoint/2010/main" val="909636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57F5-8F0F-5115-BC67-94C533CC2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D2E87-643F-2528-3C6C-3B7F2B44A6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E6D3FB-307E-3AA6-A458-E701AD751C7C}"/>
              </a:ext>
            </a:extLst>
          </p:cNvPr>
          <p:cNvSpPr>
            <a:spLocks noGrp="1"/>
          </p:cNvSpPr>
          <p:nvPr>
            <p:ph type="body" idx="1"/>
          </p:nvPr>
        </p:nvSpPr>
        <p:spPr/>
        <p:txBody>
          <a:bodyPr/>
          <a:lstStyle/>
          <a:p>
            <a:r>
              <a:rPr lang="en-US"/>
              <a:t>Brock (says Jordan in teams, so I’m going with that for now)</a:t>
            </a:r>
          </a:p>
          <a:p>
            <a:endParaRPr lang="en-US"/>
          </a:p>
          <a:p>
            <a:r>
              <a:rPr lang="en-US"/>
              <a:t>PC Algorithm was used to learn causal relations. Generated CPDAG from observational data.</a:t>
            </a:r>
            <a:br>
              <a:rPr lang="en-US"/>
            </a:br>
            <a:br>
              <a:rPr lang="en-US"/>
            </a:br>
            <a:r>
              <a:rPr lang="en-US"/>
              <a:t>Domain knowledge is critical for Valid Causal Modeling. Without knowledge of the physical constraints, a bad model would not be recognized or adjusted for.</a:t>
            </a:r>
            <a:br>
              <a:rPr lang="en-US"/>
            </a:br>
            <a:br>
              <a:rPr lang="en-US"/>
            </a:br>
            <a:r>
              <a:rPr lang="en-US"/>
              <a:t>Initial model produced unrealistic relationships. Weather was modeled as an effect of other factors instead of a cause.</a:t>
            </a:r>
          </a:p>
          <a:p>
            <a:endParaRPr lang="en-US"/>
          </a:p>
          <a:p>
            <a:r>
              <a:rPr lang="en-US"/>
              <a:t>To fix this, weather and Military were constrained to be causes only, with High Lethality being constrained to outcome only</a:t>
            </a:r>
          </a:p>
        </p:txBody>
      </p:sp>
      <p:sp>
        <p:nvSpPr>
          <p:cNvPr id="4" name="Slide Number Placeholder 3">
            <a:extLst>
              <a:ext uri="{FF2B5EF4-FFF2-40B4-BE49-F238E27FC236}">
                <a16:creationId xmlns:a16="http://schemas.microsoft.com/office/drawing/2014/main" id="{0240BFF2-1EF0-4C5E-027E-725D980E7188}"/>
              </a:ext>
            </a:extLst>
          </p:cNvPr>
          <p:cNvSpPr>
            <a:spLocks noGrp="1"/>
          </p:cNvSpPr>
          <p:nvPr>
            <p:ph type="sldNum" sz="quarter" idx="5"/>
          </p:nvPr>
        </p:nvSpPr>
        <p:spPr/>
        <p:txBody>
          <a:bodyPr/>
          <a:lstStyle/>
          <a:p>
            <a:fld id="{B68D2766-C49B-4C1A-9FEE-6F146754B02B}" type="slidenum">
              <a:rPr lang="en-US" smtClean="0"/>
              <a:t>12</a:t>
            </a:fld>
            <a:endParaRPr lang="en-US"/>
          </a:p>
        </p:txBody>
      </p:sp>
    </p:spTree>
    <p:extLst>
      <p:ext uri="{BB962C8B-B14F-4D97-AF65-F5344CB8AC3E}">
        <p14:creationId xmlns:p14="http://schemas.microsoft.com/office/powerpoint/2010/main" val="4003841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Jordan</a:t>
            </a:r>
          </a:p>
          <a:p>
            <a:r>
              <a:rPr lang="en-US"/>
              <a:t>The Results indicate a causal relation between Adverse weather conditions and Pilot Error, with Pilot Error relating to controlled flight into terrain. </a:t>
            </a:r>
          </a:p>
          <a:p>
            <a:r>
              <a:rPr lang="en-US"/>
              <a:t>Mechanical, Fuel, and flight into terrain all related to High Lethality</a:t>
            </a:r>
          </a:p>
          <a:p>
            <a:endParaRPr lang="en-US"/>
          </a:p>
          <a:p>
            <a:r>
              <a:rPr lang="en-US"/>
              <a:t>Military Aircraft were heavily associated with High-Risk Scenarios</a:t>
            </a:r>
          </a:p>
          <a:p>
            <a:r>
              <a:rPr lang="en-US"/>
              <a:t>Indication of hidden confounders in play, as seen with stronger than expected links (Weather – Sabotage) or weaker than expected (Collision – Lethality)</a:t>
            </a:r>
          </a:p>
        </p:txBody>
      </p:sp>
      <p:sp>
        <p:nvSpPr>
          <p:cNvPr id="4" name="Slide Number Placeholder 3"/>
          <p:cNvSpPr>
            <a:spLocks noGrp="1"/>
          </p:cNvSpPr>
          <p:nvPr>
            <p:ph type="sldNum" sz="quarter" idx="5"/>
          </p:nvPr>
        </p:nvSpPr>
        <p:spPr/>
        <p:txBody>
          <a:bodyPr/>
          <a:lstStyle/>
          <a:p>
            <a:fld id="{8A444CFF-9075-4EC1-B90D-68D4790E58E7}" type="slidenum">
              <a:rPr lang="en-US" smtClean="0"/>
              <a:t>13</a:t>
            </a:fld>
            <a:endParaRPr lang="en-US"/>
          </a:p>
        </p:txBody>
      </p:sp>
    </p:spTree>
    <p:extLst>
      <p:ext uri="{BB962C8B-B14F-4D97-AF65-F5344CB8AC3E}">
        <p14:creationId xmlns:p14="http://schemas.microsoft.com/office/powerpoint/2010/main" val="3452323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963C0-432B-92AD-9D02-6DCB75F2B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61FCE-9D1C-15BE-A7BD-1D3A69BE0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1A4E4-0A06-5855-084F-8C16B26E4DCC}"/>
              </a:ext>
            </a:extLst>
          </p:cNvPr>
          <p:cNvSpPr>
            <a:spLocks noGrp="1"/>
          </p:cNvSpPr>
          <p:nvPr>
            <p:ph type="body" idx="1"/>
          </p:nvPr>
        </p:nvSpPr>
        <p:spPr/>
        <p:txBody>
          <a:bodyPr/>
          <a:lstStyle/>
          <a:p>
            <a:r>
              <a:rPr lang="en-US"/>
              <a:t>Jordan</a:t>
            </a:r>
          </a:p>
          <a:p>
            <a:endParaRPr lang="en-US"/>
          </a:p>
          <a:p>
            <a:r>
              <a:rPr lang="en-US"/>
              <a:t>Linear regression used to estimate causal effects.</a:t>
            </a:r>
          </a:p>
          <a:p>
            <a:endParaRPr lang="en-US"/>
          </a:p>
          <a:p>
            <a:r>
              <a:rPr lang="en-US"/>
              <a:t>Controlled identified variables within the CPDAG to remove impossible causations</a:t>
            </a:r>
          </a:p>
          <a:p>
            <a:endParaRPr lang="en-US"/>
          </a:p>
          <a:p>
            <a:r>
              <a:rPr lang="en-US"/>
              <a:t>Stuff that lead to high lethality </a:t>
            </a:r>
          </a:p>
          <a:p>
            <a:endParaRPr lang="en-US"/>
          </a:p>
          <a:p>
            <a:r>
              <a:rPr lang="en-US"/>
              <a:t>Key takeaways</a:t>
            </a:r>
          </a:p>
          <a:p>
            <a:endParaRPr lang="en-US"/>
          </a:p>
          <a:p>
            <a:endParaRPr lang="en-US"/>
          </a:p>
        </p:txBody>
      </p:sp>
      <p:sp>
        <p:nvSpPr>
          <p:cNvPr id="4" name="Slide Number Placeholder 3">
            <a:extLst>
              <a:ext uri="{FF2B5EF4-FFF2-40B4-BE49-F238E27FC236}">
                <a16:creationId xmlns:a16="http://schemas.microsoft.com/office/drawing/2014/main" id="{6C77392F-E92E-1042-B781-989DE22F7379}"/>
              </a:ext>
            </a:extLst>
          </p:cNvPr>
          <p:cNvSpPr>
            <a:spLocks noGrp="1"/>
          </p:cNvSpPr>
          <p:nvPr>
            <p:ph type="sldNum" sz="quarter" idx="5"/>
          </p:nvPr>
        </p:nvSpPr>
        <p:spPr/>
        <p:txBody>
          <a:bodyPr/>
          <a:lstStyle/>
          <a:p>
            <a:fld id="{B68D2766-C49B-4C1A-9FEE-6F146754B02B}" type="slidenum">
              <a:rPr lang="en-US" smtClean="0"/>
              <a:t>14</a:t>
            </a:fld>
            <a:endParaRPr lang="en-US"/>
          </a:p>
        </p:txBody>
      </p:sp>
    </p:spTree>
    <p:extLst>
      <p:ext uri="{BB962C8B-B14F-4D97-AF65-F5344CB8AC3E}">
        <p14:creationId xmlns:p14="http://schemas.microsoft.com/office/powerpoint/2010/main" val="49298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ea typeface="+mn-ea"/>
                <a:cs typeface="+mn-cs"/>
              </a:rPr>
              <a:t>Negative = Inversely Correlated</a:t>
            </a:r>
            <a:endParaRPr lang="en-US" sz="1400">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8A444CFF-9075-4EC1-B90D-68D4790E58E7}" type="slidenum">
              <a:rPr lang="en-US" smtClean="0"/>
              <a:t>15</a:t>
            </a:fld>
            <a:endParaRPr lang="en-US"/>
          </a:p>
        </p:txBody>
      </p:sp>
    </p:spTree>
    <p:extLst>
      <p:ext uri="{BB962C8B-B14F-4D97-AF65-F5344CB8AC3E}">
        <p14:creationId xmlns:p14="http://schemas.microsoft.com/office/powerpoint/2010/main" val="4198265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Brock</a:t>
            </a:r>
          </a:p>
        </p:txBody>
      </p:sp>
      <p:sp>
        <p:nvSpPr>
          <p:cNvPr id="4" name="Slide Number Placeholder 3"/>
          <p:cNvSpPr>
            <a:spLocks noGrp="1"/>
          </p:cNvSpPr>
          <p:nvPr>
            <p:ph type="sldNum" sz="quarter" idx="10"/>
          </p:nvPr>
        </p:nvSpPr>
        <p:spPr/>
        <p:txBody>
          <a:bodyPr/>
          <a:lstStyle/>
          <a:p>
            <a:fld id="{B68D2766-C49B-4C1A-9FEE-6F146754B02B}" type="slidenum">
              <a:rPr lang="en-US" smtClean="0"/>
              <a:t>16</a:t>
            </a:fld>
            <a:endParaRPr lang="en-US"/>
          </a:p>
        </p:txBody>
      </p:sp>
    </p:spTree>
    <p:extLst>
      <p:ext uri="{BB962C8B-B14F-4D97-AF65-F5344CB8AC3E}">
        <p14:creationId xmlns:p14="http://schemas.microsoft.com/office/powerpoint/2010/main" val="1742214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Clancy</a:t>
            </a:r>
          </a:p>
        </p:txBody>
      </p:sp>
      <p:sp>
        <p:nvSpPr>
          <p:cNvPr id="4" name="Slide Number Placeholder 3"/>
          <p:cNvSpPr>
            <a:spLocks noGrp="1"/>
          </p:cNvSpPr>
          <p:nvPr>
            <p:ph type="sldNum" sz="quarter" idx="5"/>
          </p:nvPr>
        </p:nvSpPr>
        <p:spPr/>
        <p:txBody>
          <a:bodyPr/>
          <a:lstStyle/>
          <a:p>
            <a:fld id="{8A444CFF-9075-4EC1-B90D-68D4790E58E7}" type="slidenum">
              <a:rPr lang="en-US" smtClean="0"/>
              <a:t>17</a:t>
            </a:fld>
            <a:endParaRPr lang="en-US"/>
          </a:p>
        </p:txBody>
      </p:sp>
    </p:spTree>
    <p:extLst>
      <p:ext uri="{BB962C8B-B14F-4D97-AF65-F5344CB8AC3E}">
        <p14:creationId xmlns:p14="http://schemas.microsoft.com/office/powerpoint/2010/main" val="1756031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2"/>
        </a:solidFill>
        <a:effectLst/>
      </p:bgPr>
    </p:bg>
    <p:spTree>
      <p:nvGrpSpPr>
        <p:cNvPr id="1" name="Shape 8"/>
        <p:cNvGrpSpPr/>
        <p:nvPr/>
      </p:nvGrpSpPr>
      <p:grpSpPr>
        <a:xfrm>
          <a:off x="0" y="0"/>
          <a:ext cx="0" cy="0"/>
          <a:chOff x="0" y="0"/>
          <a:chExt cx="0" cy="0"/>
        </a:xfrm>
      </p:grpSpPr>
      <p:grpSp>
        <p:nvGrpSpPr>
          <p:cNvPr id="9" name="Google Shape;9;p2"/>
          <p:cNvGrpSpPr/>
          <p:nvPr/>
        </p:nvGrpSpPr>
        <p:grpSpPr>
          <a:xfrm>
            <a:off x="-33462" y="-79567"/>
            <a:ext cx="12286395" cy="7002000"/>
            <a:chOff x="-25096" y="-59675"/>
            <a:chExt cx="9214796" cy="5251500"/>
          </a:xfrm>
        </p:grpSpPr>
        <p:sp>
          <p:nvSpPr>
            <p:cNvPr id="10" name="Google Shape;10;p2"/>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 name="Google Shape;12;p2"/>
          <p:cNvGrpSpPr/>
          <p:nvPr/>
        </p:nvGrpSpPr>
        <p:grpSpPr>
          <a:xfrm>
            <a:off x="10229500" y="5100"/>
            <a:ext cx="1947200" cy="6832800"/>
            <a:chOff x="7672125" y="3825"/>
            <a:chExt cx="1460400" cy="5124600"/>
          </a:xfrm>
        </p:grpSpPr>
        <p:cxnSp>
          <p:nvCxnSpPr>
            <p:cNvPr id="13" name="Google Shape;13;p2"/>
            <p:cNvCxnSpPr/>
            <p:nvPr/>
          </p:nvCxnSpPr>
          <p:spPr>
            <a:xfrm>
              <a:off x="7989525" y="3825"/>
              <a:ext cx="0" cy="5124600"/>
            </a:xfrm>
            <a:prstGeom prst="straightConnector1">
              <a:avLst/>
            </a:prstGeom>
            <a:noFill/>
            <a:ln w="9525" cap="flat" cmpd="sng">
              <a:solidFill>
                <a:schemeClr val="lt2"/>
              </a:solidFill>
              <a:prstDash val="solid"/>
              <a:round/>
              <a:headEnd type="none" w="med" len="med"/>
              <a:tailEnd type="none" w="med" len="med"/>
            </a:ln>
          </p:spPr>
        </p:cxnSp>
        <p:cxnSp>
          <p:nvCxnSpPr>
            <p:cNvPr id="14" name="Google Shape;14;p2"/>
            <p:cNvCxnSpPr/>
            <p:nvPr/>
          </p:nvCxnSpPr>
          <p:spPr>
            <a:xfrm rot="10800000">
              <a:off x="7672125" y="528150"/>
              <a:ext cx="1460400" cy="0"/>
            </a:xfrm>
            <a:prstGeom prst="straightConnector1">
              <a:avLst/>
            </a:prstGeom>
            <a:noFill/>
            <a:ln w="9525" cap="flat" cmpd="sng">
              <a:solidFill>
                <a:schemeClr val="lt2"/>
              </a:solidFill>
              <a:prstDash val="solid"/>
              <a:round/>
              <a:headEnd type="none" w="med" len="med"/>
              <a:tailEnd type="none" w="med" len="med"/>
            </a:ln>
          </p:spPr>
        </p:cxnSp>
      </p:grpSp>
      <p:grpSp>
        <p:nvGrpSpPr>
          <p:cNvPr id="15" name="Google Shape;15;p2"/>
          <p:cNvGrpSpPr/>
          <p:nvPr/>
        </p:nvGrpSpPr>
        <p:grpSpPr>
          <a:xfrm rot="8100000" flipH="1">
            <a:off x="10699725" y="880921"/>
            <a:ext cx="669895" cy="410448"/>
            <a:chOff x="765450" y="1072075"/>
            <a:chExt cx="5757950" cy="3527925"/>
          </a:xfrm>
        </p:grpSpPr>
        <p:sp>
          <p:nvSpPr>
            <p:cNvPr id="16" name="Google Shape;16;p2"/>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22" name="Google Shape;22;p2"/>
          <p:cNvCxnSpPr/>
          <p:nvPr/>
        </p:nvCxnSpPr>
        <p:spPr>
          <a:xfrm>
            <a:off x="964368" y="5100"/>
            <a:ext cx="0" cy="6832800"/>
          </a:xfrm>
          <a:prstGeom prst="straightConnector1">
            <a:avLst/>
          </a:prstGeom>
          <a:noFill/>
          <a:ln w="9525" cap="flat" cmpd="sng">
            <a:solidFill>
              <a:schemeClr val="dk1"/>
            </a:solidFill>
            <a:prstDash val="solid"/>
            <a:round/>
            <a:headEnd type="none" w="med" len="med"/>
            <a:tailEnd type="none" w="med" len="med"/>
          </a:ln>
        </p:spPr>
      </p:cxnSp>
      <p:cxnSp>
        <p:nvCxnSpPr>
          <p:cNvPr id="23" name="Google Shape;23;p2"/>
          <p:cNvCxnSpPr/>
          <p:nvPr/>
        </p:nvCxnSpPr>
        <p:spPr>
          <a:xfrm rot="10800000">
            <a:off x="688967" y="5772707"/>
            <a:ext cx="7610000" cy="0"/>
          </a:xfrm>
          <a:prstGeom prst="straightConnector1">
            <a:avLst/>
          </a:prstGeom>
          <a:noFill/>
          <a:ln w="9525" cap="flat" cmpd="sng">
            <a:solidFill>
              <a:schemeClr val="dk1"/>
            </a:solidFill>
            <a:prstDash val="solid"/>
            <a:round/>
            <a:headEnd type="none" w="med" len="med"/>
            <a:tailEnd type="none" w="med" len="med"/>
          </a:ln>
        </p:spPr>
      </p:cxnSp>
      <p:sp>
        <p:nvSpPr>
          <p:cNvPr id="24" name="Google Shape;24;p2"/>
          <p:cNvSpPr txBox="1">
            <a:spLocks noGrp="1"/>
          </p:cNvSpPr>
          <p:nvPr>
            <p:ph type="ctrTitle"/>
          </p:nvPr>
        </p:nvSpPr>
        <p:spPr>
          <a:xfrm>
            <a:off x="1357367" y="992067"/>
            <a:ext cx="7900400" cy="35556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93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25" name="Google Shape;25;p2"/>
          <p:cNvSpPr txBox="1">
            <a:spLocks noGrp="1"/>
          </p:cNvSpPr>
          <p:nvPr>
            <p:ph type="subTitle" idx="1"/>
          </p:nvPr>
        </p:nvSpPr>
        <p:spPr>
          <a:xfrm>
            <a:off x="1357367" y="4635633"/>
            <a:ext cx="7900400" cy="634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1354704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lt2"/>
        </a:solidFill>
        <a:effectLst/>
      </p:bgPr>
    </p:bg>
    <p:spTree>
      <p:nvGrpSpPr>
        <p:cNvPr id="1" name="Shape 26"/>
        <p:cNvGrpSpPr/>
        <p:nvPr/>
      </p:nvGrpSpPr>
      <p:grpSpPr>
        <a:xfrm>
          <a:off x="0" y="0"/>
          <a:ext cx="0" cy="0"/>
          <a:chOff x="0" y="0"/>
          <a:chExt cx="0" cy="0"/>
        </a:xfrm>
      </p:grpSpPr>
      <p:grpSp>
        <p:nvGrpSpPr>
          <p:cNvPr id="27" name="Google Shape;27;p3"/>
          <p:cNvGrpSpPr/>
          <p:nvPr/>
        </p:nvGrpSpPr>
        <p:grpSpPr>
          <a:xfrm>
            <a:off x="-33462" y="-79567"/>
            <a:ext cx="12286395" cy="7002000"/>
            <a:chOff x="-25096" y="-59675"/>
            <a:chExt cx="9214796" cy="5251500"/>
          </a:xfrm>
        </p:grpSpPr>
        <p:sp>
          <p:nvSpPr>
            <p:cNvPr id="28" name="Google Shape;28;p3"/>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3"/>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0" name="Google Shape;30;p3"/>
          <p:cNvSpPr txBox="1">
            <a:spLocks noGrp="1"/>
          </p:cNvSpPr>
          <p:nvPr>
            <p:ph type="title"/>
          </p:nvPr>
        </p:nvSpPr>
        <p:spPr>
          <a:xfrm>
            <a:off x="1489333" y="3309933"/>
            <a:ext cx="6756800" cy="20152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31" name="Google Shape;31;p3"/>
          <p:cNvSpPr txBox="1">
            <a:spLocks noGrp="1"/>
          </p:cNvSpPr>
          <p:nvPr>
            <p:ph type="title" idx="2" hasCustomPrompt="1"/>
          </p:nvPr>
        </p:nvSpPr>
        <p:spPr>
          <a:xfrm>
            <a:off x="1489333" y="1541367"/>
            <a:ext cx="1621200" cy="14660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2" name="Google Shape;32;p3"/>
          <p:cNvSpPr txBox="1">
            <a:spLocks noGrp="1"/>
          </p:cNvSpPr>
          <p:nvPr>
            <p:ph type="subTitle" idx="1"/>
          </p:nvPr>
        </p:nvSpPr>
        <p:spPr>
          <a:xfrm>
            <a:off x="1489333" y="5638667"/>
            <a:ext cx="6756800" cy="50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84794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2"/>
        </a:solidFill>
        <a:effectLst/>
      </p:bgPr>
    </p:bg>
    <p:spTree>
      <p:nvGrpSpPr>
        <p:cNvPr id="1" name="Shape 33"/>
        <p:cNvGrpSpPr/>
        <p:nvPr/>
      </p:nvGrpSpPr>
      <p:grpSpPr>
        <a:xfrm>
          <a:off x="0" y="0"/>
          <a:ext cx="0" cy="0"/>
          <a:chOff x="0" y="0"/>
          <a:chExt cx="0" cy="0"/>
        </a:xfrm>
      </p:grpSpPr>
      <p:grpSp>
        <p:nvGrpSpPr>
          <p:cNvPr id="34" name="Google Shape;34;p4"/>
          <p:cNvGrpSpPr/>
          <p:nvPr/>
        </p:nvGrpSpPr>
        <p:grpSpPr>
          <a:xfrm>
            <a:off x="210733" y="5100"/>
            <a:ext cx="11997200" cy="6832800"/>
            <a:chOff x="158050" y="3825"/>
            <a:chExt cx="8997900" cy="5124600"/>
          </a:xfrm>
        </p:grpSpPr>
        <p:cxnSp>
          <p:nvCxnSpPr>
            <p:cNvPr id="35" name="Google Shape;35;p4"/>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36" name="Google Shape;36;p4"/>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7" name="Google Shape;37;p4"/>
          <p:cNvGrpSpPr/>
          <p:nvPr/>
        </p:nvGrpSpPr>
        <p:grpSpPr>
          <a:xfrm>
            <a:off x="758967" y="117854"/>
            <a:ext cx="11127455" cy="6592977"/>
            <a:chOff x="569225" y="88390"/>
            <a:chExt cx="8345591" cy="4944733"/>
          </a:xfrm>
        </p:grpSpPr>
        <p:grpSp>
          <p:nvGrpSpPr>
            <p:cNvPr id="38" name="Google Shape;38;p4"/>
            <p:cNvGrpSpPr/>
            <p:nvPr/>
          </p:nvGrpSpPr>
          <p:grpSpPr>
            <a:xfrm>
              <a:off x="569225" y="4877714"/>
              <a:ext cx="455213" cy="155409"/>
              <a:chOff x="6309490" y="2180542"/>
              <a:chExt cx="626497" cy="213885"/>
            </a:xfrm>
          </p:grpSpPr>
          <p:sp>
            <p:nvSpPr>
              <p:cNvPr id="39" name="Google Shape;39;p4"/>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4"/>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4"/>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2" name="Google Shape;42;p4"/>
            <p:cNvGrpSpPr/>
            <p:nvPr/>
          </p:nvGrpSpPr>
          <p:grpSpPr>
            <a:xfrm rot="2700000">
              <a:off x="8377136" y="220941"/>
              <a:ext cx="502421" cy="307836"/>
              <a:chOff x="765450" y="1072075"/>
              <a:chExt cx="5757950" cy="3527925"/>
            </a:xfrm>
          </p:grpSpPr>
          <p:sp>
            <p:nvSpPr>
              <p:cNvPr id="43" name="Google Shape;43;p4"/>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4"/>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4"/>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4"/>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4"/>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4"/>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9" name="Google Shape;49;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50" name="Google Shape;50;p4"/>
          <p:cNvSpPr txBox="1">
            <a:spLocks noGrp="1"/>
          </p:cNvSpPr>
          <p:nvPr>
            <p:ph type="body" idx="1"/>
          </p:nvPr>
        </p:nvSpPr>
        <p:spPr>
          <a:xfrm>
            <a:off x="960000" y="1621003"/>
            <a:ext cx="10272000" cy="4555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Font typeface="Nunito Light"/>
              <a:buChar char="●"/>
              <a:defRPr/>
            </a:lvl1pPr>
            <a:lvl2pPr marL="1219170" lvl="1" indent="-423323" rtl="0">
              <a:lnSpc>
                <a:spcPct val="100000"/>
              </a:lnSpc>
              <a:spcBef>
                <a:spcPts val="0"/>
              </a:spcBef>
              <a:spcAft>
                <a:spcPts val="0"/>
              </a:spcAft>
              <a:buSzPts val="1400"/>
              <a:buFont typeface="Nunito Light"/>
              <a:buChar char="○"/>
              <a:defRPr/>
            </a:lvl2pPr>
            <a:lvl3pPr marL="1828754" lvl="2" indent="-423323" rtl="0">
              <a:lnSpc>
                <a:spcPct val="100000"/>
              </a:lnSpc>
              <a:spcBef>
                <a:spcPts val="0"/>
              </a:spcBef>
              <a:spcAft>
                <a:spcPts val="0"/>
              </a:spcAft>
              <a:buSzPts val="1400"/>
              <a:buFont typeface="Nunito Light"/>
              <a:buChar char="■"/>
              <a:defRPr/>
            </a:lvl3pPr>
            <a:lvl4pPr marL="2438339" lvl="3" indent="-423323" rtl="0">
              <a:lnSpc>
                <a:spcPct val="100000"/>
              </a:lnSpc>
              <a:spcBef>
                <a:spcPts val="0"/>
              </a:spcBef>
              <a:spcAft>
                <a:spcPts val="0"/>
              </a:spcAft>
              <a:buSzPts val="1400"/>
              <a:buFont typeface="Nunito Light"/>
              <a:buChar char="●"/>
              <a:defRPr/>
            </a:lvl4pPr>
            <a:lvl5pPr marL="3047924" lvl="4" indent="-423323" rtl="0">
              <a:lnSpc>
                <a:spcPct val="100000"/>
              </a:lnSpc>
              <a:spcBef>
                <a:spcPts val="0"/>
              </a:spcBef>
              <a:spcAft>
                <a:spcPts val="0"/>
              </a:spcAft>
              <a:buSzPts val="1400"/>
              <a:buFont typeface="Nunito Light"/>
              <a:buChar char="○"/>
              <a:defRPr/>
            </a:lvl5pPr>
            <a:lvl6pPr marL="3657509" lvl="5" indent="-423323" rtl="0">
              <a:lnSpc>
                <a:spcPct val="100000"/>
              </a:lnSpc>
              <a:spcBef>
                <a:spcPts val="0"/>
              </a:spcBef>
              <a:spcAft>
                <a:spcPts val="0"/>
              </a:spcAft>
              <a:buSzPts val="1400"/>
              <a:buFont typeface="Nunito Light"/>
              <a:buChar char="■"/>
              <a:defRPr/>
            </a:lvl6pPr>
            <a:lvl7pPr marL="4267093" lvl="6" indent="-423323" rtl="0">
              <a:lnSpc>
                <a:spcPct val="100000"/>
              </a:lnSpc>
              <a:spcBef>
                <a:spcPts val="0"/>
              </a:spcBef>
              <a:spcAft>
                <a:spcPts val="0"/>
              </a:spcAft>
              <a:buSzPts val="1400"/>
              <a:buFont typeface="Nunito Light"/>
              <a:buChar char="●"/>
              <a:defRPr/>
            </a:lvl7pPr>
            <a:lvl8pPr marL="4876678" lvl="7" indent="-423323" rtl="0">
              <a:lnSpc>
                <a:spcPct val="100000"/>
              </a:lnSpc>
              <a:spcBef>
                <a:spcPts val="0"/>
              </a:spcBef>
              <a:spcAft>
                <a:spcPts val="0"/>
              </a:spcAft>
              <a:buSzPts val="1400"/>
              <a:buFont typeface="Nunito Light"/>
              <a:buChar char="○"/>
              <a:defRPr/>
            </a:lvl8pPr>
            <a:lvl9pPr marL="5486263" lvl="8" indent="-423323" rtl="0">
              <a:lnSpc>
                <a:spcPct val="100000"/>
              </a:lnSpc>
              <a:spcBef>
                <a:spcPts val="0"/>
              </a:spcBef>
              <a:spcAft>
                <a:spcPts val="0"/>
              </a:spcAft>
              <a:buSzPts val="14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1500598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solidFill>
          <a:schemeClr val="lt2"/>
        </a:solidFill>
        <a:effectLst/>
      </p:bgPr>
    </p:bg>
    <p:spTree>
      <p:nvGrpSpPr>
        <p:cNvPr id="1" name="Shape 51"/>
        <p:cNvGrpSpPr/>
        <p:nvPr/>
      </p:nvGrpSpPr>
      <p:grpSpPr>
        <a:xfrm>
          <a:off x="0" y="0"/>
          <a:ext cx="0" cy="0"/>
          <a:chOff x="0" y="0"/>
          <a:chExt cx="0" cy="0"/>
        </a:xfrm>
      </p:grpSpPr>
      <p:grpSp>
        <p:nvGrpSpPr>
          <p:cNvPr id="52" name="Google Shape;52;p5"/>
          <p:cNvGrpSpPr/>
          <p:nvPr/>
        </p:nvGrpSpPr>
        <p:grpSpPr>
          <a:xfrm>
            <a:off x="655300" y="5100"/>
            <a:ext cx="10881400" cy="6832800"/>
            <a:chOff x="491475" y="3825"/>
            <a:chExt cx="8161050" cy="5124600"/>
          </a:xfrm>
        </p:grpSpPr>
        <p:cxnSp>
          <p:nvCxnSpPr>
            <p:cNvPr id="53" name="Google Shape;53;p5"/>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54" name="Google Shape;54;p5"/>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55" name="Google Shape;55;p5"/>
          <p:cNvGrpSpPr/>
          <p:nvPr/>
        </p:nvGrpSpPr>
        <p:grpSpPr>
          <a:xfrm>
            <a:off x="10819034" y="325019"/>
            <a:ext cx="606951" cy="207212"/>
            <a:chOff x="6309490" y="2180542"/>
            <a:chExt cx="626497" cy="213885"/>
          </a:xfrm>
        </p:grpSpPr>
        <p:sp>
          <p:nvSpPr>
            <p:cNvPr id="56" name="Google Shape;56;p5"/>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5"/>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5"/>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9" name="Google Shape;59;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60" name="Google Shape;60;p5"/>
          <p:cNvSpPr txBox="1">
            <a:spLocks noGrp="1"/>
          </p:cNvSpPr>
          <p:nvPr>
            <p:ph type="subTitle" idx="1"/>
          </p:nvPr>
        </p:nvSpPr>
        <p:spPr>
          <a:xfrm>
            <a:off x="6740379" y="4723765"/>
            <a:ext cx="3340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61" name="Google Shape;61;p5"/>
          <p:cNvSpPr txBox="1">
            <a:spLocks noGrp="1"/>
          </p:cNvSpPr>
          <p:nvPr>
            <p:ph type="subTitle" idx="2"/>
          </p:nvPr>
        </p:nvSpPr>
        <p:spPr>
          <a:xfrm>
            <a:off x="2111067" y="4723765"/>
            <a:ext cx="3340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62" name="Google Shape;62;p5"/>
          <p:cNvSpPr txBox="1">
            <a:spLocks noGrp="1"/>
          </p:cNvSpPr>
          <p:nvPr>
            <p:ph type="subTitle" idx="3"/>
          </p:nvPr>
        </p:nvSpPr>
        <p:spPr>
          <a:xfrm>
            <a:off x="6740367" y="4163367"/>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63" name="Google Shape;63;p5"/>
          <p:cNvSpPr txBox="1">
            <a:spLocks noGrp="1"/>
          </p:cNvSpPr>
          <p:nvPr>
            <p:ph type="subTitle" idx="4"/>
          </p:nvPr>
        </p:nvSpPr>
        <p:spPr>
          <a:xfrm>
            <a:off x="2110767" y="4163367"/>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19905838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2"/>
        </a:solidFill>
        <a:effectLst/>
      </p:bgPr>
    </p:bg>
    <p:spTree>
      <p:nvGrpSpPr>
        <p:cNvPr id="1" name="Shape 64"/>
        <p:cNvGrpSpPr/>
        <p:nvPr/>
      </p:nvGrpSpPr>
      <p:grpSpPr>
        <a:xfrm>
          <a:off x="0" y="0"/>
          <a:ext cx="0" cy="0"/>
          <a:chOff x="0" y="0"/>
          <a:chExt cx="0" cy="0"/>
        </a:xfrm>
      </p:grpSpPr>
      <p:sp>
        <p:nvSpPr>
          <p:cNvPr id="65" name="Google Shape;6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66" name="Google Shape;66;p6"/>
          <p:cNvGrpSpPr/>
          <p:nvPr/>
        </p:nvGrpSpPr>
        <p:grpSpPr>
          <a:xfrm>
            <a:off x="11005301" y="325019"/>
            <a:ext cx="606951" cy="207212"/>
            <a:chOff x="6309490" y="2180542"/>
            <a:chExt cx="626497" cy="213885"/>
          </a:xfrm>
        </p:grpSpPr>
        <p:sp>
          <p:nvSpPr>
            <p:cNvPr id="67" name="Google Shape;67;p6"/>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6"/>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 name="Google Shape;69;p6"/>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0" name="Google Shape;70;p6"/>
          <p:cNvGrpSpPr/>
          <p:nvPr/>
        </p:nvGrpSpPr>
        <p:grpSpPr>
          <a:xfrm>
            <a:off x="-17833" y="5100"/>
            <a:ext cx="12208767" cy="7036000"/>
            <a:chOff x="-13375" y="3825"/>
            <a:chExt cx="9156575" cy="5277000"/>
          </a:xfrm>
        </p:grpSpPr>
        <p:grpSp>
          <p:nvGrpSpPr>
            <p:cNvPr id="71" name="Google Shape;71;p6"/>
            <p:cNvGrpSpPr/>
            <p:nvPr/>
          </p:nvGrpSpPr>
          <p:grpSpPr>
            <a:xfrm>
              <a:off x="-13375" y="3825"/>
              <a:ext cx="4584600" cy="5124600"/>
              <a:chOff x="-13375" y="3825"/>
              <a:chExt cx="4584600" cy="5124600"/>
            </a:xfrm>
          </p:grpSpPr>
          <p:cxnSp>
            <p:nvCxnSpPr>
              <p:cNvPr id="72" name="Google Shape;72;p6"/>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73" name="Google Shape;73;p6"/>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74" name="Google Shape;74;p6"/>
            <p:cNvGrpSpPr/>
            <p:nvPr/>
          </p:nvGrpSpPr>
          <p:grpSpPr>
            <a:xfrm>
              <a:off x="4596700" y="156225"/>
              <a:ext cx="4546500" cy="5124600"/>
              <a:chOff x="4596700" y="156225"/>
              <a:chExt cx="4546500" cy="5124600"/>
            </a:xfrm>
          </p:grpSpPr>
          <p:cxnSp>
            <p:nvCxnSpPr>
              <p:cNvPr id="75" name="Google Shape;75;p6"/>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76" name="Google Shape;76;p6"/>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934547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solidFill>
          <a:schemeClr val="lt2"/>
        </a:solidFill>
        <a:effectLst/>
      </p:bgPr>
    </p:bg>
    <p:spTree>
      <p:nvGrpSpPr>
        <p:cNvPr id="1" name="Shape 77"/>
        <p:cNvGrpSpPr/>
        <p:nvPr/>
      </p:nvGrpSpPr>
      <p:grpSpPr>
        <a:xfrm>
          <a:off x="0" y="0"/>
          <a:ext cx="0" cy="0"/>
          <a:chOff x="0" y="0"/>
          <a:chExt cx="0" cy="0"/>
        </a:xfrm>
      </p:grpSpPr>
      <p:grpSp>
        <p:nvGrpSpPr>
          <p:cNvPr id="78" name="Google Shape;78;p7"/>
          <p:cNvGrpSpPr/>
          <p:nvPr/>
        </p:nvGrpSpPr>
        <p:grpSpPr>
          <a:xfrm>
            <a:off x="-17833" y="5100"/>
            <a:ext cx="12208767" cy="7036000"/>
            <a:chOff x="-13375" y="3825"/>
            <a:chExt cx="9156575" cy="5277000"/>
          </a:xfrm>
        </p:grpSpPr>
        <p:grpSp>
          <p:nvGrpSpPr>
            <p:cNvPr id="79" name="Google Shape;79;p7"/>
            <p:cNvGrpSpPr/>
            <p:nvPr/>
          </p:nvGrpSpPr>
          <p:grpSpPr>
            <a:xfrm>
              <a:off x="-13375" y="3825"/>
              <a:ext cx="4584600" cy="5124600"/>
              <a:chOff x="-13375" y="3825"/>
              <a:chExt cx="4584600" cy="5124600"/>
            </a:xfrm>
          </p:grpSpPr>
          <p:cxnSp>
            <p:nvCxnSpPr>
              <p:cNvPr id="80" name="Google Shape;80;p7"/>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82" name="Google Shape;82;p7"/>
            <p:cNvGrpSpPr/>
            <p:nvPr/>
          </p:nvGrpSpPr>
          <p:grpSpPr>
            <a:xfrm>
              <a:off x="4596700" y="156225"/>
              <a:ext cx="4546500" cy="5124600"/>
              <a:chOff x="4596700" y="156225"/>
              <a:chExt cx="4546500" cy="5124600"/>
            </a:xfrm>
          </p:grpSpPr>
          <p:cxnSp>
            <p:nvCxnSpPr>
              <p:cNvPr id="83" name="Google Shape;83;p7"/>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84" name="Google Shape;84;p7"/>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85" name="Google Shape;85;p7"/>
          <p:cNvGrpSpPr/>
          <p:nvPr/>
        </p:nvGrpSpPr>
        <p:grpSpPr>
          <a:xfrm>
            <a:off x="11005301" y="325019"/>
            <a:ext cx="606951" cy="207212"/>
            <a:chOff x="6309490" y="2180542"/>
            <a:chExt cx="626497" cy="213885"/>
          </a:xfrm>
        </p:grpSpPr>
        <p:sp>
          <p:nvSpPr>
            <p:cNvPr id="86" name="Google Shape;86;p7"/>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7"/>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7"/>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9" name="Google Shape;89;p7"/>
          <p:cNvSpPr txBox="1">
            <a:spLocks noGrp="1"/>
          </p:cNvSpPr>
          <p:nvPr>
            <p:ph type="title"/>
          </p:nvPr>
        </p:nvSpPr>
        <p:spPr>
          <a:xfrm>
            <a:off x="960000" y="593367"/>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90" name="Google Shape;90;p7"/>
          <p:cNvSpPr txBox="1">
            <a:spLocks noGrp="1"/>
          </p:cNvSpPr>
          <p:nvPr>
            <p:ph type="subTitle" idx="1"/>
          </p:nvPr>
        </p:nvSpPr>
        <p:spPr>
          <a:xfrm>
            <a:off x="960000" y="2267067"/>
            <a:ext cx="5726400" cy="306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Tree>
    <p:extLst>
      <p:ext uri="{BB962C8B-B14F-4D97-AF65-F5344CB8AC3E}">
        <p14:creationId xmlns:p14="http://schemas.microsoft.com/office/powerpoint/2010/main" val="2164205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91"/>
        <p:cNvGrpSpPr/>
        <p:nvPr/>
      </p:nvGrpSpPr>
      <p:grpSpPr>
        <a:xfrm>
          <a:off x="0" y="0"/>
          <a:ext cx="0" cy="0"/>
          <a:chOff x="0" y="0"/>
          <a:chExt cx="0" cy="0"/>
        </a:xfrm>
      </p:grpSpPr>
      <p:grpSp>
        <p:nvGrpSpPr>
          <p:cNvPr id="92" name="Google Shape;92;p8"/>
          <p:cNvGrpSpPr/>
          <p:nvPr/>
        </p:nvGrpSpPr>
        <p:grpSpPr>
          <a:xfrm>
            <a:off x="-33462" y="-79567"/>
            <a:ext cx="12286395" cy="7002000"/>
            <a:chOff x="-25096" y="-59675"/>
            <a:chExt cx="9214796" cy="5251500"/>
          </a:xfrm>
        </p:grpSpPr>
        <p:sp>
          <p:nvSpPr>
            <p:cNvPr id="93" name="Google Shape;93;p8"/>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8"/>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8"/>
          <p:cNvGrpSpPr/>
          <p:nvPr/>
        </p:nvGrpSpPr>
        <p:grpSpPr>
          <a:xfrm flipH="1">
            <a:off x="10488685" y="414759"/>
            <a:ext cx="606951" cy="207212"/>
            <a:chOff x="6309490" y="2180542"/>
            <a:chExt cx="626497" cy="213885"/>
          </a:xfrm>
        </p:grpSpPr>
        <p:sp>
          <p:nvSpPr>
            <p:cNvPr id="96" name="Google Shape;96;p8"/>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8"/>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8"/>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9" name="Google Shape;99;p8"/>
          <p:cNvSpPr txBox="1">
            <a:spLocks noGrp="1"/>
          </p:cNvSpPr>
          <p:nvPr>
            <p:ph type="title"/>
          </p:nvPr>
        </p:nvSpPr>
        <p:spPr>
          <a:xfrm>
            <a:off x="1489333" y="2252967"/>
            <a:ext cx="7476000" cy="23520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2630542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chemeClr val="dk1"/>
        </a:solidFill>
        <a:effectLst/>
      </p:bgPr>
    </p:bg>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2142967" y="2207333"/>
            <a:ext cx="6222800" cy="15484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8666">
                <a:solidFill>
                  <a:schemeClr val="lt2"/>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102" name="Google Shape;102;p9"/>
          <p:cNvSpPr txBox="1">
            <a:spLocks noGrp="1"/>
          </p:cNvSpPr>
          <p:nvPr>
            <p:ph type="subTitle" idx="1"/>
          </p:nvPr>
        </p:nvSpPr>
        <p:spPr>
          <a:xfrm>
            <a:off x="2142967" y="3603500"/>
            <a:ext cx="6222800" cy="89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33">
                <a:solidFill>
                  <a:schemeClr val="l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789070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3"/>
        <p:cNvGrpSpPr/>
        <p:nvPr/>
      </p:nvGrpSpPr>
      <p:grpSpPr>
        <a:xfrm>
          <a:off x="0" y="0"/>
          <a:ext cx="0" cy="0"/>
          <a:chOff x="0" y="0"/>
          <a:chExt cx="0" cy="0"/>
        </a:xfrm>
      </p:grpSpPr>
      <p:sp>
        <p:nvSpPr>
          <p:cNvPr id="104" name="Google Shape;104;p10"/>
          <p:cNvSpPr>
            <a:spLocks noGrp="1"/>
          </p:cNvSpPr>
          <p:nvPr>
            <p:ph type="pic" idx="2"/>
          </p:nvPr>
        </p:nvSpPr>
        <p:spPr>
          <a:xfrm>
            <a:off x="-33" y="-18300"/>
            <a:ext cx="12192000" cy="6876400"/>
          </a:xfrm>
          <a:prstGeom prst="rect">
            <a:avLst/>
          </a:prstGeom>
          <a:noFill/>
          <a:ln>
            <a:noFill/>
          </a:ln>
        </p:spPr>
        <p:txBody>
          <a:bodyPr/>
          <a:lstStyle/>
          <a:p>
            <a:endParaRPr lang="en-US"/>
          </a:p>
        </p:txBody>
      </p:sp>
      <p:sp>
        <p:nvSpPr>
          <p:cNvPr id="105" name="Google Shape;105;p10"/>
          <p:cNvSpPr txBox="1">
            <a:spLocks noGrp="1"/>
          </p:cNvSpPr>
          <p:nvPr>
            <p:ph type="title"/>
          </p:nvPr>
        </p:nvSpPr>
        <p:spPr>
          <a:xfrm>
            <a:off x="2497600" y="5352600"/>
            <a:ext cx="7196800" cy="763600"/>
          </a:xfrm>
          <a:prstGeom prst="rect">
            <a:avLst/>
          </a:prstGeom>
          <a:solidFill>
            <a:schemeClr val="lt2"/>
          </a:solidFill>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434385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lt2"/>
        </a:solidFill>
        <a:effectLst/>
      </p:bgPr>
    </p:bg>
    <p:spTree>
      <p:nvGrpSpPr>
        <p:cNvPr id="1" name="Shape 106"/>
        <p:cNvGrpSpPr/>
        <p:nvPr/>
      </p:nvGrpSpPr>
      <p:grpSpPr>
        <a:xfrm>
          <a:off x="0" y="0"/>
          <a:ext cx="0" cy="0"/>
          <a:chOff x="0" y="0"/>
          <a:chExt cx="0" cy="0"/>
        </a:xfrm>
      </p:grpSpPr>
      <p:grpSp>
        <p:nvGrpSpPr>
          <p:cNvPr id="107" name="Google Shape;107;p11"/>
          <p:cNvGrpSpPr/>
          <p:nvPr/>
        </p:nvGrpSpPr>
        <p:grpSpPr>
          <a:xfrm>
            <a:off x="-33462" y="-79567"/>
            <a:ext cx="12286395" cy="7002000"/>
            <a:chOff x="-25096" y="-59675"/>
            <a:chExt cx="9214796" cy="5251500"/>
          </a:xfrm>
        </p:grpSpPr>
        <p:sp>
          <p:nvSpPr>
            <p:cNvPr id="108" name="Google Shape;108;p11"/>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 name="Google Shape;109;p11"/>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0" name="Google Shape;110;p11"/>
          <p:cNvSpPr txBox="1">
            <a:spLocks noGrp="1"/>
          </p:cNvSpPr>
          <p:nvPr>
            <p:ph type="title" hasCustomPrompt="1"/>
          </p:nvPr>
        </p:nvSpPr>
        <p:spPr>
          <a:xfrm>
            <a:off x="1514533" y="2214900"/>
            <a:ext cx="8768000" cy="14836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8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111" name="Google Shape;111;p11"/>
          <p:cNvSpPr txBox="1">
            <a:spLocks noGrp="1"/>
          </p:cNvSpPr>
          <p:nvPr>
            <p:ph type="subTitle" idx="1"/>
          </p:nvPr>
        </p:nvSpPr>
        <p:spPr>
          <a:xfrm>
            <a:off x="1514533" y="3664932"/>
            <a:ext cx="8768000" cy="662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1354873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2"/>
        <p:cNvGrpSpPr/>
        <p:nvPr/>
      </p:nvGrpSpPr>
      <p:grpSpPr>
        <a:xfrm>
          <a:off x="0" y="0"/>
          <a:ext cx="0" cy="0"/>
          <a:chOff x="0" y="0"/>
          <a:chExt cx="0" cy="0"/>
        </a:xfrm>
      </p:grpSpPr>
    </p:spTree>
    <p:extLst>
      <p:ext uri="{BB962C8B-B14F-4D97-AF65-F5344CB8AC3E}">
        <p14:creationId xmlns:p14="http://schemas.microsoft.com/office/powerpoint/2010/main" val="421553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13"/>
        <p:cNvGrpSpPr/>
        <p:nvPr/>
      </p:nvGrpSpPr>
      <p:grpSpPr>
        <a:xfrm>
          <a:off x="0" y="0"/>
          <a:ext cx="0" cy="0"/>
          <a:chOff x="0" y="0"/>
          <a:chExt cx="0" cy="0"/>
        </a:xfrm>
      </p:grpSpPr>
      <p:grpSp>
        <p:nvGrpSpPr>
          <p:cNvPr id="114" name="Google Shape;114;p13"/>
          <p:cNvGrpSpPr/>
          <p:nvPr/>
        </p:nvGrpSpPr>
        <p:grpSpPr>
          <a:xfrm>
            <a:off x="210733" y="5101"/>
            <a:ext cx="11997200" cy="6934233"/>
            <a:chOff x="158050" y="3825"/>
            <a:chExt cx="8997900" cy="5200675"/>
          </a:xfrm>
        </p:grpSpPr>
        <p:grpSp>
          <p:nvGrpSpPr>
            <p:cNvPr id="115" name="Google Shape;115;p13"/>
            <p:cNvGrpSpPr/>
            <p:nvPr/>
          </p:nvGrpSpPr>
          <p:grpSpPr>
            <a:xfrm>
              <a:off x="158050" y="3825"/>
              <a:ext cx="8997900" cy="5124600"/>
              <a:chOff x="158050" y="3825"/>
              <a:chExt cx="8997900" cy="5124600"/>
            </a:xfrm>
          </p:grpSpPr>
          <p:cxnSp>
            <p:nvCxnSpPr>
              <p:cNvPr id="116" name="Google Shape;116;p13"/>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117" name="Google Shape;117;p13"/>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18" name="Google Shape;118;p13"/>
            <p:cNvGrpSpPr/>
            <p:nvPr/>
          </p:nvGrpSpPr>
          <p:grpSpPr>
            <a:xfrm>
              <a:off x="8095550" y="4226500"/>
              <a:ext cx="890400" cy="978000"/>
              <a:chOff x="8095550" y="4226500"/>
              <a:chExt cx="890400" cy="978000"/>
            </a:xfrm>
          </p:grpSpPr>
          <p:cxnSp>
            <p:nvCxnSpPr>
              <p:cNvPr id="119" name="Google Shape;119;p13"/>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120" name="Google Shape;120;p13"/>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121" name="Google Shape;121;p13"/>
          <p:cNvGrpSpPr/>
          <p:nvPr/>
        </p:nvGrpSpPr>
        <p:grpSpPr>
          <a:xfrm rot="5400000">
            <a:off x="11433601" y="5893486"/>
            <a:ext cx="606951" cy="207212"/>
            <a:chOff x="6309490" y="2180542"/>
            <a:chExt cx="626497" cy="213885"/>
          </a:xfrm>
        </p:grpSpPr>
        <p:sp>
          <p:nvSpPr>
            <p:cNvPr id="122" name="Google Shape;122;p13"/>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13"/>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13"/>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5" name="Google Shape;125;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Font typeface="Farro"/>
              <a:buNone/>
              <a:defRPr>
                <a:latin typeface="Farro"/>
                <a:ea typeface="Farro"/>
                <a:cs typeface="Farro"/>
                <a:sym typeface="Farro"/>
              </a:defRPr>
            </a:lvl2pPr>
            <a:lvl3pPr lvl="2" rtl="0">
              <a:spcBef>
                <a:spcPts val="0"/>
              </a:spcBef>
              <a:spcAft>
                <a:spcPts val="0"/>
              </a:spcAft>
              <a:buSzPts val="3500"/>
              <a:buFont typeface="Farro"/>
              <a:buNone/>
              <a:defRPr>
                <a:latin typeface="Farro"/>
                <a:ea typeface="Farro"/>
                <a:cs typeface="Farro"/>
                <a:sym typeface="Farro"/>
              </a:defRPr>
            </a:lvl3pPr>
            <a:lvl4pPr lvl="3" rtl="0">
              <a:spcBef>
                <a:spcPts val="0"/>
              </a:spcBef>
              <a:spcAft>
                <a:spcPts val="0"/>
              </a:spcAft>
              <a:buSzPts val="3500"/>
              <a:buFont typeface="Farro"/>
              <a:buNone/>
              <a:defRPr>
                <a:latin typeface="Farro"/>
                <a:ea typeface="Farro"/>
                <a:cs typeface="Farro"/>
                <a:sym typeface="Farro"/>
              </a:defRPr>
            </a:lvl4pPr>
            <a:lvl5pPr lvl="4" rtl="0">
              <a:spcBef>
                <a:spcPts val="0"/>
              </a:spcBef>
              <a:spcAft>
                <a:spcPts val="0"/>
              </a:spcAft>
              <a:buSzPts val="3500"/>
              <a:buFont typeface="Farro"/>
              <a:buNone/>
              <a:defRPr>
                <a:latin typeface="Farro"/>
                <a:ea typeface="Farro"/>
                <a:cs typeface="Farro"/>
                <a:sym typeface="Farro"/>
              </a:defRPr>
            </a:lvl5pPr>
            <a:lvl6pPr lvl="5" rtl="0">
              <a:spcBef>
                <a:spcPts val="0"/>
              </a:spcBef>
              <a:spcAft>
                <a:spcPts val="0"/>
              </a:spcAft>
              <a:buSzPts val="3500"/>
              <a:buFont typeface="Farro"/>
              <a:buNone/>
              <a:defRPr>
                <a:latin typeface="Farro"/>
                <a:ea typeface="Farro"/>
                <a:cs typeface="Farro"/>
                <a:sym typeface="Farro"/>
              </a:defRPr>
            </a:lvl6pPr>
            <a:lvl7pPr lvl="6" rtl="0">
              <a:spcBef>
                <a:spcPts val="0"/>
              </a:spcBef>
              <a:spcAft>
                <a:spcPts val="0"/>
              </a:spcAft>
              <a:buSzPts val="3500"/>
              <a:buFont typeface="Farro"/>
              <a:buNone/>
              <a:defRPr>
                <a:latin typeface="Farro"/>
                <a:ea typeface="Farro"/>
                <a:cs typeface="Farro"/>
                <a:sym typeface="Farro"/>
              </a:defRPr>
            </a:lvl7pPr>
            <a:lvl8pPr lvl="7" rtl="0">
              <a:spcBef>
                <a:spcPts val="0"/>
              </a:spcBef>
              <a:spcAft>
                <a:spcPts val="0"/>
              </a:spcAft>
              <a:buSzPts val="3500"/>
              <a:buFont typeface="Farro"/>
              <a:buNone/>
              <a:defRPr>
                <a:latin typeface="Farro"/>
                <a:ea typeface="Farro"/>
                <a:cs typeface="Farro"/>
                <a:sym typeface="Farro"/>
              </a:defRPr>
            </a:lvl8pPr>
            <a:lvl9pPr lvl="8" rtl="0">
              <a:spcBef>
                <a:spcPts val="0"/>
              </a:spcBef>
              <a:spcAft>
                <a:spcPts val="0"/>
              </a:spcAft>
              <a:buSzPts val="3500"/>
              <a:buFont typeface="Farro"/>
              <a:buNone/>
              <a:defRPr>
                <a:latin typeface="Farro"/>
                <a:ea typeface="Farro"/>
                <a:cs typeface="Farro"/>
                <a:sym typeface="Farro"/>
              </a:defRPr>
            </a:lvl9pPr>
          </a:lstStyle>
          <a:p>
            <a:r>
              <a:rPr lang="en-US"/>
              <a:t>Click to edit Master title style</a:t>
            </a:r>
            <a:endParaRPr/>
          </a:p>
        </p:txBody>
      </p:sp>
      <p:sp>
        <p:nvSpPr>
          <p:cNvPr id="126" name="Google Shape;126;p13"/>
          <p:cNvSpPr txBox="1">
            <a:spLocks noGrp="1"/>
          </p:cNvSpPr>
          <p:nvPr>
            <p:ph type="subTitle" idx="1"/>
          </p:nvPr>
        </p:nvSpPr>
        <p:spPr>
          <a:xfrm>
            <a:off x="960000" y="29456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7" name="Google Shape;127;p13"/>
          <p:cNvSpPr txBox="1">
            <a:spLocks noGrp="1"/>
          </p:cNvSpPr>
          <p:nvPr>
            <p:ph type="subTitle" idx="2"/>
          </p:nvPr>
        </p:nvSpPr>
        <p:spPr>
          <a:xfrm>
            <a:off x="4486633" y="29456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8" name="Google Shape;128;p13"/>
          <p:cNvSpPr txBox="1">
            <a:spLocks noGrp="1"/>
          </p:cNvSpPr>
          <p:nvPr>
            <p:ph type="subTitle" idx="3"/>
          </p:nvPr>
        </p:nvSpPr>
        <p:spPr>
          <a:xfrm>
            <a:off x="960000" y="5358103"/>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9" name="Google Shape;129;p13"/>
          <p:cNvSpPr txBox="1">
            <a:spLocks noGrp="1"/>
          </p:cNvSpPr>
          <p:nvPr>
            <p:ph type="subTitle" idx="4"/>
          </p:nvPr>
        </p:nvSpPr>
        <p:spPr>
          <a:xfrm>
            <a:off x="4486633" y="53581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0" name="Google Shape;130;p13"/>
          <p:cNvSpPr txBox="1">
            <a:spLocks noGrp="1"/>
          </p:cNvSpPr>
          <p:nvPr>
            <p:ph type="subTitle" idx="5"/>
          </p:nvPr>
        </p:nvSpPr>
        <p:spPr>
          <a:xfrm>
            <a:off x="8013267" y="29456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1" name="Google Shape;131;p13"/>
          <p:cNvSpPr txBox="1">
            <a:spLocks noGrp="1"/>
          </p:cNvSpPr>
          <p:nvPr>
            <p:ph type="subTitle" idx="6"/>
          </p:nvPr>
        </p:nvSpPr>
        <p:spPr>
          <a:xfrm>
            <a:off x="8013267" y="5358103"/>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2" name="Google Shape;132;p13"/>
          <p:cNvSpPr txBox="1">
            <a:spLocks noGrp="1"/>
          </p:cNvSpPr>
          <p:nvPr>
            <p:ph type="title" idx="7" hasCustomPrompt="1"/>
          </p:nvPr>
        </p:nvSpPr>
        <p:spPr>
          <a:xfrm>
            <a:off x="2079600" y="1623503"/>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3" name="Google Shape;133;p13"/>
          <p:cNvSpPr txBox="1">
            <a:spLocks noGrp="1"/>
          </p:cNvSpPr>
          <p:nvPr>
            <p:ph type="title" idx="8" hasCustomPrompt="1"/>
          </p:nvPr>
        </p:nvSpPr>
        <p:spPr>
          <a:xfrm>
            <a:off x="2079600" y="4035372"/>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4" name="Google Shape;134;p13"/>
          <p:cNvSpPr txBox="1">
            <a:spLocks noGrp="1"/>
          </p:cNvSpPr>
          <p:nvPr>
            <p:ph type="title" idx="9" hasCustomPrompt="1"/>
          </p:nvPr>
        </p:nvSpPr>
        <p:spPr>
          <a:xfrm>
            <a:off x="5606233" y="1623503"/>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5" name="Google Shape;135;p13"/>
          <p:cNvSpPr txBox="1">
            <a:spLocks noGrp="1"/>
          </p:cNvSpPr>
          <p:nvPr>
            <p:ph type="title" idx="13" hasCustomPrompt="1"/>
          </p:nvPr>
        </p:nvSpPr>
        <p:spPr>
          <a:xfrm>
            <a:off x="5606233" y="4035372"/>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6" name="Google Shape;136;p13"/>
          <p:cNvSpPr txBox="1">
            <a:spLocks noGrp="1"/>
          </p:cNvSpPr>
          <p:nvPr>
            <p:ph type="title" idx="14" hasCustomPrompt="1"/>
          </p:nvPr>
        </p:nvSpPr>
        <p:spPr>
          <a:xfrm>
            <a:off x="9132867" y="1623503"/>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7" name="Google Shape;137;p13"/>
          <p:cNvSpPr txBox="1">
            <a:spLocks noGrp="1"/>
          </p:cNvSpPr>
          <p:nvPr>
            <p:ph type="title" idx="15" hasCustomPrompt="1"/>
          </p:nvPr>
        </p:nvSpPr>
        <p:spPr>
          <a:xfrm>
            <a:off x="9132867" y="4035372"/>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8" name="Google Shape;138;p13"/>
          <p:cNvSpPr txBox="1">
            <a:spLocks noGrp="1"/>
          </p:cNvSpPr>
          <p:nvPr>
            <p:ph type="subTitle" idx="16"/>
          </p:nvPr>
        </p:nvSpPr>
        <p:spPr>
          <a:xfrm>
            <a:off x="960000" y="2604667"/>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39" name="Google Shape;139;p13"/>
          <p:cNvSpPr txBox="1">
            <a:spLocks noGrp="1"/>
          </p:cNvSpPr>
          <p:nvPr>
            <p:ph type="subTitle" idx="17"/>
          </p:nvPr>
        </p:nvSpPr>
        <p:spPr>
          <a:xfrm>
            <a:off x="4486633" y="2604667"/>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0" name="Google Shape;140;p13"/>
          <p:cNvSpPr txBox="1">
            <a:spLocks noGrp="1"/>
          </p:cNvSpPr>
          <p:nvPr>
            <p:ph type="subTitle" idx="18"/>
          </p:nvPr>
        </p:nvSpPr>
        <p:spPr>
          <a:xfrm>
            <a:off x="8013267" y="2604667"/>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1" name="Google Shape;141;p13"/>
          <p:cNvSpPr txBox="1">
            <a:spLocks noGrp="1"/>
          </p:cNvSpPr>
          <p:nvPr>
            <p:ph type="subTitle" idx="19"/>
          </p:nvPr>
        </p:nvSpPr>
        <p:spPr>
          <a:xfrm>
            <a:off x="960000" y="5016496"/>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2" name="Google Shape;142;p13"/>
          <p:cNvSpPr txBox="1">
            <a:spLocks noGrp="1"/>
          </p:cNvSpPr>
          <p:nvPr>
            <p:ph type="subTitle" idx="20"/>
          </p:nvPr>
        </p:nvSpPr>
        <p:spPr>
          <a:xfrm>
            <a:off x="4486633" y="5016500"/>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3" name="Google Shape;143;p13"/>
          <p:cNvSpPr txBox="1">
            <a:spLocks noGrp="1"/>
          </p:cNvSpPr>
          <p:nvPr>
            <p:ph type="subTitle" idx="21"/>
          </p:nvPr>
        </p:nvSpPr>
        <p:spPr>
          <a:xfrm>
            <a:off x="8013267" y="5016496"/>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2862987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bg>
      <p:bgPr>
        <a:solidFill>
          <a:schemeClr val="lt2"/>
        </a:solidFill>
        <a:effectLst/>
      </p:bgPr>
    </p:bg>
    <p:spTree>
      <p:nvGrpSpPr>
        <p:cNvPr id="1" name="Shape 144"/>
        <p:cNvGrpSpPr/>
        <p:nvPr/>
      </p:nvGrpSpPr>
      <p:grpSpPr>
        <a:xfrm>
          <a:off x="0" y="0"/>
          <a:ext cx="0" cy="0"/>
          <a:chOff x="0" y="0"/>
          <a:chExt cx="0" cy="0"/>
        </a:xfrm>
      </p:grpSpPr>
      <p:sp>
        <p:nvSpPr>
          <p:cNvPr id="145" name="Google Shape;145;p1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6" name="Google Shape;146;p14"/>
          <p:cNvSpPr txBox="1">
            <a:spLocks noGrp="1"/>
          </p:cNvSpPr>
          <p:nvPr>
            <p:ph type="subTitle" idx="1"/>
          </p:nvPr>
        </p:nvSpPr>
        <p:spPr>
          <a:xfrm>
            <a:off x="6533451" y="3286836"/>
            <a:ext cx="3340800" cy="188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47" name="Google Shape;147;p14"/>
          <p:cNvSpPr txBox="1">
            <a:spLocks noGrp="1"/>
          </p:cNvSpPr>
          <p:nvPr>
            <p:ph type="subTitle" idx="2"/>
          </p:nvPr>
        </p:nvSpPr>
        <p:spPr>
          <a:xfrm>
            <a:off x="2110917" y="3286836"/>
            <a:ext cx="3340800" cy="191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48" name="Google Shape;148;p14"/>
          <p:cNvSpPr txBox="1">
            <a:spLocks noGrp="1"/>
          </p:cNvSpPr>
          <p:nvPr>
            <p:ph type="subTitle" idx="3"/>
          </p:nvPr>
        </p:nvSpPr>
        <p:spPr>
          <a:xfrm>
            <a:off x="6533451" y="2523233"/>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9" name="Google Shape;149;p14"/>
          <p:cNvSpPr txBox="1">
            <a:spLocks noGrp="1"/>
          </p:cNvSpPr>
          <p:nvPr>
            <p:ph type="subTitle" idx="4"/>
          </p:nvPr>
        </p:nvSpPr>
        <p:spPr>
          <a:xfrm>
            <a:off x="2110917" y="2523233"/>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grpSp>
        <p:nvGrpSpPr>
          <p:cNvPr id="150" name="Google Shape;150;p14"/>
          <p:cNvGrpSpPr/>
          <p:nvPr/>
        </p:nvGrpSpPr>
        <p:grpSpPr>
          <a:xfrm>
            <a:off x="210733" y="5101"/>
            <a:ext cx="11997200" cy="6934233"/>
            <a:chOff x="158050" y="3825"/>
            <a:chExt cx="8997900" cy="5200675"/>
          </a:xfrm>
        </p:grpSpPr>
        <p:grpSp>
          <p:nvGrpSpPr>
            <p:cNvPr id="151" name="Google Shape;151;p14"/>
            <p:cNvGrpSpPr/>
            <p:nvPr/>
          </p:nvGrpSpPr>
          <p:grpSpPr>
            <a:xfrm>
              <a:off x="158050" y="3825"/>
              <a:ext cx="8997900" cy="5124600"/>
              <a:chOff x="158050" y="3825"/>
              <a:chExt cx="8997900" cy="5124600"/>
            </a:xfrm>
          </p:grpSpPr>
          <p:cxnSp>
            <p:nvCxnSpPr>
              <p:cNvPr id="152" name="Google Shape;152;p14"/>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153" name="Google Shape;153;p14"/>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54" name="Google Shape;154;p14"/>
            <p:cNvGrpSpPr/>
            <p:nvPr/>
          </p:nvGrpSpPr>
          <p:grpSpPr>
            <a:xfrm>
              <a:off x="8095550" y="4226500"/>
              <a:ext cx="890400" cy="978000"/>
              <a:chOff x="8095550" y="4226500"/>
              <a:chExt cx="890400" cy="978000"/>
            </a:xfrm>
          </p:grpSpPr>
          <p:cxnSp>
            <p:nvCxnSpPr>
              <p:cNvPr id="155" name="Google Shape;155;p14"/>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14"/>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157" name="Google Shape;157;p14"/>
          <p:cNvGrpSpPr/>
          <p:nvPr/>
        </p:nvGrpSpPr>
        <p:grpSpPr>
          <a:xfrm rot="5400000">
            <a:off x="11433601" y="5893486"/>
            <a:ext cx="606951" cy="207212"/>
            <a:chOff x="6309490" y="2180542"/>
            <a:chExt cx="626497" cy="213885"/>
          </a:xfrm>
        </p:grpSpPr>
        <p:sp>
          <p:nvSpPr>
            <p:cNvPr id="158" name="Google Shape;158;p14"/>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14"/>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14"/>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409012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3">
  <p:cSld name="Title and text 3">
    <p:bg>
      <p:bgPr>
        <a:solidFill>
          <a:schemeClr val="lt2"/>
        </a:solidFill>
        <a:effectLst/>
      </p:bgPr>
    </p:bg>
    <p:spTree>
      <p:nvGrpSpPr>
        <p:cNvPr id="1" name="Shape 161"/>
        <p:cNvGrpSpPr/>
        <p:nvPr/>
      </p:nvGrpSpPr>
      <p:grpSpPr>
        <a:xfrm>
          <a:off x="0" y="0"/>
          <a:ext cx="0" cy="0"/>
          <a:chOff x="0" y="0"/>
          <a:chExt cx="0" cy="0"/>
        </a:xfrm>
      </p:grpSpPr>
      <p:grpSp>
        <p:nvGrpSpPr>
          <p:cNvPr id="162" name="Google Shape;162;p15"/>
          <p:cNvGrpSpPr/>
          <p:nvPr/>
        </p:nvGrpSpPr>
        <p:grpSpPr>
          <a:xfrm>
            <a:off x="-33462" y="-79567"/>
            <a:ext cx="12286395" cy="7002000"/>
            <a:chOff x="-25096" y="-59675"/>
            <a:chExt cx="9214796" cy="5251500"/>
          </a:xfrm>
        </p:grpSpPr>
        <p:sp>
          <p:nvSpPr>
            <p:cNvPr id="163" name="Google Shape;163;p15"/>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15"/>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5" name="Google Shape;165;p15"/>
          <p:cNvGrpSpPr/>
          <p:nvPr/>
        </p:nvGrpSpPr>
        <p:grpSpPr>
          <a:xfrm flipH="1">
            <a:off x="10488685" y="414759"/>
            <a:ext cx="606951" cy="207212"/>
            <a:chOff x="6309490" y="2180542"/>
            <a:chExt cx="626497" cy="213885"/>
          </a:xfrm>
        </p:grpSpPr>
        <p:sp>
          <p:nvSpPr>
            <p:cNvPr id="166" name="Google Shape;166;p15"/>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15"/>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15"/>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9" name="Google Shape;169;p15"/>
          <p:cNvSpPr txBox="1">
            <a:spLocks noGrp="1"/>
          </p:cNvSpPr>
          <p:nvPr>
            <p:ph type="title"/>
          </p:nvPr>
        </p:nvSpPr>
        <p:spPr>
          <a:xfrm>
            <a:off x="1514533" y="593367"/>
            <a:ext cx="57264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70" name="Google Shape;170;p15"/>
          <p:cNvSpPr txBox="1">
            <a:spLocks noGrp="1"/>
          </p:cNvSpPr>
          <p:nvPr>
            <p:ph type="subTitle" idx="1"/>
          </p:nvPr>
        </p:nvSpPr>
        <p:spPr>
          <a:xfrm>
            <a:off x="1514533" y="2267067"/>
            <a:ext cx="5726400" cy="306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Tree>
    <p:extLst>
      <p:ext uri="{BB962C8B-B14F-4D97-AF65-F5344CB8AC3E}">
        <p14:creationId xmlns:p14="http://schemas.microsoft.com/office/powerpoint/2010/main" val="2594765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2"/>
        </a:solidFill>
        <a:effectLst/>
      </p:bgPr>
    </p:bg>
    <p:spTree>
      <p:nvGrpSpPr>
        <p:cNvPr id="1" name="Shape 171"/>
        <p:cNvGrpSpPr/>
        <p:nvPr/>
      </p:nvGrpSpPr>
      <p:grpSpPr>
        <a:xfrm>
          <a:off x="0" y="0"/>
          <a:ext cx="0" cy="0"/>
          <a:chOff x="0" y="0"/>
          <a:chExt cx="0" cy="0"/>
        </a:xfrm>
      </p:grpSpPr>
      <p:grpSp>
        <p:nvGrpSpPr>
          <p:cNvPr id="172" name="Google Shape;172;p16"/>
          <p:cNvGrpSpPr/>
          <p:nvPr/>
        </p:nvGrpSpPr>
        <p:grpSpPr>
          <a:xfrm>
            <a:off x="-33462" y="-79567"/>
            <a:ext cx="12286395" cy="7002000"/>
            <a:chOff x="-25096" y="-59675"/>
            <a:chExt cx="9214796" cy="5251500"/>
          </a:xfrm>
        </p:grpSpPr>
        <p:sp>
          <p:nvSpPr>
            <p:cNvPr id="173" name="Google Shape;173;p16"/>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16"/>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5" name="Google Shape;175;p16"/>
          <p:cNvSpPr txBox="1">
            <a:spLocks noGrp="1"/>
          </p:cNvSpPr>
          <p:nvPr>
            <p:ph type="title"/>
          </p:nvPr>
        </p:nvSpPr>
        <p:spPr>
          <a:xfrm>
            <a:off x="1514533" y="3930533"/>
            <a:ext cx="8399200" cy="882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76" name="Google Shape;176;p16"/>
          <p:cNvSpPr txBox="1">
            <a:spLocks noGrp="1"/>
          </p:cNvSpPr>
          <p:nvPr>
            <p:ph type="subTitle" idx="1"/>
          </p:nvPr>
        </p:nvSpPr>
        <p:spPr>
          <a:xfrm>
            <a:off x="1514533" y="1501900"/>
            <a:ext cx="8399200" cy="2484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Tree>
    <p:extLst>
      <p:ext uri="{BB962C8B-B14F-4D97-AF65-F5344CB8AC3E}">
        <p14:creationId xmlns:p14="http://schemas.microsoft.com/office/powerpoint/2010/main" val="634306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77"/>
        <p:cNvGrpSpPr/>
        <p:nvPr/>
      </p:nvGrpSpPr>
      <p:grpSpPr>
        <a:xfrm>
          <a:off x="0" y="0"/>
          <a:ext cx="0" cy="0"/>
          <a:chOff x="0" y="0"/>
          <a:chExt cx="0" cy="0"/>
        </a:xfrm>
      </p:grpSpPr>
      <p:grpSp>
        <p:nvGrpSpPr>
          <p:cNvPr id="178" name="Google Shape;178;p17"/>
          <p:cNvGrpSpPr/>
          <p:nvPr/>
        </p:nvGrpSpPr>
        <p:grpSpPr>
          <a:xfrm>
            <a:off x="964369" y="5100"/>
            <a:ext cx="10276665" cy="6832800"/>
            <a:chOff x="723276" y="3825"/>
            <a:chExt cx="7707499" cy="5124600"/>
          </a:xfrm>
        </p:grpSpPr>
        <p:cxnSp>
          <p:nvCxnSpPr>
            <p:cNvPr id="179" name="Google Shape;179;p17"/>
            <p:cNvCxnSpPr/>
            <p:nvPr/>
          </p:nvCxnSpPr>
          <p:spPr>
            <a:xfrm>
              <a:off x="723276"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180" name="Google Shape;180;p17"/>
            <p:cNvCxnSpPr/>
            <p:nvPr/>
          </p:nvCxnSpPr>
          <p:spPr>
            <a:xfrm>
              <a:off x="84307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81" name="Google Shape;181;p17"/>
          <p:cNvGrpSpPr/>
          <p:nvPr/>
        </p:nvGrpSpPr>
        <p:grpSpPr>
          <a:xfrm flipH="1">
            <a:off x="10488685" y="414759"/>
            <a:ext cx="606951" cy="207212"/>
            <a:chOff x="6309490" y="2180542"/>
            <a:chExt cx="626497" cy="213885"/>
          </a:xfrm>
        </p:grpSpPr>
        <p:sp>
          <p:nvSpPr>
            <p:cNvPr id="182" name="Google Shape;182;p17"/>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17"/>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17"/>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5" name="Google Shape;185;p17"/>
          <p:cNvSpPr txBox="1">
            <a:spLocks noGrp="1"/>
          </p:cNvSpPr>
          <p:nvPr>
            <p:ph type="title"/>
          </p:nvPr>
        </p:nvSpPr>
        <p:spPr>
          <a:xfrm>
            <a:off x="1521867" y="1114900"/>
            <a:ext cx="4692800" cy="3061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86" name="Google Shape;186;p17"/>
          <p:cNvSpPr txBox="1">
            <a:spLocks noGrp="1"/>
          </p:cNvSpPr>
          <p:nvPr>
            <p:ph type="subTitle" idx="1"/>
          </p:nvPr>
        </p:nvSpPr>
        <p:spPr>
          <a:xfrm>
            <a:off x="1521867" y="4176300"/>
            <a:ext cx="4692800" cy="1488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87" name="Google Shape;187;p17"/>
          <p:cNvSpPr>
            <a:spLocks noGrp="1"/>
          </p:cNvSpPr>
          <p:nvPr>
            <p:ph type="pic" idx="2"/>
          </p:nvPr>
        </p:nvSpPr>
        <p:spPr>
          <a:xfrm>
            <a:off x="7030800" y="711817"/>
            <a:ext cx="3880000" cy="5434400"/>
          </a:xfrm>
          <a:prstGeom prst="rect">
            <a:avLst/>
          </a:prstGeom>
          <a:noFill/>
          <a:ln>
            <a:noFill/>
          </a:ln>
        </p:spPr>
        <p:txBody>
          <a:bodyPr/>
          <a:lstStyle/>
          <a:p>
            <a:endParaRPr lang="en-US"/>
          </a:p>
        </p:txBody>
      </p:sp>
    </p:spTree>
    <p:extLst>
      <p:ext uri="{BB962C8B-B14F-4D97-AF65-F5344CB8AC3E}">
        <p14:creationId xmlns:p14="http://schemas.microsoft.com/office/powerpoint/2010/main" val="1535724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88"/>
        <p:cNvGrpSpPr/>
        <p:nvPr/>
      </p:nvGrpSpPr>
      <p:grpSpPr>
        <a:xfrm>
          <a:off x="0" y="0"/>
          <a:ext cx="0" cy="0"/>
          <a:chOff x="0" y="0"/>
          <a:chExt cx="0" cy="0"/>
        </a:xfrm>
      </p:grpSpPr>
      <p:grpSp>
        <p:nvGrpSpPr>
          <p:cNvPr id="189" name="Google Shape;189;p18"/>
          <p:cNvGrpSpPr/>
          <p:nvPr/>
        </p:nvGrpSpPr>
        <p:grpSpPr>
          <a:xfrm>
            <a:off x="210733" y="5101"/>
            <a:ext cx="11997200" cy="6934233"/>
            <a:chOff x="158050" y="3825"/>
            <a:chExt cx="8997900" cy="5200675"/>
          </a:xfrm>
        </p:grpSpPr>
        <p:grpSp>
          <p:nvGrpSpPr>
            <p:cNvPr id="190" name="Google Shape;190;p18"/>
            <p:cNvGrpSpPr/>
            <p:nvPr/>
          </p:nvGrpSpPr>
          <p:grpSpPr>
            <a:xfrm>
              <a:off x="158050" y="3825"/>
              <a:ext cx="8997900" cy="5124600"/>
              <a:chOff x="158050" y="3825"/>
              <a:chExt cx="8997900" cy="5124600"/>
            </a:xfrm>
          </p:grpSpPr>
          <p:cxnSp>
            <p:nvCxnSpPr>
              <p:cNvPr id="191" name="Google Shape;191;p18"/>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192" name="Google Shape;192;p18"/>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93" name="Google Shape;193;p18"/>
            <p:cNvGrpSpPr/>
            <p:nvPr/>
          </p:nvGrpSpPr>
          <p:grpSpPr>
            <a:xfrm>
              <a:off x="8095550" y="4226500"/>
              <a:ext cx="890400" cy="978000"/>
              <a:chOff x="8095550" y="4226500"/>
              <a:chExt cx="890400" cy="978000"/>
            </a:xfrm>
          </p:grpSpPr>
          <p:cxnSp>
            <p:nvCxnSpPr>
              <p:cNvPr id="194" name="Google Shape;194;p18"/>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195" name="Google Shape;195;p18"/>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196" name="Google Shape;196;p18"/>
          <p:cNvGrpSpPr/>
          <p:nvPr/>
        </p:nvGrpSpPr>
        <p:grpSpPr>
          <a:xfrm rot="5400000">
            <a:off x="11433601" y="5893486"/>
            <a:ext cx="606951" cy="207212"/>
            <a:chOff x="6309490" y="2180542"/>
            <a:chExt cx="626497" cy="213885"/>
          </a:xfrm>
        </p:grpSpPr>
        <p:sp>
          <p:nvSpPr>
            <p:cNvPr id="197" name="Google Shape;197;p18"/>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 name="Google Shape;198;p18"/>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 name="Google Shape;199;p18"/>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0" name="Google Shape;200;p18"/>
          <p:cNvSpPr txBox="1">
            <a:spLocks noGrp="1"/>
          </p:cNvSpPr>
          <p:nvPr>
            <p:ph type="title"/>
          </p:nvPr>
        </p:nvSpPr>
        <p:spPr>
          <a:xfrm>
            <a:off x="1514533" y="2725867"/>
            <a:ext cx="4350000" cy="875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01" name="Google Shape;201;p18"/>
          <p:cNvSpPr txBox="1">
            <a:spLocks noGrp="1"/>
          </p:cNvSpPr>
          <p:nvPr>
            <p:ph type="subTitle" idx="1"/>
          </p:nvPr>
        </p:nvSpPr>
        <p:spPr>
          <a:xfrm>
            <a:off x="1514533" y="3601000"/>
            <a:ext cx="4350000" cy="107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733467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202"/>
        <p:cNvGrpSpPr/>
        <p:nvPr/>
      </p:nvGrpSpPr>
      <p:grpSpPr>
        <a:xfrm>
          <a:off x="0" y="0"/>
          <a:ext cx="0" cy="0"/>
          <a:chOff x="0" y="0"/>
          <a:chExt cx="0" cy="0"/>
        </a:xfrm>
      </p:grpSpPr>
      <p:grpSp>
        <p:nvGrpSpPr>
          <p:cNvPr id="203" name="Google Shape;203;p19"/>
          <p:cNvGrpSpPr/>
          <p:nvPr/>
        </p:nvGrpSpPr>
        <p:grpSpPr>
          <a:xfrm>
            <a:off x="-17833" y="5100"/>
            <a:ext cx="12208767" cy="7036000"/>
            <a:chOff x="-13375" y="3825"/>
            <a:chExt cx="9156575" cy="5277000"/>
          </a:xfrm>
        </p:grpSpPr>
        <p:grpSp>
          <p:nvGrpSpPr>
            <p:cNvPr id="204" name="Google Shape;204;p19"/>
            <p:cNvGrpSpPr/>
            <p:nvPr/>
          </p:nvGrpSpPr>
          <p:grpSpPr>
            <a:xfrm>
              <a:off x="-13375" y="3825"/>
              <a:ext cx="4584600" cy="5124600"/>
              <a:chOff x="-13375" y="3825"/>
              <a:chExt cx="4584600" cy="5124600"/>
            </a:xfrm>
          </p:grpSpPr>
          <p:cxnSp>
            <p:nvCxnSpPr>
              <p:cNvPr id="205" name="Google Shape;205;p19"/>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06" name="Google Shape;206;p19"/>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207" name="Google Shape;207;p19"/>
            <p:cNvGrpSpPr/>
            <p:nvPr/>
          </p:nvGrpSpPr>
          <p:grpSpPr>
            <a:xfrm>
              <a:off x="4596700" y="156225"/>
              <a:ext cx="4546500" cy="5124600"/>
              <a:chOff x="4596700" y="156225"/>
              <a:chExt cx="4546500" cy="5124600"/>
            </a:xfrm>
          </p:grpSpPr>
          <p:cxnSp>
            <p:nvCxnSpPr>
              <p:cNvPr id="208" name="Google Shape;208;p19"/>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09" name="Google Shape;209;p19"/>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sp>
        <p:nvSpPr>
          <p:cNvPr id="210" name="Google Shape;210;p19"/>
          <p:cNvSpPr txBox="1">
            <a:spLocks noGrp="1"/>
          </p:cNvSpPr>
          <p:nvPr>
            <p:ph type="title"/>
          </p:nvPr>
        </p:nvSpPr>
        <p:spPr>
          <a:xfrm>
            <a:off x="6323667" y="2001600"/>
            <a:ext cx="4434400" cy="14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11" name="Google Shape;211;p19"/>
          <p:cNvSpPr txBox="1">
            <a:spLocks noGrp="1"/>
          </p:cNvSpPr>
          <p:nvPr>
            <p:ph type="subTitle" idx="1"/>
          </p:nvPr>
        </p:nvSpPr>
        <p:spPr>
          <a:xfrm>
            <a:off x="6323877" y="3416000"/>
            <a:ext cx="4434400" cy="1440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214301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Title and text 4">
    <p:bg>
      <p:bgPr>
        <a:solidFill>
          <a:schemeClr val="lt2"/>
        </a:solidFill>
        <a:effectLst/>
      </p:bgPr>
    </p:bg>
    <p:spTree>
      <p:nvGrpSpPr>
        <p:cNvPr id="1" name="Shape 212"/>
        <p:cNvGrpSpPr/>
        <p:nvPr/>
      </p:nvGrpSpPr>
      <p:grpSpPr>
        <a:xfrm>
          <a:off x="0" y="0"/>
          <a:ext cx="0" cy="0"/>
          <a:chOff x="0" y="0"/>
          <a:chExt cx="0" cy="0"/>
        </a:xfrm>
      </p:grpSpPr>
      <p:grpSp>
        <p:nvGrpSpPr>
          <p:cNvPr id="213" name="Google Shape;213;p20"/>
          <p:cNvGrpSpPr/>
          <p:nvPr/>
        </p:nvGrpSpPr>
        <p:grpSpPr>
          <a:xfrm>
            <a:off x="210733" y="5101"/>
            <a:ext cx="11997200" cy="6934233"/>
            <a:chOff x="158050" y="3825"/>
            <a:chExt cx="8997900" cy="5200675"/>
          </a:xfrm>
        </p:grpSpPr>
        <p:grpSp>
          <p:nvGrpSpPr>
            <p:cNvPr id="214" name="Google Shape;214;p20"/>
            <p:cNvGrpSpPr/>
            <p:nvPr/>
          </p:nvGrpSpPr>
          <p:grpSpPr>
            <a:xfrm>
              <a:off x="158050" y="3825"/>
              <a:ext cx="8997900" cy="5124600"/>
              <a:chOff x="158050" y="3825"/>
              <a:chExt cx="8997900" cy="5124600"/>
            </a:xfrm>
          </p:grpSpPr>
          <p:cxnSp>
            <p:nvCxnSpPr>
              <p:cNvPr id="215" name="Google Shape;215;p20"/>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16" name="Google Shape;216;p20"/>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17" name="Google Shape;217;p20"/>
            <p:cNvGrpSpPr/>
            <p:nvPr/>
          </p:nvGrpSpPr>
          <p:grpSpPr>
            <a:xfrm>
              <a:off x="8095550" y="4226500"/>
              <a:ext cx="890400" cy="978000"/>
              <a:chOff x="8095550" y="4226500"/>
              <a:chExt cx="890400" cy="978000"/>
            </a:xfrm>
          </p:grpSpPr>
          <p:cxnSp>
            <p:nvCxnSpPr>
              <p:cNvPr id="218" name="Google Shape;218;p20"/>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219" name="Google Shape;219;p20"/>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220" name="Google Shape;220;p20"/>
          <p:cNvGrpSpPr/>
          <p:nvPr/>
        </p:nvGrpSpPr>
        <p:grpSpPr>
          <a:xfrm rot="5400000">
            <a:off x="11433601" y="5893486"/>
            <a:ext cx="606951" cy="207212"/>
            <a:chOff x="6309490" y="2180542"/>
            <a:chExt cx="626497" cy="213885"/>
          </a:xfrm>
        </p:grpSpPr>
        <p:sp>
          <p:nvSpPr>
            <p:cNvPr id="221" name="Google Shape;221;p20"/>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20"/>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20"/>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24" name="Google Shape;224;p20"/>
          <p:cNvSpPr txBox="1">
            <a:spLocks noGrp="1"/>
          </p:cNvSpPr>
          <p:nvPr>
            <p:ph type="title"/>
          </p:nvPr>
        </p:nvSpPr>
        <p:spPr>
          <a:xfrm>
            <a:off x="1514533" y="1972100"/>
            <a:ext cx="3286800" cy="16288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25" name="Google Shape;225;p20"/>
          <p:cNvSpPr txBox="1">
            <a:spLocks noGrp="1"/>
          </p:cNvSpPr>
          <p:nvPr>
            <p:ph type="subTitle" idx="1"/>
          </p:nvPr>
        </p:nvSpPr>
        <p:spPr>
          <a:xfrm>
            <a:off x="1514533" y="3601000"/>
            <a:ext cx="3286800" cy="154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125986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lt2"/>
        </a:solidFill>
        <a:effectLst/>
      </p:bgPr>
    </p:bg>
    <p:spTree>
      <p:nvGrpSpPr>
        <p:cNvPr id="1" name="Shape 226"/>
        <p:cNvGrpSpPr/>
        <p:nvPr/>
      </p:nvGrpSpPr>
      <p:grpSpPr>
        <a:xfrm>
          <a:off x="0" y="0"/>
          <a:ext cx="0" cy="0"/>
          <a:chOff x="0" y="0"/>
          <a:chExt cx="0" cy="0"/>
        </a:xfrm>
      </p:grpSpPr>
      <p:grpSp>
        <p:nvGrpSpPr>
          <p:cNvPr id="227" name="Google Shape;227;p21"/>
          <p:cNvGrpSpPr/>
          <p:nvPr/>
        </p:nvGrpSpPr>
        <p:grpSpPr>
          <a:xfrm>
            <a:off x="210733" y="5100"/>
            <a:ext cx="11997200" cy="6832800"/>
            <a:chOff x="158050" y="3825"/>
            <a:chExt cx="8997900" cy="5124600"/>
          </a:xfrm>
        </p:grpSpPr>
        <p:cxnSp>
          <p:nvCxnSpPr>
            <p:cNvPr id="228" name="Google Shape;228;p21"/>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29" name="Google Shape;229;p21"/>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30" name="Google Shape;230;p21"/>
          <p:cNvGrpSpPr/>
          <p:nvPr/>
        </p:nvGrpSpPr>
        <p:grpSpPr>
          <a:xfrm>
            <a:off x="830634" y="117854"/>
            <a:ext cx="11055788" cy="6186577"/>
            <a:chOff x="622975" y="88390"/>
            <a:chExt cx="8291841" cy="4639933"/>
          </a:xfrm>
        </p:grpSpPr>
        <p:grpSp>
          <p:nvGrpSpPr>
            <p:cNvPr id="231" name="Google Shape;231;p21"/>
            <p:cNvGrpSpPr/>
            <p:nvPr/>
          </p:nvGrpSpPr>
          <p:grpSpPr>
            <a:xfrm rot="2700000">
              <a:off x="8377136" y="220941"/>
              <a:ext cx="502421" cy="307836"/>
              <a:chOff x="765450" y="1072075"/>
              <a:chExt cx="5757950" cy="3527925"/>
            </a:xfrm>
          </p:grpSpPr>
          <p:sp>
            <p:nvSpPr>
              <p:cNvPr id="232" name="Google Shape;232;p21"/>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21"/>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21"/>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21"/>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21"/>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21"/>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38" name="Google Shape;238;p21"/>
            <p:cNvGrpSpPr/>
            <p:nvPr/>
          </p:nvGrpSpPr>
          <p:grpSpPr>
            <a:xfrm>
              <a:off x="622975" y="4572914"/>
              <a:ext cx="455213" cy="155409"/>
              <a:chOff x="6309490" y="2180542"/>
              <a:chExt cx="626497" cy="213885"/>
            </a:xfrm>
          </p:grpSpPr>
          <p:sp>
            <p:nvSpPr>
              <p:cNvPr id="239" name="Google Shape;239;p21"/>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21"/>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21"/>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42" name="Google Shape;242;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3" name="Google Shape;243;p21"/>
          <p:cNvSpPr txBox="1">
            <a:spLocks noGrp="1"/>
          </p:cNvSpPr>
          <p:nvPr>
            <p:ph type="subTitle" idx="1"/>
          </p:nvPr>
        </p:nvSpPr>
        <p:spPr>
          <a:xfrm>
            <a:off x="6564117" y="4118364"/>
            <a:ext cx="3520000" cy="134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4" name="Google Shape;244;p21"/>
          <p:cNvSpPr txBox="1">
            <a:spLocks noGrp="1"/>
          </p:cNvSpPr>
          <p:nvPr>
            <p:ph type="subTitle" idx="2"/>
          </p:nvPr>
        </p:nvSpPr>
        <p:spPr>
          <a:xfrm>
            <a:off x="2107883" y="4118364"/>
            <a:ext cx="3520000" cy="134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5" name="Google Shape;245;p21"/>
          <p:cNvSpPr txBox="1">
            <a:spLocks noGrp="1"/>
          </p:cNvSpPr>
          <p:nvPr>
            <p:ph type="subTitle" idx="3"/>
          </p:nvPr>
        </p:nvSpPr>
        <p:spPr>
          <a:xfrm>
            <a:off x="2107883" y="3576367"/>
            <a:ext cx="3520000" cy="74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246" name="Google Shape;246;p21"/>
          <p:cNvSpPr txBox="1">
            <a:spLocks noGrp="1"/>
          </p:cNvSpPr>
          <p:nvPr>
            <p:ph type="subTitle" idx="4"/>
          </p:nvPr>
        </p:nvSpPr>
        <p:spPr>
          <a:xfrm>
            <a:off x="6564117" y="3576367"/>
            <a:ext cx="3520000" cy="74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2505097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bg>
      <p:bgPr>
        <a:solidFill>
          <a:schemeClr val="lt2"/>
        </a:solidFill>
        <a:effectLst/>
      </p:bgPr>
    </p:bg>
    <p:spTree>
      <p:nvGrpSpPr>
        <p:cNvPr id="1" name="Shape 247"/>
        <p:cNvGrpSpPr/>
        <p:nvPr/>
      </p:nvGrpSpPr>
      <p:grpSpPr>
        <a:xfrm>
          <a:off x="0" y="0"/>
          <a:ext cx="0" cy="0"/>
          <a:chOff x="0" y="0"/>
          <a:chExt cx="0" cy="0"/>
        </a:xfrm>
      </p:grpSpPr>
      <p:grpSp>
        <p:nvGrpSpPr>
          <p:cNvPr id="248" name="Google Shape;248;p22"/>
          <p:cNvGrpSpPr/>
          <p:nvPr/>
        </p:nvGrpSpPr>
        <p:grpSpPr>
          <a:xfrm>
            <a:off x="655300" y="5100"/>
            <a:ext cx="10881400" cy="6832800"/>
            <a:chOff x="491475" y="3825"/>
            <a:chExt cx="8161050" cy="5124600"/>
          </a:xfrm>
        </p:grpSpPr>
        <p:cxnSp>
          <p:nvCxnSpPr>
            <p:cNvPr id="249" name="Google Shape;249;p22"/>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50" name="Google Shape;250;p22"/>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51" name="Google Shape;251;p22"/>
          <p:cNvGrpSpPr/>
          <p:nvPr/>
        </p:nvGrpSpPr>
        <p:grpSpPr>
          <a:xfrm>
            <a:off x="10728167" y="6097219"/>
            <a:ext cx="606951" cy="207212"/>
            <a:chOff x="6309490" y="2180542"/>
            <a:chExt cx="626497" cy="213885"/>
          </a:xfrm>
        </p:grpSpPr>
        <p:sp>
          <p:nvSpPr>
            <p:cNvPr id="252" name="Google Shape;252;p22"/>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22"/>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22"/>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5" name="Google Shape;255;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56" name="Google Shape;256;p22"/>
          <p:cNvSpPr txBox="1">
            <a:spLocks noGrp="1"/>
          </p:cNvSpPr>
          <p:nvPr>
            <p:ph type="subTitle" idx="1"/>
          </p:nvPr>
        </p:nvSpPr>
        <p:spPr>
          <a:xfrm>
            <a:off x="5756971" y="2436733"/>
            <a:ext cx="4338800" cy="301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57" name="Google Shape;257;p22"/>
          <p:cNvSpPr txBox="1">
            <a:spLocks noGrp="1"/>
          </p:cNvSpPr>
          <p:nvPr>
            <p:ph type="subTitle" idx="2"/>
          </p:nvPr>
        </p:nvSpPr>
        <p:spPr>
          <a:xfrm>
            <a:off x="960000" y="2436733"/>
            <a:ext cx="4338800" cy="301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57239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bg>
      <p:bgPr>
        <a:solidFill>
          <a:schemeClr val="lt2"/>
        </a:solidFill>
        <a:effectLst/>
      </p:bgPr>
    </p:bg>
    <p:spTree>
      <p:nvGrpSpPr>
        <p:cNvPr id="1" name="Shape 258"/>
        <p:cNvGrpSpPr/>
        <p:nvPr/>
      </p:nvGrpSpPr>
      <p:grpSpPr>
        <a:xfrm>
          <a:off x="0" y="0"/>
          <a:ext cx="0" cy="0"/>
          <a:chOff x="0" y="0"/>
          <a:chExt cx="0" cy="0"/>
        </a:xfrm>
      </p:grpSpPr>
      <p:grpSp>
        <p:nvGrpSpPr>
          <p:cNvPr id="259" name="Google Shape;259;p23"/>
          <p:cNvGrpSpPr/>
          <p:nvPr/>
        </p:nvGrpSpPr>
        <p:grpSpPr>
          <a:xfrm>
            <a:off x="210733" y="5100"/>
            <a:ext cx="11997200" cy="6832800"/>
            <a:chOff x="158050" y="3825"/>
            <a:chExt cx="8997900" cy="5124600"/>
          </a:xfrm>
        </p:grpSpPr>
        <p:cxnSp>
          <p:nvCxnSpPr>
            <p:cNvPr id="260" name="Google Shape;260;p23"/>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61" name="Google Shape;261;p23"/>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62" name="Google Shape;262;p23"/>
          <p:cNvGrpSpPr/>
          <p:nvPr/>
        </p:nvGrpSpPr>
        <p:grpSpPr>
          <a:xfrm>
            <a:off x="758967" y="117854"/>
            <a:ext cx="11127455" cy="6592977"/>
            <a:chOff x="569225" y="88390"/>
            <a:chExt cx="8345591" cy="4944733"/>
          </a:xfrm>
        </p:grpSpPr>
        <p:grpSp>
          <p:nvGrpSpPr>
            <p:cNvPr id="263" name="Google Shape;263;p23"/>
            <p:cNvGrpSpPr/>
            <p:nvPr/>
          </p:nvGrpSpPr>
          <p:grpSpPr>
            <a:xfrm>
              <a:off x="569225" y="4877714"/>
              <a:ext cx="455213" cy="155409"/>
              <a:chOff x="6309490" y="2180542"/>
              <a:chExt cx="626497" cy="213885"/>
            </a:xfrm>
          </p:grpSpPr>
          <p:sp>
            <p:nvSpPr>
              <p:cNvPr id="264" name="Google Shape;264;p23"/>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23"/>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23"/>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7" name="Google Shape;267;p23"/>
            <p:cNvGrpSpPr/>
            <p:nvPr/>
          </p:nvGrpSpPr>
          <p:grpSpPr>
            <a:xfrm rot="2700000">
              <a:off x="8377136" y="220941"/>
              <a:ext cx="502421" cy="307836"/>
              <a:chOff x="765450" y="1072075"/>
              <a:chExt cx="5757950" cy="3527925"/>
            </a:xfrm>
          </p:grpSpPr>
          <p:sp>
            <p:nvSpPr>
              <p:cNvPr id="268" name="Google Shape;268;p23"/>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23"/>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23"/>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23"/>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23"/>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23"/>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74" name="Google Shape;274;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75" name="Google Shape;275;p23"/>
          <p:cNvSpPr txBox="1">
            <a:spLocks noGrp="1"/>
          </p:cNvSpPr>
          <p:nvPr>
            <p:ph type="subTitle" idx="1"/>
          </p:nvPr>
        </p:nvSpPr>
        <p:spPr>
          <a:xfrm>
            <a:off x="6197567" y="1570800"/>
            <a:ext cx="5034400" cy="45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76" name="Google Shape;276;p23"/>
          <p:cNvSpPr txBox="1">
            <a:spLocks noGrp="1"/>
          </p:cNvSpPr>
          <p:nvPr>
            <p:ph type="subTitle" idx="2"/>
          </p:nvPr>
        </p:nvSpPr>
        <p:spPr>
          <a:xfrm>
            <a:off x="950967" y="1570800"/>
            <a:ext cx="5034400" cy="45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Tree>
    <p:extLst>
      <p:ext uri="{BB962C8B-B14F-4D97-AF65-F5344CB8AC3E}">
        <p14:creationId xmlns:p14="http://schemas.microsoft.com/office/powerpoint/2010/main" val="3817276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solidFill>
          <a:schemeClr val="lt2"/>
        </a:solidFill>
        <a:effectLst/>
      </p:bgPr>
    </p:bg>
    <p:spTree>
      <p:nvGrpSpPr>
        <p:cNvPr id="1" name="Shape 277"/>
        <p:cNvGrpSpPr/>
        <p:nvPr/>
      </p:nvGrpSpPr>
      <p:grpSpPr>
        <a:xfrm>
          <a:off x="0" y="0"/>
          <a:ext cx="0" cy="0"/>
          <a:chOff x="0" y="0"/>
          <a:chExt cx="0" cy="0"/>
        </a:xfrm>
      </p:grpSpPr>
      <p:grpSp>
        <p:nvGrpSpPr>
          <p:cNvPr id="278" name="Google Shape;278;p24"/>
          <p:cNvGrpSpPr/>
          <p:nvPr/>
        </p:nvGrpSpPr>
        <p:grpSpPr>
          <a:xfrm>
            <a:off x="655300" y="5100"/>
            <a:ext cx="10881400" cy="6832800"/>
            <a:chOff x="491475" y="3825"/>
            <a:chExt cx="8161050" cy="5124600"/>
          </a:xfrm>
        </p:grpSpPr>
        <p:cxnSp>
          <p:nvCxnSpPr>
            <p:cNvPr id="279" name="Google Shape;279;p24"/>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80" name="Google Shape;280;p24"/>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81" name="Google Shape;281;p24"/>
          <p:cNvGrpSpPr/>
          <p:nvPr/>
        </p:nvGrpSpPr>
        <p:grpSpPr>
          <a:xfrm>
            <a:off x="10819034" y="325019"/>
            <a:ext cx="606951" cy="207212"/>
            <a:chOff x="6309490" y="2180542"/>
            <a:chExt cx="626497" cy="213885"/>
          </a:xfrm>
        </p:grpSpPr>
        <p:sp>
          <p:nvSpPr>
            <p:cNvPr id="282" name="Google Shape;282;p24"/>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24"/>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24"/>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5" name="Google Shape;285;p2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86" name="Google Shape;286;p24"/>
          <p:cNvSpPr txBox="1">
            <a:spLocks noGrp="1"/>
          </p:cNvSpPr>
          <p:nvPr>
            <p:ph type="subTitle" idx="1"/>
          </p:nvPr>
        </p:nvSpPr>
        <p:spPr>
          <a:xfrm>
            <a:off x="1250125" y="4125333"/>
            <a:ext cx="3037200" cy="135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7" name="Google Shape;287;p24"/>
          <p:cNvSpPr txBox="1">
            <a:spLocks noGrp="1"/>
          </p:cNvSpPr>
          <p:nvPr>
            <p:ph type="subTitle" idx="2"/>
          </p:nvPr>
        </p:nvSpPr>
        <p:spPr>
          <a:xfrm>
            <a:off x="4577400" y="4125333"/>
            <a:ext cx="3037200" cy="135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8" name="Google Shape;288;p24"/>
          <p:cNvSpPr txBox="1">
            <a:spLocks noGrp="1"/>
          </p:cNvSpPr>
          <p:nvPr>
            <p:ph type="subTitle" idx="3"/>
          </p:nvPr>
        </p:nvSpPr>
        <p:spPr>
          <a:xfrm>
            <a:off x="7904675" y="4125333"/>
            <a:ext cx="3037200" cy="135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9" name="Google Shape;289;p24"/>
          <p:cNvSpPr txBox="1">
            <a:spLocks noGrp="1"/>
          </p:cNvSpPr>
          <p:nvPr>
            <p:ph type="subTitle" idx="4"/>
          </p:nvPr>
        </p:nvSpPr>
        <p:spPr>
          <a:xfrm>
            <a:off x="1250125" y="3346933"/>
            <a:ext cx="3037200" cy="88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290" name="Google Shape;290;p24"/>
          <p:cNvSpPr txBox="1">
            <a:spLocks noGrp="1"/>
          </p:cNvSpPr>
          <p:nvPr>
            <p:ph type="subTitle" idx="5"/>
          </p:nvPr>
        </p:nvSpPr>
        <p:spPr>
          <a:xfrm>
            <a:off x="4577400" y="3346933"/>
            <a:ext cx="3037200" cy="88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291" name="Google Shape;291;p24"/>
          <p:cNvSpPr txBox="1">
            <a:spLocks noGrp="1"/>
          </p:cNvSpPr>
          <p:nvPr>
            <p:ph type="subTitle" idx="6"/>
          </p:nvPr>
        </p:nvSpPr>
        <p:spPr>
          <a:xfrm>
            <a:off x="7904675" y="3346933"/>
            <a:ext cx="3037200" cy="88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cxnSp>
        <p:nvCxnSpPr>
          <p:cNvPr id="292" name="Google Shape;292;p24"/>
          <p:cNvCxnSpPr/>
          <p:nvPr/>
        </p:nvCxnSpPr>
        <p:spPr>
          <a:xfrm>
            <a:off x="306800" y="5884733"/>
            <a:ext cx="11578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868346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bg>
      <p:bgPr>
        <a:solidFill>
          <a:schemeClr val="lt2"/>
        </a:solidFill>
        <a:effectLst/>
      </p:bgPr>
    </p:bg>
    <p:spTree>
      <p:nvGrpSpPr>
        <p:cNvPr id="1" name="Shape 293"/>
        <p:cNvGrpSpPr/>
        <p:nvPr/>
      </p:nvGrpSpPr>
      <p:grpSpPr>
        <a:xfrm>
          <a:off x="0" y="0"/>
          <a:ext cx="0" cy="0"/>
          <a:chOff x="0" y="0"/>
          <a:chExt cx="0" cy="0"/>
        </a:xfrm>
      </p:grpSpPr>
      <p:grpSp>
        <p:nvGrpSpPr>
          <p:cNvPr id="294" name="Google Shape;294;p25"/>
          <p:cNvGrpSpPr/>
          <p:nvPr/>
        </p:nvGrpSpPr>
        <p:grpSpPr>
          <a:xfrm>
            <a:off x="210733" y="5101"/>
            <a:ext cx="11997200" cy="6934233"/>
            <a:chOff x="158050" y="3825"/>
            <a:chExt cx="8997900" cy="5200675"/>
          </a:xfrm>
        </p:grpSpPr>
        <p:grpSp>
          <p:nvGrpSpPr>
            <p:cNvPr id="295" name="Google Shape;295;p25"/>
            <p:cNvGrpSpPr/>
            <p:nvPr/>
          </p:nvGrpSpPr>
          <p:grpSpPr>
            <a:xfrm>
              <a:off x="158050" y="3825"/>
              <a:ext cx="8997900" cy="5124600"/>
              <a:chOff x="158050" y="3825"/>
              <a:chExt cx="8997900" cy="5124600"/>
            </a:xfrm>
          </p:grpSpPr>
          <p:cxnSp>
            <p:nvCxnSpPr>
              <p:cNvPr id="296" name="Google Shape;296;p25"/>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97" name="Google Shape;297;p25"/>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98" name="Google Shape;298;p25"/>
            <p:cNvGrpSpPr/>
            <p:nvPr/>
          </p:nvGrpSpPr>
          <p:grpSpPr>
            <a:xfrm>
              <a:off x="8095550" y="4226500"/>
              <a:ext cx="890400" cy="978000"/>
              <a:chOff x="8095550" y="4226500"/>
              <a:chExt cx="890400" cy="978000"/>
            </a:xfrm>
          </p:grpSpPr>
          <p:cxnSp>
            <p:nvCxnSpPr>
              <p:cNvPr id="299" name="Google Shape;299;p25"/>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300" name="Google Shape;300;p25"/>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301" name="Google Shape;301;p25"/>
          <p:cNvGrpSpPr/>
          <p:nvPr/>
        </p:nvGrpSpPr>
        <p:grpSpPr>
          <a:xfrm rot="5400000">
            <a:off x="11433601" y="5893486"/>
            <a:ext cx="606951" cy="207212"/>
            <a:chOff x="6309490" y="2180542"/>
            <a:chExt cx="626497" cy="213885"/>
          </a:xfrm>
        </p:grpSpPr>
        <p:sp>
          <p:nvSpPr>
            <p:cNvPr id="302" name="Google Shape;302;p25"/>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3" name="Google Shape;303;p25"/>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4" name="Google Shape;304;p25"/>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05" name="Google Shape;305;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06" name="Google Shape;306;p25"/>
          <p:cNvSpPr txBox="1">
            <a:spLocks noGrp="1"/>
          </p:cNvSpPr>
          <p:nvPr>
            <p:ph type="subTitle" idx="1"/>
          </p:nvPr>
        </p:nvSpPr>
        <p:spPr>
          <a:xfrm>
            <a:off x="3015648" y="2394433"/>
            <a:ext cx="26376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7" name="Google Shape;307;p25"/>
          <p:cNvSpPr txBox="1">
            <a:spLocks noGrp="1"/>
          </p:cNvSpPr>
          <p:nvPr>
            <p:ph type="subTitle" idx="2"/>
          </p:nvPr>
        </p:nvSpPr>
        <p:spPr>
          <a:xfrm>
            <a:off x="6536152" y="2394433"/>
            <a:ext cx="2637600" cy="887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8" name="Google Shape;308;p25"/>
          <p:cNvSpPr txBox="1">
            <a:spLocks noGrp="1"/>
          </p:cNvSpPr>
          <p:nvPr>
            <p:ph type="subTitle" idx="3"/>
          </p:nvPr>
        </p:nvSpPr>
        <p:spPr>
          <a:xfrm>
            <a:off x="3015648" y="4622300"/>
            <a:ext cx="26376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9" name="Google Shape;309;p25"/>
          <p:cNvSpPr txBox="1">
            <a:spLocks noGrp="1"/>
          </p:cNvSpPr>
          <p:nvPr>
            <p:ph type="subTitle" idx="4"/>
          </p:nvPr>
        </p:nvSpPr>
        <p:spPr>
          <a:xfrm>
            <a:off x="6536152" y="4622300"/>
            <a:ext cx="2637600" cy="887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0" name="Google Shape;310;p25"/>
          <p:cNvSpPr txBox="1">
            <a:spLocks noGrp="1"/>
          </p:cNvSpPr>
          <p:nvPr>
            <p:ph type="subTitle" idx="5"/>
          </p:nvPr>
        </p:nvSpPr>
        <p:spPr>
          <a:xfrm>
            <a:off x="3015648" y="19862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11" name="Google Shape;311;p25"/>
          <p:cNvSpPr txBox="1">
            <a:spLocks noGrp="1"/>
          </p:cNvSpPr>
          <p:nvPr>
            <p:ph type="subTitle" idx="6"/>
          </p:nvPr>
        </p:nvSpPr>
        <p:spPr>
          <a:xfrm>
            <a:off x="3015648" y="4176900"/>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12" name="Google Shape;312;p25"/>
          <p:cNvSpPr txBox="1">
            <a:spLocks noGrp="1"/>
          </p:cNvSpPr>
          <p:nvPr>
            <p:ph type="subTitle" idx="7"/>
          </p:nvPr>
        </p:nvSpPr>
        <p:spPr>
          <a:xfrm>
            <a:off x="6536148" y="1986267"/>
            <a:ext cx="2637600" cy="674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13" name="Google Shape;313;p25"/>
          <p:cNvSpPr txBox="1">
            <a:spLocks noGrp="1"/>
          </p:cNvSpPr>
          <p:nvPr>
            <p:ph type="subTitle" idx="8"/>
          </p:nvPr>
        </p:nvSpPr>
        <p:spPr>
          <a:xfrm>
            <a:off x="6536148" y="4176900"/>
            <a:ext cx="2637600" cy="674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2368283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solidFill>
          <a:schemeClr val="lt2"/>
        </a:solidFill>
        <a:effectLst/>
      </p:bgPr>
    </p:bg>
    <p:spTree>
      <p:nvGrpSpPr>
        <p:cNvPr id="1" name="Shape 314"/>
        <p:cNvGrpSpPr/>
        <p:nvPr/>
      </p:nvGrpSpPr>
      <p:grpSpPr>
        <a:xfrm>
          <a:off x="0" y="0"/>
          <a:ext cx="0" cy="0"/>
          <a:chOff x="0" y="0"/>
          <a:chExt cx="0" cy="0"/>
        </a:xfrm>
      </p:grpSpPr>
      <p:grpSp>
        <p:nvGrpSpPr>
          <p:cNvPr id="315" name="Google Shape;315;p26"/>
          <p:cNvGrpSpPr/>
          <p:nvPr/>
        </p:nvGrpSpPr>
        <p:grpSpPr>
          <a:xfrm>
            <a:off x="11005301" y="325019"/>
            <a:ext cx="606951" cy="207212"/>
            <a:chOff x="6309490" y="2180542"/>
            <a:chExt cx="626497" cy="213885"/>
          </a:xfrm>
        </p:grpSpPr>
        <p:sp>
          <p:nvSpPr>
            <p:cNvPr id="316" name="Google Shape;316;p26"/>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26"/>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26"/>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9" name="Google Shape;319;p26"/>
          <p:cNvGrpSpPr/>
          <p:nvPr/>
        </p:nvGrpSpPr>
        <p:grpSpPr>
          <a:xfrm>
            <a:off x="-17833" y="5100"/>
            <a:ext cx="12208767" cy="7036000"/>
            <a:chOff x="-13375" y="3825"/>
            <a:chExt cx="9156575" cy="5277000"/>
          </a:xfrm>
        </p:grpSpPr>
        <p:grpSp>
          <p:nvGrpSpPr>
            <p:cNvPr id="320" name="Google Shape;320;p26"/>
            <p:cNvGrpSpPr/>
            <p:nvPr/>
          </p:nvGrpSpPr>
          <p:grpSpPr>
            <a:xfrm>
              <a:off x="-13375" y="3825"/>
              <a:ext cx="4584600" cy="5124600"/>
              <a:chOff x="-13375" y="3825"/>
              <a:chExt cx="4584600" cy="5124600"/>
            </a:xfrm>
          </p:grpSpPr>
          <p:cxnSp>
            <p:nvCxnSpPr>
              <p:cNvPr id="321" name="Google Shape;321;p26"/>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322" name="Google Shape;322;p26"/>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323" name="Google Shape;323;p26"/>
            <p:cNvGrpSpPr/>
            <p:nvPr/>
          </p:nvGrpSpPr>
          <p:grpSpPr>
            <a:xfrm>
              <a:off x="4596700" y="156225"/>
              <a:ext cx="4546500" cy="5124600"/>
              <a:chOff x="4596700" y="156225"/>
              <a:chExt cx="4546500" cy="5124600"/>
            </a:xfrm>
          </p:grpSpPr>
          <p:cxnSp>
            <p:nvCxnSpPr>
              <p:cNvPr id="324" name="Google Shape;324;p26"/>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325" name="Google Shape;325;p26"/>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sp>
        <p:nvSpPr>
          <p:cNvPr id="326" name="Google Shape;326;p2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27" name="Google Shape;327;p26"/>
          <p:cNvSpPr txBox="1">
            <a:spLocks noGrp="1"/>
          </p:cNvSpPr>
          <p:nvPr>
            <p:ph type="subTitle" idx="1"/>
          </p:nvPr>
        </p:nvSpPr>
        <p:spPr>
          <a:xfrm>
            <a:off x="1164100" y="2865600"/>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8" name="Google Shape;328;p26"/>
          <p:cNvSpPr txBox="1">
            <a:spLocks noGrp="1"/>
          </p:cNvSpPr>
          <p:nvPr>
            <p:ph type="subTitle" idx="2"/>
          </p:nvPr>
        </p:nvSpPr>
        <p:spPr>
          <a:xfrm>
            <a:off x="4548800" y="2865600"/>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3"/>
          </p:nvPr>
        </p:nvSpPr>
        <p:spPr>
          <a:xfrm>
            <a:off x="1163933" y="4772567"/>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0" name="Google Shape;330;p26"/>
          <p:cNvSpPr txBox="1">
            <a:spLocks noGrp="1"/>
          </p:cNvSpPr>
          <p:nvPr>
            <p:ph type="subTitle" idx="4"/>
          </p:nvPr>
        </p:nvSpPr>
        <p:spPr>
          <a:xfrm>
            <a:off x="4548800" y="4772567"/>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1" name="Google Shape;331;p26"/>
          <p:cNvSpPr txBox="1">
            <a:spLocks noGrp="1"/>
          </p:cNvSpPr>
          <p:nvPr>
            <p:ph type="subTitle" idx="5"/>
          </p:nvPr>
        </p:nvSpPr>
        <p:spPr>
          <a:xfrm>
            <a:off x="7933667" y="2865600"/>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2" name="Google Shape;332;p26"/>
          <p:cNvSpPr txBox="1">
            <a:spLocks noGrp="1"/>
          </p:cNvSpPr>
          <p:nvPr>
            <p:ph type="subTitle" idx="6"/>
          </p:nvPr>
        </p:nvSpPr>
        <p:spPr>
          <a:xfrm>
            <a:off x="7933667" y="4772567"/>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3" name="Google Shape;333;p26"/>
          <p:cNvSpPr txBox="1">
            <a:spLocks noGrp="1"/>
          </p:cNvSpPr>
          <p:nvPr>
            <p:ph type="subTitle" idx="7"/>
          </p:nvPr>
        </p:nvSpPr>
        <p:spPr>
          <a:xfrm>
            <a:off x="1164100" y="2412000"/>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4" name="Google Shape;334;p26"/>
          <p:cNvSpPr txBox="1">
            <a:spLocks noGrp="1"/>
          </p:cNvSpPr>
          <p:nvPr>
            <p:ph type="subTitle" idx="8"/>
          </p:nvPr>
        </p:nvSpPr>
        <p:spPr>
          <a:xfrm>
            <a:off x="4548800" y="2412000"/>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5" name="Google Shape;335;p26"/>
          <p:cNvSpPr txBox="1">
            <a:spLocks noGrp="1"/>
          </p:cNvSpPr>
          <p:nvPr>
            <p:ph type="subTitle" idx="9"/>
          </p:nvPr>
        </p:nvSpPr>
        <p:spPr>
          <a:xfrm>
            <a:off x="7933667" y="2412000"/>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6" name="Google Shape;336;p26"/>
          <p:cNvSpPr txBox="1">
            <a:spLocks noGrp="1"/>
          </p:cNvSpPr>
          <p:nvPr>
            <p:ph type="subTitle" idx="13"/>
          </p:nvPr>
        </p:nvSpPr>
        <p:spPr>
          <a:xfrm>
            <a:off x="1163933" y="4318933"/>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7" name="Google Shape;337;p26"/>
          <p:cNvSpPr txBox="1">
            <a:spLocks noGrp="1"/>
          </p:cNvSpPr>
          <p:nvPr>
            <p:ph type="subTitle" idx="14"/>
          </p:nvPr>
        </p:nvSpPr>
        <p:spPr>
          <a:xfrm>
            <a:off x="4548800" y="4318933"/>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8" name="Google Shape;338;p26"/>
          <p:cNvSpPr txBox="1">
            <a:spLocks noGrp="1"/>
          </p:cNvSpPr>
          <p:nvPr>
            <p:ph type="subTitle" idx="15"/>
          </p:nvPr>
        </p:nvSpPr>
        <p:spPr>
          <a:xfrm>
            <a:off x="7933667" y="4318933"/>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3878660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p:cSld name="Numbers and text">
    <p:bg>
      <p:bgPr>
        <a:solidFill>
          <a:schemeClr val="dk1"/>
        </a:solidFill>
        <a:effectLst/>
      </p:bgPr>
    </p:bg>
    <p:spTree>
      <p:nvGrpSpPr>
        <p:cNvPr id="1" name="Shape 339"/>
        <p:cNvGrpSpPr/>
        <p:nvPr/>
      </p:nvGrpSpPr>
      <p:grpSpPr>
        <a:xfrm>
          <a:off x="0" y="0"/>
          <a:ext cx="0" cy="0"/>
          <a:chOff x="0" y="0"/>
          <a:chExt cx="0" cy="0"/>
        </a:xfrm>
      </p:grpSpPr>
      <p:sp>
        <p:nvSpPr>
          <p:cNvPr id="340" name="Google Shape;340;p27"/>
          <p:cNvSpPr txBox="1">
            <a:spLocks noGrp="1"/>
          </p:cNvSpPr>
          <p:nvPr>
            <p:ph type="title" hasCustomPrompt="1"/>
          </p:nvPr>
        </p:nvSpPr>
        <p:spPr>
          <a:xfrm>
            <a:off x="1514533" y="851143"/>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41" name="Google Shape;341;p27"/>
          <p:cNvSpPr txBox="1">
            <a:spLocks noGrp="1"/>
          </p:cNvSpPr>
          <p:nvPr>
            <p:ph type="subTitle" idx="1"/>
          </p:nvPr>
        </p:nvSpPr>
        <p:spPr>
          <a:xfrm>
            <a:off x="1514533" y="1566501"/>
            <a:ext cx="6262400" cy="521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2133">
                <a:solidFill>
                  <a:schemeClr val="lt2"/>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42" name="Google Shape;342;p27"/>
          <p:cNvSpPr txBox="1">
            <a:spLocks noGrp="1"/>
          </p:cNvSpPr>
          <p:nvPr>
            <p:ph type="title" idx="2" hasCustomPrompt="1"/>
          </p:nvPr>
        </p:nvSpPr>
        <p:spPr>
          <a:xfrm>
            <a:off x="1514533" y="2501749"/>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43" name="Google Shape;343;p27"/>
          <p:cNvSpPr txBox="1">
            <a:spLocks noGrp="1"/>
          </p:cNvSpPr>
          <p:nvPr>
            <p:ph type="subTitle" idx="3"/>
          </p:nvPr>
        </p:nvSpPr>
        <p:spPr>
          <a:xfrm>
            <a:off x="1514533" y="3217115"/>
            <a:ext cx="6262400" cy="521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2133">
                <a:solidFill>
                  <a:schemeClr val="lt2"/>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44" name="Google Shape;344;p27"/>
          <p:cNvSpPr txBox="1">
            <a:spLocks noGrp="1"/>
          </p:cNvSpPr>
          <p:nvPr>
            <p:ph type="title" idx="4" hasCustomPrompt="1"/>
          </p:nvPr>
        </p:nvSpPr>
        <p:spPr>
          <a:xfrm>
            <a:off x="1514533" y="4152357"/>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45" name="Google Shape;345;p27"/>
          <p:cNvSpPr txBox="1">
            <a:spLocks noGrp="1"/>
          </p:cNvSpPr>
          <p:nvPr>
            <p:ph type="subTitle" idx="5"/>
          </p:nvPr>
        </p:nvSpPr>
        <p:spPr>
          <a:xfrm>
            <a:off x="1514533" y="4867728"/>
            <a:ext cx="6262400" cy="521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2133">
                <a:solidFill>
                  <a:schemeClr val="lt2"/>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823764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1">
  <p:cSld name="Numbers and text 1">
    <p:bg>
      <p:bgPr>
        <a:solidFill>
          <a:schemeClr val="lt2"/>
        </a:solidFill>
        <a:effectLst/>
      </p:bgPr>
    </p:bg>
    <p:spTree>
      <p:nvGrpSpPr>
        <p:cNvPr id="1" name="Shape 346"/>
        <p:cNvGrpSpPr/>
        <p:nvPr/>
      </p:nvGrpSpPr>
      <p:grpSpPr>
        <a:xfrm>
          <a:off x="0" y="0"/>
          <a:ext cx="0" cy="0"/>
          <a:chOff x="0" y="0"/>
          <a:chExt cx="0" cy="0"/>
        </a:xfrm>
      </p:grpSpPr>
      <p:grpSp>
        <p:nvGrpSpPr>
          <p:cNvPr id="347" name="Google Shape;347;p28"/>
          <p:cNvGrpSpPr/>
          <p:nvPr/>
        </p:nvGrpSpPr>
        <p:grpSpPr>
          <a:xfrm>
            <a:off x="655300" y="5100"/>
            <a:ext cx="10881400" cy="6832800"/>
            <a:chOff x="491475" y="3825"/>
            <a:chExt cx="8161050" cy="5124600"/>
          </a:xfrm>
        </p:grpSpPr>
        <p:cxnSp>
          <p:nvCxnSpPr>
            <p:cNvPr id="348" name="Google Shape;348;p28"/>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349" name="Google Shape;349;p28"/>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50" name="Google Shape;350;p28"/>
          <p:cNvGrpSpPr/>
          <p:nvPr/>
        </p:nvGrpSpPr>
        <p:grpSpPr>
          <a:xfrm>
            <a:off x="10728167" y="6097219"/>
            <a:ext cx="606951" cy="207212"/>
            <a:chOff x="6309490" y="2180542"/>
            <a:chExt cx="626497" cy="213885"/>
          </a:xfrm>
        </p:grpSpPr>
        <p:sp>
          <p:nvSpPr>
            <p:cNvPr id="351" name="Google Shape;351;p28"/>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28"/>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28"/>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54" name="Google Shape;354;p28"/>
          <p:cNvSpPr txBox="1">
            <a:spLocks noGrp="1"/>
          </p:cNvSpPr>
          <p:nvPr>
            <p:ph type="title" hasCustomPrompt="1"/>
          </p:nvPr>
        </p:nvSpPr>
        <p:spPr>
          <a:xfrm>
            <a:off x="1767533" y="2616200"/>
            <a:ext cx="18652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55" name="Google Shape;355;p28"/>
          <p:cNvSpPr txBox="1">
            <a:spLocks noGrp="1"/>
          </p:cNvSpPr>
          <p:nvPr>
            <p:ph type="subTitle" idx="1"/>
          </p:nvPr>
        </p:nvSpPr>
        <p:spPr>
          <a:xfrm>
            <a:off x="1251333" y="4457900"/>
            <a:ext cx="2897600" cy="117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56" name="Google Shape;356;p28"/>
          <p:cNvSpPr txBox="1">
            <a:spLocks noGrp="1"/>
          </p:cNvSpPr>
          <p:nvPr>
            <p:ph type="subTitle" idx="2"/>
          </p:nvPr>
        </p:nvSpPr>
        <p:spPr>
          <a:xfrm>
            <a:off x="1251333" y="4074600"/>
            <a:ext cx="2897600" cy="67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2pPr>
            <a:lvl3pPr lvl="2"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3pPr>
            <a:lvl4pPr lvl="3"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4pPr>
            <a:lvl5pPr lvl="4"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5pPr>
            <a:lvl6pPr lvl="5"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6pPr>
            <a:lvl7pPr lvl="6"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7pPr>
            <a:lvl8pPr lvl="7"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8pPr>
            <a:lvl9pPr lvl="8"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9pPr>
          </a:lstStyle>
          <a:p>
            <a:r>
              <a:rPr lang="en-US"/>
              <a:t>Click to edit Master subtitle style</a:t>
            </a:r>
            <a:endParaRPr/>
          </a:p>
        </p:txBody>
      </p:sp>
      <p:sp>
        <p:nvSpPr>
          <p:cNvPr id="357" name="Google Shape;357;p28"/>
          <p:cNvSpPr txBox="1">
            <a:spLocks noGrp="1"/>
          </p:cNvSpPr>
          <p:nvPr>
            <p:ph type="title" idx="3" hasCustomPrompt="1"/>
          </p:nvPr>
        </p:nvSpPr>
        <p:spPr>
          <a:xfrm>
            <a:off x="5164133" y="2616200"/>
            <a:ext cx="1863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58" name="Google Shape;358;p28"/>
          <p:cNvSpPr txBox="1">
            <a:spLocks noGrp="1"/>
          </p:cNvSpPr>
          <p:nvPr>
            <p:ph type="subTitle" idx="4"/>
          </p:nvPr>
        </p:nvSpPr>
        <p:spPr>
          <a:xfrm>
            <a:off x="4647200" y="4457900"/>
            <a:ext cx="2897600" cy="117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59" name="Google Shape;359;p28"/>
          <p:cNvSpPr txBox="1">
            <a:spLocks noGrp="1"/>
          </p:cNvSpPr>
          <p:nvPr>
            <p:ph type="subTitle" idx="5"/>
          </p:nvPr>
        </p:nvSpPr>
        <p:spPr>
          <a:xfrm>
            <a:off x="4647200" y="4074600"/>
            <a:ext cx="2897600" cy="67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2pPr>
            <a:lvl3pPr lvl="2"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3pPr>
            <a:lvl4pPr lvl="3"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4pPr>
            <a:lvl5pPr lvl="4"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5pPr>
            <a:lvl6pPr lvl="5"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6pPr>
            <a:lvl7pPr lvl="6"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7pPr>
            <a:lvl8pPr lvl="7"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8pPr>
            <a:lvl9pPr lvl="8"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9pPr>
          </a:lstStyle>
          <a:p>
            <a:r>
              <a:rPr lang="en-US"/>
              <a:t>Click to edit Master subtitle style</a:t>
            </a:r>
            <a:endParaRPr/>
          </a:p>
        </p:txBody>
      </p:sp>
      <p:sp>
        <p:nvSpPr>
          <p:cNvPr id="360" name="Google Shape;360;p28"/>
          <p:cNvSpPr txBox="1">
            <a:spLocks noGrp="1"/>
          </p:cNvSpPr>
          <p:nvPr>
            <p:ph type="title" idx="6" hasCustomPrompt="1"/>
          </p:nvPr>
        </p:nvSpPr>
        <p:spPr>
          <a:xfrm>
            <a:off x="8556900" y="2616200"/>
            <a:ext cx="1863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61" name="Google Shape;361;p28"/>
          <p:cNvSpPr txBox="1">
            <a:spLocks noGrp="1"/>
          </p:cNvSpPr>
          <p:nvPr>
            <p:ph type="subTitle" idx="7"/>
          </p:nvPr>
        </p:nvSpPr>
        <p:spPr>
          <a:xfrm>
            <a:off x="8043067" y="4457900"/>
            <a:ext cx="2897600" cy="117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62" name="Google Shape;362;p28"/>
          <p:cNvSpPr txBox="1">
            <a:spLocks noGrp="1"/>
          </p:cNvSpPr>
          <p:nvPr>
            <p:ph type="subTitle" idx="8"/>
          </p:nvPr>
        </p:nvSpPr>
        <p:spPr>
          <a:xfrm>
            <a:off x="8043067" y="4074600"/>
            <a:ext cx="2897600" cy="67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2pPr>
            <a:lvl3pPr lvl="2"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3pPr>
            <a:lvl4pPr lvl="3"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4pPr>
            <a:lvl5pPr lvl="4"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5pPr>
            <a:lvl6pPr lvl="5"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6pPr>
            <a:lvl7pPr lvl="6"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7pPr>
            <a:lvl8pPr lvl="7"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8pPr>
            <a:lvl9pPr lvl="8"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9pPr>
          </a:lstStyle>
          <a:p>
            <a:r>
              <a:rPr lang="en-US"/>
              <a:t>Click to edit Master subtitle style</a:t>
            </a:r>
            <a:endParaRPr/>
          </a:p>
        </p:txBody>
      </p:sp>
      <p:sp>
        <p:nvSpPr>
          <p:cNvPr id="363" name="Google Shape;363;p28"/>
          <p:cNvSpPr txBox="1">
            <a:spLocks noGrp="1"/>
          </p:cNvSpPr>
          <p:nvPr>
            <p:ph type="title" idx="9"/>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2961792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lt2"/>
        </a:solidFill>
        <a:effectLst/>
      </p:bgPr>
    </p:bg>
    <p:spTree>
      <p:nvGrpSpPr>
        <p:cNvPr id="1" name="Shape 364"/>
        <p:cNvGrpSpPr/>
        <p:nvPr/>
      </p:nvGrpSpPr>
      <p:grpSpPr>
        <a:xfrm>
          <a:off x="0" y="0"/>
          <a:ext cx="0" cy="0"/>
          <a:chOff x="0" y="0"/>
          <a:chExt cx="0" cy="0"/>
        </a:xfrm>
      </p:grpSpPr>
      <p:sp>
        <p:nvSpPr>
          <p:cNvPr id="365" name="Google Shape;365;p29"/>
          <p:cNvSpPr txBox="1"/>
          <p:nvPr/>
        </p:nvSpPr>
        <p:spPr>
          <a:xfrm>
            <a:off x="1514600" y="4917533"/>
            <a:ext cx="6182400" cy="741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600" b="1">
                <a:solidFill>
                  <a:schemeClr val="dk1"/>
                </a:solidFill>
                <a:latin typeface="Dosis"/>
                <a:ea typeface="Dosis"/>
                <a:cs typeface="Dosis"/>
                <a:sym typeface="Dosis"/>
              </a:rPr>
              <a:t>CREDITS:</a:t>
            </a:r>
            <a:r>
              <a:rPr lang="en" sz="1600">
                <a:solidFill>
                  <a:schemeClr val="dk1"/>
                </a:solidFill>
                <a:latin typeface="Dosis"/>
                <a:ea typeface="Dosis"/>
                <a:cs typeface="Dosis"/>
                <a:sym typeface="Dosis"/>
              </a:rPr>
              <a:t> This presentation template was created by </a:t>
            </a:r>
            <a:r>
              <a:rPr lang="en" sz="1600" b="1" u="sng">
                <a:solidFill>
                  <a:schemeClr val="dk1"/>
                </a:solidFill>
                <a:latin typeface="Dosis"/>
                <a:ea typeface="Dosis"/>
                <a:cs typeface="Dosis"/>
                <a:sym typeface="Dosis"/>
                <a:hlinkClick r:id="rId2">
                  <a:extLst>
                    <a:ext uri="{A12FA001-AC4F-418D-AE19-62706E023703}">
                      <ahyp:hlinkClr xmlns:ahyp="http://schemas.microsoft.com/office/drawing/2018/hyperlinkcolor" val="tx"/>
                    </a:ext>
                  </a:extLst>
                </a:hlinkClick>
              </a:rPr>
              <a:t>Slidesgo</a:t>
            </a:r>
            <a:r>
              <a:rPr lang="en" sz="1600">
                <a:solidFill>
                  <a:schemeClr val="dk1"/>
                </a:solidFill>
                <a:latin typeface="Dosis"/>
                <a:ea typeface="Dosis"/>
                <a:cs typeface="Dosis"/>
                <a:sym typeface="Dosis"/>
              </a:rPr>
              <a:t>, and includes icons by </a:t>
            </a:r>
            <a:r>
              <a:rPr lang="en" sz="1600" b="1" u="sng">
                <a:solidFill>
                  <a:schemeClr val="dk1"/>
                </a:solidFill>
                <a:latin typeface="Dosis"/>
                <a:ea typeface="Dosis"/>
                <a:cs typeface="Dosis"/>
                <a:sym typeface="Dosis"/>
                <a:hlinkClick r:id="rId3">
                  <a:extLst>
                    <a:ext uri="{A12FA001-AC4F-418D-AE19-62706E023703}">
                      <ahyp:hlinkClr xmlns:ahyp="http://schemas.microsoft.com/office/drawing/2018/hyperlinkcolor" val="tx"/>
                    </a:ext>
                  </a:extLst>
                </a:hlinkClick>
              </a:rPr>
              <a:t>Flaticon</a:t>
            </a:r>
            <a:r>
              <a:rPr lang="en" sz="1600">
                <a:solidFill>
                  <a:schemeClr val="dk1"/>
                </a:solidFill>
                <a:latin typeface="Dosis"/>
                <a:ea typeface="Dosis"/>
                <a:cs typeface="Dosis"/>
                <a:sym typeface="Dosis"/>
              </a:rPr>
              <a:t>, and infographics &amp; images by </a:t>
            </a:r>
            <a:r>
              <a:rPr lang="en" sz="1600" b="1" u="sng">
                <a:solidFill>
                  <a:schemeClr val="dk1"/>
                </a:solidFill>
                <a:latin typeface="Dosis"/>
                <a:ea typeface="Dosis"/>
                <a:cs typeface="Dosis"/>
                <a:sym typeface="Dosis"/>
                <a:hlinkClick r:id="rId4">
                  <a:extLst>
                    <a:ext uri="{A12FA001-AC4F-418D-AE19-62706E023703}">
                      <ahyp:hlinkClr xmlns:ahyp="http://schemas.microsoft.com/office/drawing/2018/hyperlinkcolor" val="tx"/>
                    </a:ext>
                  </a:extLst>
                </a:hlinkClick>
              </a:rPr>
              <a:t>Freepik</a:t>
            </a:r>
            <a:r>
              <a:rPr lang="en" sz="1600" u="sng">
                <a:solidFill>
                  <a:schemeClr val="dk1"/>
                </a:solidFill>
                <a:latin typeface="Dosis"/>
                <a:ea typeface="Dosis"/>
                <a:cs typeface="Dosis"/>
                <a:sym typeface="Dosis"/>
              </a:rPr>
              <a:t> </a:t>
            </a:r>
            <a:endParaRPr sz="1600" b="1" u="sng">
              <a:solidFill>
                <a:schemeClr val="dk1"/>
              </a:solidFill>
              <a:latin typeface="Dosis"/>
              <a:ea typeface="Dosis"/>
              <a:cs typeface="Dosis"/>
              <a:sym typeface="Dosis"/>
            </a:endParaRPr>
          </a:p>
        </p:txBody>
      </p:sp>
      <p:grpSp>
        <p:nvGrpSpPr>
          <p:cNvPr id="366" name="Google Shape;366;p29"/>
          <p:cNvGrpSpPr/>
          <p:nvPr/>
        </p:nvGrpSpPr>
        <p:grpSpPr>
          <a:xfrm>
            <a:off x="-33462" y="-79567"/>
            <a:ext cx="12286395" cy="7002000"/>
            <a:chOff x="-25096" y="-59675"/>
            <a:chExt cx="9214796" cy="5251500"/>
          </a:xfrm>
        </p:grpSpPr>
        <p:sp>
          <p:nvSpPr>
            <p:cNvPr id="367" name="Google Shape;367;p29"/>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9"/>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9" name="Google Shape;369;p29"/>
          <p:cNvGrpSpPr/>
          <p:nvPr/>
        </p:nvGrpSpPr>
        <p:grpSpPr>
          <a:xfrm flipH="1">
            <a:off x="10488685" y="414759"/>
            <a:ext cx="606951" cy="207212"/>
            <a:chOff x="6309490" y="2180542"/>
            <a:chExt cx="626497" cy="213885"/>
          </a:xfrm>
        </p:grpSpPr>
        <p:sp>
          <p:nvSpPr>
            <p:cNvPr id="370" name="Google Shape;370;p29"/>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29"/>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9"/>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73" name="Google Shape;373;p29"/>
          <p:cNvSpPr txBox="1">
            <a:spLocks noGrp="1"/>
          </p:cNvSpPr>
          <p:nvPr>
            <p:ph type="title"/>
          </p:nvPr>
        </p:nvSpPr>
        <p:spPr>
          <a:xfrm>
            <a:off x="1514571" y="729067"/>
            <a:ext cx="4466800" cy="1411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8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74" name="Google Shape;374;p29"/>
          <p:cNvSpPr txBox="1">
            <a:spLocks noGrp="1"/>
          </p:cNvSpPr>
          <p:nvPr>
            <p:ph type="subTitle" idx="1"/>
          </p:nvPr>
        </p:nvSpPr>
        <p:spPr>
          <a:xfrm>
            <a:off x="1514533" y="2150468"/>
            <a:ext cx="4466800" cy="14116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985358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lt2"/>
        </a:solidFill>
        <a:effectLst/>
      </p:bgPr>
    </p:bg>
    <p:spTree>
      <p:nvGrpSpPr>
        <p:cNvPr id="1" name="Shape 375"/>
        <p:cNvGrpSpPr/>
        <p:nvPr/>
      </p:nvGrpSpPr>
      <p:grpSpPr>
        <a:xfrm>
          <a:off x="0" y="0"/>
          <a:ext cx="0" cy="0"/>
          <a:chOff x="0" y="0"/>
          <a:chExt cx="0" cy="0"/>
        </a:xfrm>
      </p:grpSpPr>
      <p:grpSp>
        <p:nvGrpSpPr>
          <p:cNvPr id="376" name="Google Shape;376;p30"/>
          <p:cNvGrpSpPr/>
          <p:nvPr/>
        </p:nvGrpSpPr>
        <p:grpSpPr>
          <a:xfrm>
            <a:off x="210733" y="5100"/>
            <a:ext cx="11997200" cy="6832800"/>
            <a:chOff x="158050" y="3825"/>
            <a:chExt cx="8997900" cy="5124600"/>
          </a:xfrm>
        </p:grpSpPr>
        <p:cxnSp>
          <p:nvCxnSpPr>
            <p:cNvPr id="377" name="Google Shape;377;p30"/>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378" name="Google Shape;378;p30"/>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79" name="Google Shape;379;p30"/>
          <p:cNvGrpSpPr/>
          <p:nvPr/>
        </p:nvGrpSpPr>
        <p:grpSpPr>
          <a:xfrm>
            <a:off x="758967" y="117854"/>
            <a:ext cx="11127455" cy="6592977"/>
            <a:chOff x="569225" y="88390"/>
            <a:chExt cx="8345591" cy="4944733"/>
          </a:xfrm>
        </p:grpSpPr>
        <p:grpSp>
          <p:nvGrpSpPr>
            <p:cNvPr id="380" name="Google Shape;380;p30"/>
            <p:cNvGrpSpPr/>
            <p:nvPr/>
          </p:nvGrpSpPr>
          <p:grpSpPr>
            <a:xfrm>
              <a:off x="569225" y="4877714"/>
              <a:ext cx="455213" cy="155409"/>
              <a:chOff x="6309490" y="2180542"/>
              <a:chExt cx="626497" cy="213885"/>
            </a:xfrm>
          </p:grpSpPr>
          <p:sp>
            <p:nvSpPr>
              <p:cNvPr id="381" name="Google Shape;381;p30"/>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30"/>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30"/>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4" name="Google Shape;384;p30"/>
            <p:cNvGrpSpPr/>
            <p:nvPr/>
          </p:nvGrpSpPr>
          <p:grpSpPr>
            <a:xfrm rot="2700000">
              <a:off x="8377136" y="220941"/>
              <a:ext cx="502421" cy="307836"/>
              <a:chOff x="765450" y="1072075"/>
              <a:chExt cx="5757950" cy="3527925"/>
            </a:xfrm>
          </p:grpSpPr>
          <p:sp>
            <p:nvSpPr>
              <p:cNvPr id="385" name="Google Shape;385;p30"/>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30"/>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30"/>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30"/>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30"/>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30"/>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350947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lt2"/>
        </a:solidFill>
        <a:effectLst/>
      </p:bgPr>
    </p:bg>
    <p:spTree>
      <p:nvGrpSpPr>
        <p:cNvPr id="1" name="Shape 391"/>
        <p:cNvGrpSpPr/>
        <p:nvPr/>
      </p:nvGrpSpPr>
      <p:grpSpPr>
        <a:xfrm>
          <a:off x="0" y="0"/>
          <a:ext cx="0" cy="0"/>
          <a:chOff x="0" y="0"/>
          <a:chExt cx="0" cy="0"/>
        </a:xfrm>
      </p:grpSpPr>
      <p:grpSp>
        <p:nvGrpSpPr>
          <p:cNvPr id="392" name="Google Shape;392;p31"/>
          <p:cNvGrpSpPr/>
          <p:nvPr/>
        </p:nvGrpSpPr>
        <p:grpSpPr>
          <a:xfrm>
            <a:off x="210733" y="5101"/>
            <a:ext cx="11997200" cy="6934233"/>
            <a:chOff x="158050" y="3825"/>
            <a:chExt cx="8997900" cy="5200675"/>
          </a:xfrm>
        </p:grpSpPr>
        <p:grpSp>
          <p:nvGrpSpPr>
            <p:cNvPr id="393" name="Google Shape;393;p31"/>
            <p:cNvGrpSpPr/>
            <p:nvPr/>
          </p:nvGrpSpPr>
          <p:grpSpPr>
            <a:xfrm>
              <a:off x="158050" y="3825"/>
              <a:ext cx="8997900" cy="5124600"/>
              <a:chOff x="158050" y="3825"/>
              <a:chExt cx="8997900" cy="5124600"/>
            </a:xfrm>
          </p:grpSpPr>
          <p:cxnSp>
            <p:nvCxnSpPr>
              <p:cNvPr id="394" name="Google Shape;394;p31"/>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395" name="Google Shape;395;p31"/>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96" name="Google Shape;396;p31"/>
            <p:cNvGrpSpPr/>
            <p:nvPr/>
          </p:nvGrpSpPr>
          <p:grpSpPr>
            <a:xfrm>
              <a:off x="8095550" y="4226500"/>
              <a:ext cx="890400" cy="978000"/>
              <a:chOff x="8095550" y="4226500"/>
              <a:chExt cx="890400" cy="978000"/>
            </a:xfrm>
          </p:grpSpPr>
          <p:cxnSp>
            <p:nvCxnSpPr>
              <p:cNvPr id="397" name="Google Shape;397;p31"/>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398" name="Google Shape;398;p31"/>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399" name="Google Shape;399;p31"/>
          <p:cNvGrpSpPr/>
          <p:nvPr/>
        </p:nvGrpSpPr>
        <p:grpSpPr>
          <a:xfrm rot="5400000">
            <a:off x="11433601" y="5893486"/>
            <a:ext cx="606951" cy="207212"/>
            <a:chOff x="6309490" y="2180542"/>
            <a:chExt cx="626497" cy="213885"/>
          </a:xfrm>
        </p:grpSpPr>
        <p:sp>
          <p:nvSpPr>
            <p:cNvPr id="400" name="Google Shape;400;p31"/>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31"/>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31"/>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457822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06"/>
        <p:cNvGrpSpPr/>
        <p:nvPr/>
      </p:nvGrpSpPr>
      <p:grpSpPr>
        <a:xfrm>
          <a:off x="0" y="0"/>
          <a:ext cx="0" cy="0"/>
          <a:chOff x="0" y="0"/>
          <a:chExt cx="0" cy="0"/>
        </a:xfrm>
      </p:grpSpPr>
    </p:spTree>
    <p:extLst>
      <p:ext uri="{BB962C8B-B14F-4D97-AF65-F5344CB8AC3E}">
        <p14:creationId xmlns:p14="http://schemas.microsoft.com/office/powerpoint/2010/main" val="3573127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07"/>
        <p:cNvGrpSpPr/>
        <p:nvPr/>
      </p:nvGrpSpPr>
      <p:grpSpPr>
        <a:xfrm>
          <a:off x="0" y="0"/>
          <a:ext cx="0" cy="0"/>
          <a:chOff x="0" y="0"/>
          <a:chExt cx="0" cy="0"/>
        </a:xfrm>
      </p:grpSpPr>
      <p:sp>
        <p:nvSpPr>
          <p:cNvPr id="408" name="Google Shape;408;p34"/>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268434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1pPr>
            <a:lvl2pPr lvl="1"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2pPr>
            <a:lvl3pPr lvl="2"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3pPr>
            <a:lvl4pPr lvl="3"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4pPr>
            <a:lvl5pPr lvl="4"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5pPr>
            <a:lvl6pPr lvl="5"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6pPr>
            <a:lvl7pPr lvl="6"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7pPr>
            <a:lvl8pPr lvl="7"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8pPr>
            <a:lvl9pPr lvl="8"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1pPr>
            <a:lvl2pPr marL="914400" lvl="1"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2pPr>
            <a:lvl3pPr marL="1371600" lvl="2"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3pPr>
            <a:lvl4pPr marL="1828800" lvl="3"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4pPr>
            <a:lvl5pPr marL="2286000" lvl="4"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5pPr>
            <a:lvl6pPr marL="2743200" lvl="5"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6pPr>
            <a:lvl7pPr marL="3200400" lvl="6"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7pPr>
            <a:lvl8pPr marL="3657600" lvl="7"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8pPr>
            <a:lvl9pPr marL="4114800" lvl="8"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9pPr>
          </a:lstStyle>
          <a:p>
            <a:endParaRPr/>
          </a:p>
        </p:txBody>
      </p:sp>
    </p:spTree>
    <p:extLst>
      <p:ext uri="{BB962C8B-B14F-4D97-AF65-F5344CB8AC3E}">
        <p14:creationId xmlns:p14="http://schemas.microsoft.com/office/powerpoint/2010/main" val="1125983142"/>
      </p:ext>
    </p:extLst>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03"/>
        <p:cNvGrpSpPr/>
        <p:nvPr/>
      </p:nvGrpSpPr>
      <p:grpSpPr>
        <a:xfrm>
          <a:off x="0" y="0"/>
          <a:ext cx="0" cy="0"/>
          <a:chOff x="0" y="0"/>
          <a:chExt cx="0" cy="0"/>
        </a:xfrm>
      </p:grpSpPr>
      <p:sp>
        <p:nvSpPr>
          <p:cNvPr id="404" name="Google Shape;404;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05" name="Google Shape;405;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916607075"/>
      </p:ext>
    </p:extLst>
  </p:cSld>
  <p:clrMap bg1="lt1" tx1="dk1" bg2="dk2" tx2="lt2" accent1="accent1" accent2="accent2" accent3="accent3" accent4="accent4" accent5="accent5" accent6="accent6" hlink="hlink" folHlink="folHlink"/>
  <p:sldLayoutIdLst>
    <p:sldLayoutId id="2147483743" r:id="rId1"/>
    <p:sldLayoutId id="2147483744"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18/10/relationships/comments" Target="../comments/modernComment_163_82FC23E0.xml"/><Relationship Id="rId7" Type="http://schemas.openxmlformats.org/officeDocument/2006/relationships/diagramQuickStyle" Target="../diagrams/quickStyle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pn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3.xml"/><Relationship Id="rId3" Type="http://schemas.microsoft.com/office/2018/10/relationships/comments" Target="../comments/modernComment_165_E4DF6BB6.xml"/><Relationship Id="rId7" Type="http://schemas.openxmlformats.org/officeDocument/2006/relationships/diagramQuickStyle" Target="../diagrams/quickStyle3.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png"/><Relationship Id="rId9" Type="http://schemas.microsoft.com/office/2007/relationships/diagramDrawing" Target="../diagrams/drawing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7366" y="748602"/>
            <a:ext cx="9133113" cy="3799065"/>
          </a:xfrm>
        </p:spPr>
        <p:txBody>
          <a:bodyPr/>
          <a:lstStyle/>
          <a:p>
            <a:pPr fontAlgn="base"/>
            <a:r>
              <a:rPr lang="en-US" sz="5400" b="1"/>
              <a:t>A Causal Analysis of Aviation Fatalities and Their Contributing Factors</a:t>
            </a:r>
            <a:r>
              <a:rPr lang="en-US" sz="5400"/>
              <a:t> </a:t>
            </a:r>
            <a:endParaRPr lang="en-US" sz="5400" b="0" i="0">
              <a:effectLst/>
            </a:endParaRPr>
          </a:p>
        </p:txBody>
      </p:sp>
      <p:sp>
        <p:nvSpPr>
          <p:cNvPr id="3" name="Subtitle 2"/>
          <p:cNvSpPr>
            <a:spLocks noGrp="1"/>
          </p:cNvSpPr>
          <p:nvPr>
            <p:ph type="subTitle" idx="1"/>
          </p:nvPr>
        </p:nvSpPr>
        <p:spPr/>
        <p:txBody>
          <a:bodyPr/>
          <a:lstStyle/>
          <a:p>
            <a:r>
              <a:rPr lang="en-US"/>
              <a:t>MA413-505 Final Project</a:t>
            </a:r>
          </a:p>
        </p:txBody>
      </p:sp>
    </p:spTree>
    <p:extLst>
      <p:ext uri="{BB962C8B-B14F-4D97-AF65-F5344CB8AC3E}">
        <p14:creationId xmlns:p14="http://schemas.microsoft.com/office/powerpoint/2010/main" val="2596384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p:txBody>
          <a:bodyPr>
            <a:noAutofit/>
          </a:bodyPr>
          <a:lstStyle/>
          <a:p>
            <a:r>
              <a:rPr lang="en-US" sz="3600"/>
              <a:t>Introduction of Presenters</a:t>
            </a:r>
            <a:endParaRPr lang="en-US"/>
          </a:p>
        </p:txBody>
      </p:sp>
      <p:sp>
        <p:nvSpPr>
          <p:cNvPr id="3" name="Shape">
            <a:extLst>
              <a:ext uri="{FF2B5EF4-FFF2-40B4-BE49-F238E27FC236}">
                <a16:creationId xmlns:a16="http://schemas.microsoft.com/office/drawing/2014/main" id="{131064CF-1E9A-4199-9ECE-0D37585EAA0E}"/>
              </a:ext>
            </a:extLst>
          </p:cNvPr>
          <p:cNvSpPr/>
          <p:nvPr/>
        </p:nvSpPr>
        <p:spPr>
          <a:xfrm>
            <a:off x="1083436" y="1356966"/>
            <a:ext cx="535292" cy="2192146"/>
          </a:xfrm>
          <a:custGeom>
            <a:avLst/>
            <a:gdLst/>
            <a:ahLst/>
            <a:cxnLst>
              <a:cxn ang="0">
                <a:pos x="wd2" y="hd2"/>
              </a:cxn>
              <a:cxn ang="5400000">
                <a:pos x="wd2" y="hd2"/>
              </a:cxn>
              <a:cxn ang="10800000">
                <a:pos x="wd2" y="hd2"/>
              </a:cxn>
              <a:cxn ang="16200000">
                <a:pos x="wd2" y="hd2"/>
              </a:cxn>
            </a:cxnLst>
            <a:rect l="0" t="0" r="r" b="b"/>
            <a:pathLst>
              <a:path w="21600" h="21600" extrusionOk="0">
                <a:moveTo>
                  <a:pt x="9552" y="21600"/>
                </a:moveTo>
                <a:cubicBezTo>
                  <a:pt x="9036" y="21600"/>
                  <a:pt x="8606" y="21546"/>
                  <a:pt x="8606" y="21481"/>
                </a:cubicBezTo>
                <a:lnTo>
                  <a:pt x="8606" y="8155"/>
                </a:lnTo>
                <a:lnTo>
                  <a:pt x="947" y="8155"/>
                </a:lnTo>
                <a:cubicBezTo>
                  <a:pt x="430" y="8155"/>
                  <a:pt x="0" y="8101"/>
                  <a:pt x="0" y="8036"/>
                </a:cubicBezTo>
                <a:lnTo>
                  <a:pt x="0" y="7052"/>
                </a:lnTo>
                <a:cubicBezTo>
                  <a:pt x="0" y="6987"/>
                  <a:pt x="430" y="6933"/>
                  <a:pt x="947" y="6933"/>
                </a:cubicBezTo>
                <a:cubicBezTo>
                  <a:pt x="8692" y="6933"/>
                  <a:pt x="10499" y="6501"/>
                  <a:pt x="12220" y="5895"/>
                </a:cubicBezTo>
                <a:cubicBezTo>
                  <a:pt x="12392" y="5830"/>
                  <a:pt x="12908" y="5808"/>
                  <a:pt x="13425" y="5830"/>
                </a:cubicBezTo>
                <a:cubicBezTo>
                  <a:pt x="13941" y="5852"/>
                  <a:pt x="14113" y="5916"/>
                  <a:pt x="13941" y="5981"/>
                </a:cubicBezTo>
                <a:cubicBezTo>
                  <a:pt x="12134" y="6609"/>
                  <a:pt x="9982" y="7128"/>
                  <a:pt x="1807" y="7171"/>
                </a:cubicBezTo>
                <a:lnTo>
                  <a:pt x="1807" y="7928"/>
                </a:lnTo>
                <a:lnTo>
                  <a:pt x="9466" y="7928"/>
                </a:lnTo>
                <a:cubicBezTo>
                  <a:pt x="9982" y="7928"/>
                  <a:pt x="10413" y="7982"/>
                  <a:pt x="10413" y="8047"/>
                </a:cubicBezTo>
                <a:lnTo>
                  <a:pt x="10413" y="21492"/>
                </a:lnTo>
                <a:cubicBezTo>
                  <a:pt x="10499" y="21546"/>
                  <a:pt x="10068" y="21600"/>
                  <a:pt x="9552" y="21600"/>
                </a:cubicBezTo>
                <a:close/>
                <a:moveTo>
                  <a:pt x="20653" y="14905"/>
                </a:moveTo>
                <a:cubicBezTo>
                  <a:pt x="20137" y="14905"/>
                  <a:pt x="19707" y="14851"/>
                  <a:pt x="19707" y="14786"/>
                </a:cubicBezTo>
                <a:lnTo>
                  <a:pt x="19707" y="119"/>
                </a:lnTo>
                <a:cubicBezTo>
                  <a:pt x="19707" y="54"/>
                  <a:pt x="20137" y="0"/>
                  <a:pt x="20653" y="0"/>
                </a:cubicBezTo>
                <a:cubicBezTo>
                  <a:pt x="21170" y="0"/>
                  <a:pt x="21600" y="54"/>
                  <a:pt x="21600" y="119"/>
                </a:cubicBezTo>
                <a:lnTo>
                  <a:pt x="21600" y="14797"/>
                </a:lnTo>
                <a:cubicBezTo>
                  <a:pt x="21514" y="14861"/>
                  <a:pt x="21084" y="14905"/>
                  <a:pt x="20653" y="14905"/>
                </a:cubicBezTo>
                <a:close/>
              </a:path>
            </a:pathLst>
          </a:custGeom>
          <a:solidFill>
            <a:schemeClr val="accent1">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4" name="Shape">
            <a:extLst>
              <a:ext uri="{FF2B5EF4-FFF2-40B4-BE49-F238E27FC236}">
                <a16:creationId xmlns:a16="http://schemas.microsoft.com/office/drawing/2014/main" id="{87711F3F-E8AC-4F98-B3E5-3F6E826B9DE8}"/>
              </a:ext>
            </a:extLst>
          </p:cNvPr>
          <p:cNvSpPr/>
          <p:nvPr/>
        </p:nvSpPr>
        <p:spPr>
          <a:xfrm>
            <a:off x="4818097" y="1356966"/>
            <a:ext cx="535292" cy="2311206"/>
          </a:xfrm>
          <a:custGeom>
            <a:avLst/>
            <a:gdLst/>
            <a:ahLst/>
            <a:cxnLst>
              <a:cxn ang="0">
                <a:pos x="wd2" y="hd2"/>
              </a:cxn>
              <a:cxn ang="5400000">
                <a:pos x="wd2" y="hd2"/>
              </a:cxn>
              <a:cxn ang="10800000">
                <a:pos x="wd2" y="hd2"/>
              </a:cxn>
              <a:cxn ang="16200000">
                <a:pos x="wd2" y="hd2"/>
              </a:cxn>
            </a:cxnLst>
            <a:rect l="0" t="0" r="r" b="b"/>
            <a:pathLst>
              <a:path w="21600" h="21600" extrusionOk="0">
                <a:moveTo>
                  <a:pt x="20329" y="21600"/>
                </a:moveTo>
                <a:cubicBezTo>
                  <a:pt x="20012" y="21600"/>
                  <a:pt x="19747" y="21546"/>
                  <a:pt x="19747" y="21481"/>
                </a:cubicBezTo>
                <a:lnTo>
                  <a:pt x="19747" y="14905"/>
                </a:lnTo>
                <a:lnTo>
                  <a:pt x="636" y="14905"/>
                </a:lnTo>
                <a:cubicBezTo>
                  <a:pt x="318" y="14905"/>
                  <a:pt x="53" y="14851"/>
                  <a:pt x="53" y="14786"/>
                </a:cubicBezTo>
                <a:lnTo>
                  <a:pt x="53" y="13693"/>
                </a:lnTo>
                <a:cubicBezTo>
                  <a:pt x="53" y="12341"/>
                  <a:pt x="3600" y="11552"/>
                  <a:pt x="6988" y="10795"/>
                </a:cubicBezTo>
                <a:cubicBezTo>
                  <a:pt x="10376" y="10048"/>
                  <a:pt x="13553" y="9334"/>
                  <a:pt x="13553" y="8112"/>
                </a:cubicBezTo>
                <a:cubicBezTo>
                  <a:pt x="13553" y="7290"/>
                  <a:pt x="12018" y="7214"/>
                  <a:pt x="10588" y="7214"/>
                </a:cubicBezTo>
                <a:cubicBezTo>
                  <a:pt x="9212" y="7214"/>
                  <a:pt x="7623" y="7301"/>
                  <a:pt x="7623" y="7972"/>
                </a:cubicBezTo>
                <a:lnTo>
                  <a:pt x="7623" y="8923"/>
                </a:lnTo>
                <a:cubicBezTo>
                  <a:pt x="7623" y="8988"/>
                  <a:pt x="7359" y="9042"/>
                  <a:pt x="7041" y="9042"/>
                </a:cubicBezTo>
                <a:lnTo>
                  <a:pt x="582" y="9042"/>
                </a:lnTo>
                <a:cubicBezTo>
                  <a:pt x="265" y="9042"/>
                  <a:pt x="0" y="8988"/>
                  <a:pt x="0" y="8923"/>
                </a:cubicBezTo>
                <a:lnTo>
                  <a:pt x="0" y="8069"/>
                </a:lnTo>
                <a:cubicBezTo>
                  <a:pt x="0" y="6598"/>
                  <a:pt x="3600" y="5776"/>
                  <a:pt x="10164" y="5733"/>
                </a:cubicBezTo>
                <a:lnTo>
                  <a:pt x="10164" y="119"/>
                </a:lnTo>
                <a:cubicBezTo>
                  <a:pt x="10164" y="54"/>
                  <a:pt x="10429" y="0"/>
                  <a:pt x="10747" y="0"/>
                </a:cubicBezTo>
                <a:cubicBezTo>
                  <a:pt x="11065" y="0"/>
                  <a:pt x="11329" y="54"/>
                  <a:pt x="11329" y="119"/>
                </a:cubicBezTo>
                <a:lnTo>
                  <a:pt x="11329" y="5852"/>
                </a:lnTo>
                <a:cubicBezTo>
                  <a:pt x="11329" y="5916"/>
                  <a:pt x="11065" y="5971"/>
                  <a:pt x="10747" y="5971"/>
                </a:cubicBezTo>
                <a:cubicBezTo>
                  <a:pt x="4500" y="5971"/>
                  <a:pt x="1165" y="6695"/>
                  <a:pt x="1165" y="8080"/>
                </a:cubicBezTo>
                <a:lnTo>
                  <a:pt x="1165" y="8826"/>
                </a:lnTo>
                <a:lnTo>
                  <a:pt x="6459" y="8826"/>
                </a:lnTo>
                <a:lnTo>
                  <a:pt x="6459" y="7993"/>
                </a:lnTo>
                <a:cubicBezTo>
                  <a:pt x="6459" y="7182"/>
                  <a:pt x="8682" y="7009"/>
                  <a:pt x="10535" y="7009"/>
                </a:cubicBezTo>
                <a:cubicBezTo>
                  <a:pt x="13341" y="7009"/>
                  <a:pt x="14611" y="7355"/>
                  <a:pt x="14611" y="8134"/>
                </a:cubicBezTo>
                <a:cubicBezTo>
                  <a:pt x="14611" y="9453"/>
                  <a:pt x="11117" y="10221"/>
                  <a:pt x="7782" y="10978"/>
                </a:cubicBezTo>
                <a:cubicBezTo>
                  <a:pt x="4341" y="11736"/>
                  <a:pt x="1112" y="12460"/>
                  <a:pt x="1112" y="13726"/>
                </a:cubicBezTo>
                <a:lnTo>
                  <a:pt x="1112" y="14699"/>
                </a:lnTo>
                <a:lnTo>
                  <a:pt x="20223" y="14699"/>
                </a:lnTo>
                <a:cubicBezTo>
                  <a:pt x="20541" y="14699"/>
                  <a:pt x="20806" y="14753"/>
                  <a:pt x="20806" y="14818"/>
                </a:cubicBezTo>
                <a:lnTo>
                  <a:pt x="20806" y="21513"/>
                </a:lnTo>
                <a:cubicBezTo>
                  <a:pt x="20859" y="21546"/>
                  <a:pt x="20647" y="21600"/>
                  <a:pt x="20329" y="21600"/>
                </a:cubicBezTo>
                <a:close/>
                <a:moveTo>
                  <a:pt x="20329" y="13639"/>
                </a:moveTo>
                <a:lnTo>
                  <a:pt x="7465" y="13639"/>
                </a:lnTo>
                <a:cubicBezTo>
                  <a:pt x="7200" y="13639"/>
                  <a:pt x="6988" y="13596"/>
                  <a:pt x="6935" y="13542"/>
                </a:cubicBezTo>
                <a:cubicBezTo>
                  <a:pt x="6882" y="13466"/>
                  <a:pt x="6882" y="13401"/>
                  <a:pt x="6882" y="13326"/>
                </a:cubicBezTo>
                <a:cubicBezTo>
                  <a:pt x="6882" y="12677"/>
                  <a:pt x="9318" y="12114"/>
                  <a:pt x="12176" y="11476"/>
                </a:cubicBezTo>
                <a:cubicBezTo>
                  <a:pt x="16041" y="10611"/>
                  <a:pt x="20435" y="9616"/>
                  <a:pt x="20435" y="8047"/>
                </a:cubicBezTo>
                <a:cubicBezTo>
                  <a:pt x="20435" y="7982"/>
                  <a:pt x="20700" y="7928"/>
                  <a:pt x="21018" y="7928"/>
                </a:cubicBezTo>
                <a:cubicBezTo>
                  <a:pt x="21335" y="7928"/>
                  <a:pt x="21600" y="7982"/>
                  <a:pt x="21600" y="8047"/>
                </a:cubicBezTo>
                <a:cubicBezTo>
                  <a:pt x="21600" y="9702"/>
                  <a:pt x="16888" y="10773"/>
                  <a:pt x="13077" y="11627"/>
                </a:cubicBezTo>
                <a:cubicBezTo>
                  <a:pt x="10377" y="12233"/>
                  <a:pt x="8047" y="12752"/>
                  <a:pt x="8047" y="13315"/>
                </a:cubicBezTo>
                <a:cubicBezTo>
                  <a:pt x="8047" y="13336"/>
                  <a:pt x="8047" y="13369"/>
                  <a:pt x="8047" y="13390"/>
                </a:cubicBezTo>
                <a:lnTo>
                  <a:pt x="20435" y="13390"/>
                </a:lnTo>
                <a:cubicBezTo>
                  <a:pt x="20753" y="13390"/>
                  <a:pt x="21018" y="13445"/>
                  <a:pt x="21018" y="13509"/>
                </a:cubicBezTo>
                <a:cubicBezTo>
                  <a:pt x="21018" y="13574"/>
                  <a:pt x="20647" y="13639"/>
                  <a:pt x="20329" y="13639"/>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5" name="Shape">
            <a:extLst>
              <a:ext uri="{FF2B5EF4-FFF2-40B4-BE49-F238E27FC236}">
                <a16:creationId xmlns:a16="http://schemas.microsoft.com/office/drawing/2014/main" id="{DD47456E-63B3-4282-A986-9FFCBDCB1F49}"/>
              </a:ext>
            </a:extLst>
          </p:cNvPr>
          <p:cNvSpPr/>
          <p:nvPr/>
        </p:nvSpPr>
        <p:spPr>
          <a:xfrm>
            <a:off x="8195420" y="1356967"/>
            <a:ext cx="535292" cy="2440118"/>
          </a:xfrm>
          <a:custGeom>
            <a:avLst/>
            <a:gdLst/>
            <a:ahLst/>
            <a:cxnLst>
              <a:cxn ang="0">
                <a:pos x="wd2" y="hd2"/>
              </a:cxn>
              <a:cxn ang="5400000">
                <a:pos x="wd2" y="hd2"/>
              </a:cxn>
              <a:cxn ang="10800000">
                <a:pos x="wd2" y="hd2"/>
              </a:cxn>
              <a:cxn ang="16200000">
                <a:pos x="wd2" y="hd2"/>
              </a:cxn>
            </a:cxnLst>
            <a:rect l="0" t="0" r="r" b="b"/>
            <a:pathLst>
              <a:path w="21600" h="21600" extrusionOk="0">
                <a:moveTo>
                  <a:pt x="585" y="21600"/>
                </a:moveTo>
                <a:cubicBezTo>
                  <a:pt x="266" y="21600"/>
                  <a:pt x="0" y="21546"/>
                  <a:pt x="0" y="21481"/>
                </a:cubicBezTo>
                <a:lnTo>
                  <a:pt x="0" y="11930"/>
                </a:lnTo>
                <a:cubicBezTo>
                  <a:pt x="0" y="11865"/>
                  <a:pt x="266" y="11811"/>
                  <a:pt x="585" y="11811"/>
                </a:cubicBezTo>
                <a:lnTo>
                  <a:pt x="7076" y="11811"/>
                </a:lnTo>
                <a:cubicBezTo>
                  <a:pt x="7395" y="11811"/>
                  <a:pt x="7661" y="11865"/>
                  <a:pt x="7661" y="11930"/>
                </a:cubicBezTo>
                <a:lnTo>
                  <a:pt x="7661" y="12752"/>
                </a:lnTo>
                <a:cubicBezTo>
                  <a:pt x="7661" y="13423"/>
                  <a:pt x="9257" y="13509"/>
                  <a:pt x="10640" y="13509"/>
                </a:cubicBezTo>
                <a:cubicBezTo>
                  <a:pt x="12077" y="13509"/>
                  <a:pt x="13620" y="13445"/>
                  <a:pt x="13620" y="12623"/>
                </a:cubicBezTo>
                <a:lnTo>
                  <a:pt x="13620" y="11930"/>
                </a:lnTo>
                <a:cubicBezTo>
                  <a:pt x="13620" y="11087"/>
                  <a:pt x="12130" y="10924"/>
                  <a:pt x="9683" y="10924"/>
                </a:cubicBezTo>
                <a:lnTo>
                  <a:pt x="7395" y="10924"/>
                </a:lnTo>
                <a:cubicBezTo>
                  <a:pt x="7076" y="10924"/>
                  <a:pt x="6810" y="10870"/>
                  <a:pt x="6810" y="10805"/>
                </a:cubicBezTo>
                <a:lnTo>
                  <a:pt x="6810" y="9540"/>
                </a:lnTo>
                <a:cubicBezTo>
                  <a:pt x="6810" y="9475"/>
                  <a:pt x="7076" y="9421"/>
                  <a:pt x="7395" y="9421"/>
                </a:cubicBezTo>
                <a:lnTo>
                  <a:pt x="10055" y="9421"/>
                </a:lnTo>
                <a:cubicBezTo>
                  <a:pt x="12556" y="9421"/>
                  <a:pt x="13620" y="9183"/>
                  <a:pt x="13620" y="8599"/>
                </a:cubicBezTo>
                <a:lnTo>
                  <a:pt x="13620" y="8101"/>
                </a:lnTo>
                <a:cubicBezTo>
                  <a:pt x="13620" y="7279"/>
                  <a:pt x="12077" y="7204"/>
                  <a:pt x="10640" y="7204"/>
                </a:cubicBezTo>
                <a:cubicBezTo>
                  <a:pt x="9257" y="7204"/>
                  <a:pt x="7661" y="7290"/>
                  <a:pt x="7661" y="7961"/>
                </a:cubicBezTo>
                <a:lnTo>
                  <a:pt x="7661" y="8534"/>
                </a:lnTo>
                <a:cubicBezTo>
                  <a:pt x="7661" y="8599"/>
                  <a:pt x="7395" y="8653"/>
                  <a:pt x="7076" y="8653"/>
                </a:cubicBezTo>
                <a:lnTo>
                  <a:pt x="585" y="8653"/>
                </a:lnTo>
                <a:cubicBezTo>
                  <a:pt x="266" y="8653"/>
                  <a:pt x="0" y="8599"/>
                  <a:pt x="0" y="8534"/>
                </a:cubicBezTo>
                <a:lnTo>
                  <a:pt x="0" y="8058"/>
                </a:lnTo>
                <a:cubicBezTo>
                  <a:pt x="0" y="6555"/>
                  <a:pt x="3830" y="5722"/>
                  <a:pt x="10747" y="5722"/>
                </a:cubicBezTo>
                <a:cubicBezTo>
                  <a:pt x="11066" y="5722"/>
                  <a:pt x="11332" y="5776"/>
                  <a:pt x="11332" y="5841"/>
                </a:cubicBezTo>
                <a:cubicBezTo>
                  <a:pt x="11332" y="5906"/>
                  <a:pt x="11066" y="5960"/>
                  <a:pt x="10747" y="5960"/>
                </a:cubicBezTo>
                <a:cubicBezTo>
                  <a:pt x="4469" y="5960"/>
                  <a:pt x="1117" y="6684"/>
                  <a:pt x="1117" y="8069"/>
                </a:cubicBezTo>
                <a:lnTo>
                  <a:pt x="1117" y="8437"/>
                </a:lnTo>
                <a:lnTo>
                  <a:pt x="6437" y="8437"/>
                </a:lnTo>
                <a:lnTo>
                  <a:pt x="6437" y="7982"/>
                </a:lnTo>
                <a:cubicBezTo>
                  <a:pt x="6437" y="7171"/>
                  <a:pt x="8672" y="6998"/>
                  <a:pt x="10534" y="6998"/>
                </a:cubicBezTo>
                <a:cubicBezTo>
                  <a:pt x="13353" y="6998"/>
                  <a:pt x="14630" y="7344"/>
                  <a:pt x="14630" y="8123"/>
                </a:cubicBezTo>
                <a:lnTo>
                  <a:pt x="14630" y="8621"/>
                </a:lnTo>
                <a:cubicBezTo>
                  <a:pt x="14630" y="9324"/>
                  <a:pt x="13087" y="9670"/>
                  <a:pt x="9948" y="9670"/>
                </a:cubicBezTo>
                <a:lnTo>
                  <a:pt x="7820" y="9670"/>
                </a:lnTo>
                <a:lnTo>
                  <a:pt x="7820" y="10708"/>
                </a:lnTo>
                <a:lnTo>
                  <a:pt x="9576" y="10708"/>
                </a:lnTo>
                <a:cubicBezTo>
                  <a:pt x="13087" y="10708"/>
                  <a:pt x="14630" y="11076"/>
                  <a:pt x="14630" y="11952"/>
                </a:cubicBezTo>
                <a:lnTo>
                  <a:pt x="14630" y="12644"/>
                </a:lnTo>
                <a:cubicBezTo>
                  <a:pt x="14630" y="13401"/>
                  <a:pt x="13300" y="13758"/>
                  <a:pt x="10534" y="13758"/>
                </a:cubicBezTo>
                <a:cubicBezTo>
                  <a:pt x="8672" y="13758"/>
                  <a:pt x="6437" y="13585"/>
                  <a:pt x="6437" y="12774"/>
                </a:cubicBezTo>
                <a:lnTo>
                  <a:pt x="6437" y="12071"/>
                </a:lnTo>
                <a:lnTo>
                  <a:pt x="1117" y="12071"/>
                </a:lnTo>
                <a:lnTo>
                  <a:pt x="1117" y="21503"/>
                </a:lnTo>
                <a:cubicBezTo>
                  <a:pt x="1171" y="21546"/>
                  <a:pt x="905" y="21600"/>
                  <a:pt x="585" y="21600"/>
                </a:cubicBezTo>
                <a:close/>
                <a:moveTo>
                  <a:pt x="10800" y="15013"/>
                </a:moveTo>
                <a:cubicBezTo>
                  <a:pt x="10481" y="15013"/>
                  <a:pt x="10215" y="14959"/>
                  <a:pt x="10215" y="14894"/>
                </a:cubicBezTo>
                <a:cubicBezTo>
                  <a:pt x="10215" y="14829"/>
                  <a:pt x="10481" y="14775"/>
                  <a:pt x="10800" y="14775"/>
                </a:cubicBezTo>
                <a:cubicBezTo>
                  <a:pt x="17078" y="14775"/>
                  <a:pt x="20429" y="14050"/>
                  <a:pt x="20429" y="12666"/>
                </a:cubicBezTo>
                <a:lnTo>
                  <a:pt x="20429" y="11974"/>
                </a:lnTo>
                <a:cubicBezTo>
                  <a:pt x="20429" y="11054"/>
                  <a:pt x="18993" y="10481"/>
                  <a:pt x="15961" y="10221"/>
                </a:cubicBezTo>
                <a:cubicBezTo>
                  <a:pt x="15748" y="10200"/>
                  <a:pt x="15641" y="10156"/>
                  <a:pt x="15641" y="10113"/>
                </a:cubicBezTo>
                <a:cubicBezTo>
                  <a:pt x="15641" y="10070"/>
                  <a:pt x="15801" y="10027"/>
                  <a:pt x="16014" y="10005"/>
                </a:cubicBezTo>
                <a:cubicBezTo>
                  <a:pt x="19046" y="9745"/>
                  <a:pt x="20429" y="9205"/>
                  <a:pt x="20429" y="8296"/>
                </a:cubicBezTo>
                <a:lnTo>
                  <a:pt x="20429" y="119"/>
                </a:lnTo>
                <a:cubicBezTo>
                  <a:pt x="20429" y="54"/>
                  <a:pt x="20695" y="0"/>
                  <a:pt x="21015" y="0"/>
                </a:cubicBezTo>
                <a:cubicBezTo>
                  <a:pt x="21334" y="0"/>
                  <a:pt x="21600" y="54"/>
                  <a:pt x="21600" y="119"/>
                </a:cubicBezTo>
                <a:lnTo>
                  <a:pt x="21600" y="8296"/>
                </a:lnTo>
                <a:cubicBezTo>
                  <a:pt x="21600" y="9194"/>
                  <a:pt x="20270" y="9789"/>
                  <a:pt x="17504" y="10124"/>
                </a:cubicBezTo>
                <a:cubicBezTo>
                  <a:pt x="20217" y="10459"/>
                  <a:pt x="21600" y="11087"/>
                  <a:pt x="21600" y="11984"/>
                </a:cubicBezTo>
                <a:lnTo>
                  <a:pt x="21600" y="12677"/>
                </a:lnTo>
                <a:cubicBezTo>
                  <a:pt x="21547" y="14180"/>
                  <a:pt x="17716" y="15013"/>
                  <a:pt x="10800" y="15013"/>
                </a:cubicBez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nvGrpSpPr>
          <p:cNvPr id="6" name="Group 5">
            <a:extLst>
              <a:ext uri="{FF2B5EF4-FFF2-40B4-BE49-F238E27FC236}">
                <a16:creationId xmlns:a16="http://schemas.microsoft.com/office/drawing/2014/main" id="{C463332D-34C3-4585-9EC3-CA9347518F6B}"/>
              </a:ext>
            </a:extLst>
          </p:cNvPr>
          <p:cNvGrpSpPr/>
          <p:nvPr/>
        </p:nvGrpSpPr>
        <p:grpSpPr>
          <a:xfrm>
            <a:off x="1779704" y="1622318"/>
            <a:ext cx="2036054" cy="1290153"/>
            <a:chOff x="8921976" y="1097393"/>
            <a:chExt cx="2926081" cy="1290153"/>
          </a:xfrm>
        </p:grpSpPr>
        <p:sp>
          <p:nvSpPr>
            <p:cNvPr id="7" name="TextBox 6">
              <a:extLst>
                <a:ext uri="{FF2B5EF4-FFF2-40B4-BE49-F238E27FC236}">
                  <a16:creationId xmlns:a16="http://schemas.microsoft.com/office/drawing/2014/main" id="{B5161AC6-7B0A-4559-BBEF-417C4BAC7CAB}"/>
                </a:ext>
              </a:extLst>
            </p:cNvPr>
            <p:cNvSpPr txBox="1"/>
            <p:nvPr/>
          </p:nvSpPr>
          <p:spPr>
            <a:xfrm>
              <a:off x="8921976" y="1097393"/>
              <a:ext cx="2926079" cy="830997"/>
            </a:xfrm>
            <a:prstGeom prst="rect">
              <a:avLst/>
            </a:prstGeom>
            <a:noFill/>
          </p:spPr>
          <p:txBody>
            <a:bodyPr wrap="square" lIns="0" rIns="0" rtlCol="0" anchor="b">
              <a:spAutoFit/>
            </a:bodyPr>
            <a:lstStyle/>
            <a:p>
              <a:r>
                <a:rPr lang="en-US" sz="2400"/>
                <a:t>Tayan Benson</a:t>
              </a:r>
            </a:p>
          </p:txBody>
        </p:sp>
        <p:sp>
          <p:nvSpPr>
            <p:cNvPr id="8" name="TextBox 7">
              <a:extLst>
                <a:ext uri="{FF2B5EF4-FFF2-40B4-BE49-F238E27FC236}">
                  <a16:creationId xmlns:a16="http://schemas.microsoft.com/office/drawing/2014/main" id="{BD92CBFC-A5B8-41CF-9E45-D52C01B0E01E}"/>
                </a:ext>
              </a:extLst>
            </p:cNvPr>
            <p:cNvSpPr txBox="1"/>
            <p:nvPr/>
          </p:nvSpPr>
          <p:spPr>
            <a:xfrm>
              <a:off x="8921978" y="1925881"/>
              <a:ext cx="2926079" cy="461665"/>
            </a:xfrm>
            <a:prstGeom prst="rect">
              <a:avLst/>
            </a:prstGeom>
            <a:noFill/>
          </p:spPr>
          <p:txBody>
            <a:bodyPr wrap="square" lIns="0" rIns="0" rtlCol="0" anchor="t">
              <a:spAutoFit/>
            </a:bodyPr>
            <a:lstStyle/>
            <a:p>
              <a:pPr>
                <a:spcAft>
                  <a:spcPts val="1200"/>
                </a:spcAft>
              </a:pPr>
              <a:r>
                <a:rPr lang="en-US" sz="1200"/>
                <a:t>Problem Overview and Data Source</a:t>
              </a:r>
              <a:endParaRPr lang="en-US" sz="1200" noProof="1">
                <a:solidFill>
                  <a:schemeClr val="tx1">
                    <a:lumMod val="65000"/>
                    <a:lumOff val="35000"/>
                  </a:schemeClr>
                </a:solidFill>
              </a:endParaRPr>
            </a:p>
          </p:txBody>
        </p:sp>
      </p:grpSp>
      <p:grpSp>
        <p:nvGrpSpPr>
          <p:cNvPr id="15" name="Group 14">
            <a:extLst>
              <a:ext uri="{FF2B5EF4-FFF2-40B4-BE49-F238E27FC236}">
                <a16:creationId xmlns:a16="http://schemas.microsoft.com/office/drawing/2014/main" id="{8717EEF4-F4F1-7074-168E-8A1D383402C5}"/>
              </a:ext>
            </a:extLst>
          </p:cNvPr>
          <p:cNvGrpSpPr/>
          <p:nvPr/>
        </p:nvGrpSpPr>
        <p:grpSpPr>
          <a:xfrm>
            <a:off x="5514364" y="1991650"/>
            <a:ext cx="2358774" cy="736155"/>
            <a:chOff x="8921976" y="1466725"/>
            <a:chExt cx="3389873" cy="736155"/>
          </a:xfrm>
        </p:grpSpPr>
        <p:sp>
          <p:nvSpPr>
            <p:cNvPr id="16" name="TextBox 15">
              <a:extLst>
                <a:ext uri="{FF2B5EF4-FFF2-40B4-BE49-F238E27FC236}">
                  <a16:creationId xmlns:a16="http://schemas.microsoft.com/office/drawing/2014/main" id="{FB6AFB21-E304-5795-8874-5E6CA9D7772C}"/>
                </a:ext>
              </a:extLst>
            </p:cNvPr>
            <p:cNvSpPr txBox="1"/>
            <p:nvPr/>
          </p:nvSpPr>
          <p:spPr>
            <a:xfrm>
              <a:off x="8921976" y="1466725"/>
              <a:ext cx="3389873" cy="461665"/>
            </a:xfrm>
            <a:prstGeom prst="rect">
              <a:avLst/>
            </a:prstGeom>
            <a:noFill/>
          </p:spPr>
          <p:txBody>
            <a:bodyPr wrap="square" lIns="0" rIns="0" rtlCol="0" anchor="b">
              <a:spAutoFit/>
            </a:bodyPr>
            <a:lstStyle/>
            <a:p>
              <a:r>
                <a:rPr lang="en-US" sz="2400"/>
                <a:t>Clancy Crawford</a:t>
              </a:r>
            </a:p>
          </p:txBody>
        </p:sp>
        <p:sp>
          <p:nvSpPr>
            <p:cNvPr id="17" name="TextBox 16">
              <a:extLst>
                <a:ext uri="{FF2B5EF4-FFF2-40B4-BE49-F238E27FC236}">
                  <a16:creationId xmlns:a16="http://schemas.microsoft.com/office/drawing/2014/main" id="{A1214472-B648-6C77-C0B9-848324F5390B}"/>
                </a:ext>
              </a:extLst>
            </p:cNvPr>
            <p:cNvSpPr txBox="1"/>
            <p:nvPr/>
          </p:nvSpPr>
          <p:spPr>
            <a:xfrm>
              <a:off x="8921977" y="1925881"/>
              <a:ext cx="2926078" cy="276999"/>
            </a:xfrm>
            <a:prstGeom prst="rect">
              <a:avLst/>
            </a:prstGeom>
            <a:noFill/>
          </p:spPr>
          <p:txBody>
            <a:bodyPr wrap="square" lIns="0" rIns="0" rtlCol="0" anchor="t">
              <a:spAutoFit/>
            </a:bodyPr>
            <a:lstStyle/>
            <a:p>
              <a:pPr>
                <a:spcAft>
                  <a:spcPts val="1200"/>
                </a:spcAft>
              </a:pPr>
              <a:r>
                <a:rPr lang="en-US" sz="1200"/>
                <a:t>Results Visualization</a:t>
              </a:r>
              <a:endParaRPr lang="en-US" sz="1200" noProof="1">
                <a:solidFill>
                  <a:schemeClr val="tx1">
                    <a:lumMod val="65000"/>
                    <a:lumOff val="35000"/>
                  </a:schemeClr>
                </a:solidFill>
              </a:endParaRPr>
            </a:p>
          </p:txBody>
        </p:sp>
      </p:grpSp>
      <p:grpSp>
        <p:nvGrpSpPr>
          <p:cNvPr id="21" name="Group 20">
            <a:extLst>
              <a:ext uri="{FF2B5EF4-FFF2-40B4-BE49-F238E27FC236}">
                <a16:creationId xmlns:a16="http://schemas.microsoft.com/office/drawing/2014/main" id="{46E92AD3-9829-AFC8-A5F4-013AE5D371FA}"/>
              </a:ext>
            </a:extLst>
          </p:cNvPr>
          <p:cNvGrpSpPr/>
          <p:nvPr/>
        </p:nvGrpSpPr>
        <p:grpSpPr>
          <a:xfrm>
            <a:off x="8891688" y="1991650"/>
            <a:ext cx="2036054" cy="920821"/>
            <a:chOff x="8921976" y="1466725"/>
            <a:chExt cx="2926081" cy="920821"/>
          </a:xfrm>
        </p:grpSpPr>
        <p:sp>
          <p:nvSpPr>
            <p:cNvPr id="22" name="TextBox 21">
              <a:extLst>
                <a:ext uri="{FF2B5EF4-FFF2-40B4-BE49-F238E27FC236}">
                  <a16:creationId xmlns:a16="http://schemas.microsoft.com/office/drawing/2014/main" id="{52A8C08C-0D85-1714-99D2-3B5052A5F66D}"/>
                </a:ext>
              </a:extLst>
            </p:cNvPr>
            <p:cNvSpPr txBox="1"/>
            <p:nvPr/>
          </p:nvSpPr>
          <p:spPr>
            <a:xfrm>
              <a:off x="8921976" y="1466725"/>
              <a:ext cx="2926080" cy="461665"/>
            </a:xfrm>
            <a:prstGeom prst="rect">
              <a:avLst/>
            </a:prstGeom>
            <a:noFill/>
          </p:spPr>
          <p:txBody>
            <a:bodyPr wrap="square" lIns="0" rIns="0" rtlCol="0" anchor="b">
              <a:spAutoFit/>
            </a:bodyPr>
            <a:lstStyle/>
            <a:p>
              <a:r>
                <a:rPr lang="en-US" sz="2400"/>
                <a:t>Brock Decker</a:t>
              </a:r>
            </a:p>
          </p:txBody>
        </p:sp>
        <p:sp>
          <p:nvSpPr>
            <p:cNvPr id="23" name="TextBox 22">
              <a:extLst>
                <a:ext uri="{FF2B5EF4-FFF2-40B4-BE49-F238E27FC236}">
                  <a16:creationId xmlns:a16="http://schemas.microsoft.com/office/drawing/2014/main" id="{4246865E-2A24-0A14-6B16-70EEA503D164}"/>
                </a:ext>
              </a:extLst>
            </p:cNvPr>
            <p:cNvSpPr txBox="1"/>
            <p:nvPr/>
          </p:nvSpPr>
          <p:spPr>
            <a:xfrm>
              <a:off x="8921977" y="1925881"/>
              <a:ext cx="2926080" cy="461665"/>
            </a:xfrm>
            <a:prstGeom prst="rect">
              <a:avLst/>
            </a:prstGeom>
            <a:noFill/>
          </p:spPr>
          <p:txBody>
            <a:bodyPr wrap="square" lIns="0" rIns="0" rtlCol="0" anchor="t">
              <a:spAutoFit/>
            </a:bodyPr>
            <a:lstStyle/>
            <a:p>
              <a:r>
                <a:rPr lang="en-US" sz="1200"/>
                <a:t>Results and Conclusion Author</a:t>
              </a:r>
            </a:p>
          </p:txBody>
        </p:sp>
      </p:grpSp>
      <p:sp>
        <p:nvSpPr>
          <p:cNvPr id="25" name="Shape">
            <a:extLst>
              <a:ext uri="{FF2B5EF4-FFF2-40B4-BE49-F238E27FC236}">
                <a16:creationId xmlns:a16="http://schemas.microsoft.com/office/drawing/2014/main" id="{ECFED2D8-D025-493C-FF66-076054BFE4B7}"/>
              </a:ext>
            </a:extLst>
          </p:cNvPr>
          <p:cNvSpPr/>
          <p:nvPr/>
        </p:nvSpPr>
        <p:spPr>
          <a:xfrm>
            <a:off x="4709106" y="4183795"/>
            <a:ext cx="597524" cy="1837179"/>
          </a:xfrm>
          <a:custGeom>
            <a:avLst/>
            <a:gdLst/>
            <a:ahLst/>
            <a:cxnLst>
              <a:cxn ang="0">
                <a:pos x="wd2" y="hd2"/>
              </a:cxn>
              <a:cxn ang="5400000">
                <a:pos x="wd2" y="hd2"/>
              </a:cxn>
              <a:cxn ang="10800000">
                <a:pos x="wd2" y="hd2"/>
              </a:cxn>
              <a:cxn ang="16200000">
                <a:pos x="wd2" y="hd2"/>
              </a:cxn>
            </a:cxnLst>
            <a:rect l="0" t="0" r="r" b="b"/>
            <a:pathLst>
              <a:path w="21600" h="21600" extrusionOk="0">
                <a:moveTo>
                  <a:pt x="582" y="21600"/>
                </a:moveTo>
                <a:cubicBezTo>
                  <a:pt x="265" y="21600"/>
                  <a:pt x="0" y="21546"/>
                  <a:pt x="0" y="21481"/>
                </a:cubicBezTo>
                <a:lnTo>
                  <a:pt x="0" y="11935"/>
                </a:lnTo>
                <a:cubicBezTo>
                  <a:pt x="0" y="11870"/>
                  <a:pt x="265" y="11816"/>
                  <a:pt x="582" y="11816"/>
                </a:cubicBezTo>
                <a:lnTo>
                  <a:pt x="7041" y="11816"/>
                </a:lnTo>
                <a:cubicBezTo>
                  <a:pt x="7359" y="11816"/>
                  <a:pt x="7623" y="11870"/>
                  <a:pt x="7623" y="11935"/>
                </a:cubicBezTo>
                <a:lnTo>
                  <a:pt x="7623" y="12757"/>
                </a:lnTo>
                <a:cubicBezTo>
                  <a:pt x="7623" y="13416"/>
                  <a:pt x="9212" y="13503"/>
                  <a:pt x="10588" y="13503"/>
                </a:cubicBezTo>
                <a:cubicBezTo>
                  <a:pt x="11965" y="13503"/>
                  <a:pt x="13553" y="13416"/>
                  <a:pt x="13553" y="12757"/>
                </a:cubicBezTo>
                <a:lnTo>
                  <a:pt x="13553" y="10811"/>
                </a:lnTo>
                <a:cubicBezTo>
                  <a:pt x="13553" y="10141"/>
                  <a:pt x="11965" y="10054"/>
                  <a:pt x="10588" y="10054"/>
                </a:cubicBezTo>
                <a:cubicBezTo>
                  <a:pt x="9212" y="10054"/>
                  <a:pt x="7623" y="10141"/>
                  <a:pt x="7623" y="10811"/>
                </a:cubicBezTo>
                <a:lnTo>
                  <a:pt x="7623" y="11081"/>
                </a:lnTo>
                <a:cubicBezTo>
                  <a:pt x="7623" y="11146"/>
                  <a:pt x="7359" y="11200"/>
                  <a:pt x="7041" y="11200"/>
                </a:cubicBezTo>
                <a:lnTo>
                  <a:pt x="582" y="11200"/>
                </a:lnTo>
                <a:cubicBezTo>
                  <a:pt x="424" y="11200"/>
                  <a:pt x="265" y="11189"/>
                  <a:pt x="159" y="11168"/>
                </a:cubicBezTo>
                <a:cubicBezTo>
                  <a:pt x="53" y="11146"/>
                  <a:pt x="0" y="11113"/>
                  <a:pt x="0" y="11081"/>
                </a:cubicBezTo>
                <a:lnTo>
                  <a:pt x="1218" y="5957"/>
                </a:lnTo>
                <a:cubicBezTo>
                  <a:pt x="1218" y="5892"/>
                  <a:pt x="1482" y="5849"/>
                  <a:pt x="1800" y="5849"/>
                </a:cubicBezTo>
                <a:lnTo>
                  <a:pt x="12123" y="5849"/>
                </a:lnTo>
                <a:cubicBezTo>
                  <a:pt x="12441" y="5849"/>
                  <a:pt x="12706" y="5903"/>
                  <a:pt x="12706" y="5968"/>
                </a:cubicBezTo>
                <a:cubicBezTo>
                  <a:pt x="12706" y="6032"/>
                  <a:pt x="12441" y="6086"/>
                  <a:pt x="12123" y="6086"/>
                </a:cubicBezTo>
                <a:lnTo>
                  <a:pt x="2329" y="6086"/>
                </a:lnTo>
                <a:lnTo>
                  <a:pt x="1165" y="10984"/>
                </a:lnTo>
                <a:lnTo>
                  <a:pt x="6459" y="10984"/>
                </a:lnTo>
                <a:lnTo>
                  <a:pt x="6459" y="10832"/>
                </a:lnTo>
                <a:cubicBezTo>
                  <a:pt x="6459" y="10022"/>
                  <a:pt x="8682" y="9849"/>
                  <a:pt x="10535" y="9849"/>
                </a:cubicBezTo>
                <a:cubicBezTo>
                  <a:pt x="12388" y="9849"/>
                  <a:pt x="14612" y="10022"/>
                  <a:pt x="14612" y="10832"/>
                </a:cubicBezTo>
                <a:lnTo>
                  <a:pt x="14612" y="12778"/>
                </a:lnTo>
                <a:cubicBezTo>
                  <a:pt x="14612" y="13427"/>
                  <a:pt x="13235" y="13751"/>
                  <a:pt x="10535" y="13751"/>
                </a:cubicBezTo>
                <a:cubicBezTo>
                  <a:pt x="7835" y="13751"/>
                  <a:pt x="6459" y="13427"/>
                  <a:pt x="6459" y="12778"/>
                </a:cubicBezTo>
                <a:lnTo>
                  <a:pt x="6459" y="12076"/>
                </a:lnTo>
                <a:lnTo>
                  <a:pt x="1165" y="12076"/>
                </a:lnTo>
                <a:lnTo>
                  <a:pt x="1165" y="21503"/>
                </a:lnTo>
                <a:cubicBezTo>
                  <a:pt x="1165" y="21546"/>
                  <a:pt x="900" y="21600"/>
                  <a:pt x="582" y="21600"/>
                </a:cubicBezTo>
                <a:close/>
                <a:moveTo>
                  <a:pt x="10747" y="15005"/>
                </a:moveTo>
                <a:cubicBezTo>
                  <a:pt x="10429" y="15005"/>
                  <a:pt x="10165" y="14951"/>
                  <a:pt x="10165" y="14886"/>
                </a:cubicBezTo>
                <a:cubicBezTo>
                  <a:pt x="10165" y="14822"/>
                  <a:pt x="10429" y="14768"/>
                  <a:pt x="10747" y="14768"/>
                </a:cubicBezTo>
                <a:cubicBezTo>
                  <a:pt x="16994" y="14768"/>
                  <a:pt x="20329" y="14043"/>
                  <a:pt x="20329" y="12659"/>
                </a:cubicBezTo>
                <a:lnTo>
                  <a:pt x="20329" y="10692"/>
                </a:lnTo>
                <a:cubicBezTo>
                  <a:pt x="20329" y="9427"/>
                  <a:pt x="18000" y="8789"/>
                  <a:pt x="13341" y="8789"/>
                </a:cubicBezTo>
                <a:cubicBezTo>
                  <a:pt x="10853" y="8789"/>
                  <a:pt x="9053" y="8984"/>
                  <a:pt x="7888" y="9373"/>
                </a:cubicBezTo>
                <a:cubicBezTo>
                  <a:pt x="7729" y="9416"/>
                  <a:pt x="7465" y="9438"/>
                  <a:pt x="7253" y="9427"/>
                </a:cubicBezTo>
                <a:cubicBezTo>
                  <a:pt x="6988" y="9416"/>
                  <a:pt x="6829" y="9362"/>
                  <a:pt x="6882" y="9308"/>
                </a:cubicBezTo>
                <a:lnTo>
                  <a:pt x="7465" y="7200"/>
                </a:lnTo>
                <a:cubicBezTo>
                  <a:pt x="7465" y="7135"/>
                  <a:pt x="7730" y="7092"/>
                  <a:pt x="8047" y="7092"/>
                </a:cubicBezTo>
                <a:lnTo>
                  <a:pt x="19324" y="7092"/>
                </a:lnTo>
                <a:lnTo>
                  <a:pt x="19324" y="119"/>
                </a:lnTo>
                <a:cubicBezTo>
                  <a:pt x="19324" y="54"/>
                  <a:pt x="19588" y="0"/>
                  <a:pt x="19906" y="0"/>
                </a:cubicBezTo>
                <a:cubicBezTo>
                  <a:pt x="20224" y="0"/>
                  <a:pt x="20488" y="54"/>
                  <a:pt x="20488" y="119"/>
                </a:cubicBezTo>
                <a:lnTo>
                  <a:pt x="20488" y="7211"/>
                </a:lnTo>
                <a:cubicBezTo>
                  <a:pt x="20488" y="7276"/>
                  <a:pt x="20224" y="7330"/>
                  <a:pt x="19906" y="7330"/>
                </a:cubicBezTo>
                <a:lnTo>
                  <a:pt x="8630" y="7330"/>
                </a:lnTo>
                <a:lnTo>
                  <a:pt x="8206" y="8973"/>
                </a:lnTo>
                <a:cubicBezTo>
                  <a:pt x="9530" y="8703"/>
                  <a:pt x="11330" y="8573"/>
                  <a:pt x="13500" y="8573"/>
                </a:cubicBezTo>
                <a:cubicBezTo>
                  <a:pt x="18741" y="8573"/>
                  <a:pt x="21600" y="9330"/>
                  <a:pt x="21600" y="10714"/>
                </a:cubicBezTo>
                <a:lnTo>
                  <a:pt x="21600" y="12681"/>
                </a:lnTo>
                <a:cubicBezTo>
                  <a:pt x="21441" y="14184"/>
                  <a:pt x="17629" y="15005"/>
                  <a:pt x="10747" y="15005"/>
                </a:cubicBezTo>
                <a:close/>
              </a:path>
            </a:pathLst>
          </a:custGeom>
          <a:solidFill>
            <a:schemeClr val="accent5"/>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26" name="Shape">
            <a:extLst>
              <a:ext uri="{FF2B5EF4-FFF2-40B4-BE49-F238E27FC236}">
                <a16:creationId xmlns:a16="http://schemas.microsoft.com/office/drawing/2014/main" id="{DCACE784-651E-7F87-757B-DE4214E83D0E}"/>
              </a:ext>
            </a:extLst>
          </p:cNvPr>
          <p:cNvSpPr/>
          <p:nvPr/>
        </p:nvSpPr>
        <p:spPr>
          <a:xfrm>
            <a:off x="8195420" y="4183795"/>
            <a:ext cx="600284" cy="1837179"/>
          </a:xfrm>
          <a:custGeom>
            <a:avLst/>
            <a:gdLst/>
            <a:ahLst/>
            <a:cxnLst>
              <a:cxn ang="0">
                <a:pos x="wd2" y="hd2"/>
              </a:cxn>
              <a:cxn ang="5400000">
                <a:pos x="wd2" y="hd2"/>
              </a:cxn>
              <a:cxn ang="10800000">
                <a:pos x="wd2" y="hd2"/>
              </a:cxn>
              <a:cxn ang="16200000">
                <a:pos x="wd2" y="hd2"/>
              </a:cxn>
            </a:cxnLst>
            <a:rect l="0" t="0" r="r" b="b"/>
            <a:pathLst>
              <a:path w="21490" h="21600" extrusionOk="0">
                <a:moveTo>
                  <a:pt x="21023" y="21600"/>
                </a:moveTo>
                <a:cubicBezTo>
                  <a:pt x="20709" y="21600"/>
                  <a:pt x="20447" y="21546"/>
                  <a:pt x="20447" y="21481"/>
                </a:cubicBezTo>
                <a:lnTo>
                  <a:pt x="20447" y="11049"/>
                </a:lnTo>
                <a:cubicBezTo>
                  <a:pt x="20447" y="9784"/>
                  <a:pt x="18140" y="9146"/>
                  <a:pt x="13526" y="9146"/>
                </a:cubicBezTo>
                <a:cubicBezTo>
                  <a:pt x="10800" y="9146"/>
                  <a:pt x="8860" y="9384"/>
                  <a:pt x="7759" y="9859"/>
                </a:cubicBezTo>
                <a:cubicBezTo>
                  <a:pt x="7654" y="9903"/>
                  <a:pt x="7392" y="9935"/>
                  <a:pt x="7130" y="9924"/>
                </a:cubicBezTo>
                <a:cubicBezTo>
                  <a:pt x="6868" y="9914"/>
                  <a:pt x="6711" y="9870"/>
                  <a:pt x="6711" y="9816"/>
                </a:cubicBezTo>
                <a:lnTo>
                  <a:pt x="6711" y="8195"/>
                </a:lnTo>
                <a:cubicBezTo>
                  <a:pt x="6711" y="7362"/>
                  <a:pt x="8021" y="6995"/>
                  <a:pt x="11010" y="6995"/>
                </a:cubicBezTo>
                <a:cubicBezTo>
                  <a:pt x="12845" y="6995"/>
                  <a:pt x="15047" y="7168"/>
                  <a:pt x="15047" y="7978"/>
                </a:cubicBezTo>
                <a:lnTo>
                  <a:pt x="15047" y="8184"/>
                </a:lnTo>
                <a:lnTo>
                  <a:pt x="20289" y="8184"/>
                </a:lnTo>
                <a:lnTo>
                  <a:pt x="20289" y="8076"/>
                </a:lnTo>
                <a:cubicBezTo>
                  <a:pt x="20289" y="6692"/>
                  <a:pt x="16986" y="5968"/>
                  <a:pt x="10800" y="5968"/>
                </a:cubicBezTo>
                <a:cubicBezTo>
                  <a:pt x="10485" y="5968"/>
                  <a:pt x="10223" y="5914"/>
                  <a:pt x="10223" y="5849"/>
                </a:cubicBezTo>
                <a:cubicBezTo>
                  <a:pt x="10223" y="5784"/>
                  <a:pt x="10485" y="5730"/>
                  <a:pt x="10800" y="5730"/>
                </a:cubicBezTo>
                <a:cubicBezTo>
                  <a:pt x="17615" y="5730"/>
                  <a:pt x="21390" y="6562"/>
                  <a:pt x="21390" y="8065"/>
                </a:cubicBezTo>
                <a:lnTo>
                  <a:pt x="21390" y="8292"/>
                </a:lnTo>
                <a:cubicBezTo>
                  <a:pt x="21390" y="8357"/>
                  <a:pt x="21128" y="8411"/>
                  <a:pt x="20813" y="8411"/>
                </a:cubicBezTo>
                <a:lnTo>
                  <a:pt x="14417" y="8411"/>
                </a:lnTo>
                <a:cubicBezTo>
                  <a:pt x="14103" y="8411"/>
                  <a:pt x="13841" y="8357"/>
                  <a:pt x="13841" y="8292"/>
                </a:cubicBezTo>
                <a:lnTo>
                  <a:pt x="13841" y="7978"/>
                </a:lnTo>
                <a:cubicBezTo>
                  <a:pt x="13841" y="7308"/>
                  <a:pt x="12268" y="7222"/>
                  <a:pt x="10905" y="7222"/>
                </a:cubicBezTo>
                <a:cubicBezTo>
                  <a:pt x="8965" y="7222"/>
                  <a:pt x="7707" y="7384"/>
                  <a:pt x="7707" y="8195"/>
                </a:cubicBezTo>
                <a:lnTo>
                  <a:pt x="7707" y="9416"/>
                </a:lnTo>
                <a:cubicBezTo>
                  <a:pt x="9070" y="9081"/>
                  <a:pt x="11009" y="8908"/>
                  <a:pt x="13421" y="8908"/>
                </a:cubicBezTo>
                <a:cubicBezTo>
                  <a:pt x="18611" y="8908"/>
                  <a:pt x="21442" y="9665"/>
                  <a:pt x="21442" y="11049"/>
                </a:cubicBezTo>
                <a:lnTo>
                  <a:pt x="21442" y="21481"/>
                </a:lnTo>
                <a:cubicBezTo>
                  <a:pt x="21600" y="21546"/>
                  <a:pt x="21338" y="21600"/>
                  <a:pt x="21023" y="21600"/>
                </a:cubicBezTo>
                <a:close/>
                <a:moveTo>
                  <a:pt x="10800" y="15005"/>
                </a:moveTo>
                <a:cubicBezTo>
                  <a:pt x="3932" y="15005"/>
                  <a:pt x="0" y="14151"/>
                  <a:pt x="0" y="12670"/>
                </a:cubicBezTo>
                <a:lnTo>
                  <a:pt x="0" y="119"/>
                </a:lnTo>
                <a:cubicBezTo>
                  <a:pt x="0" y="54"/>
                  <a:pt x="262" y="0"/>
                  <a:pt x="577" y="0"/>
                </a:cubicBezTo>
                <a:cubicBezTo>
                  <a:pt x="891" y="0"/>
                  <a:pt x="1154" y="54"/>
                  <a:pt x="1154" y="119"/>
                </a:cubicBezTo>
                <a:lnTo>
                  <a:pt x="1154" y="12670"/>
                </a:lnTo>
                <a:cubicBezTo>
                  <a:pt x="1154" y="14032"/>
                  <a:pt x="4614" y="14778"/>
                  <a:pt x="10853" y="14778"/>
                </a:cubicBezTo>
                <a:cubicBezTo>
                  <a:pt x="11167" y="14778"/>
                  <a:pt x="11429" y="14832"/>
                  <a:pt x="11429" y="14897"/>
                </a:cubicBezTo>
                <a:cubicBezTo>
                  <a:pt x="11429" y="14962"/>
                  <a:pt x="11115" y="15005"/>
                  <a:pt x="10800" y="15005"/>
                </a:cubicBezTo>
                <a:close/>
                <a:moveTo>
                  <a:pt x="10800" y="13730"/>
                </a:moveTo>
                <a:cubicBezTo>
                  <a:pt x="8126" y="13730"/>
                  <a:pt x="6763" y="13405"/>
                  <a:pt x="6763" y="12757"/>
                </a:cubicBezTo>
                <a:lnTo>
                  <a:pt x="6763" y="11168"/>
                </a:lnTo>
                <a:cubicBezTo>
                  <a:pt x="6763" y="10357"/>
                  <a:pt x="8965" y="10184"/>
                  <a:pt x="10800" y="10184"/>
                </a:cubicBezTo>
                <a:cubicBezTo>
                  <a:pt x="12635" y="10184"/>
                  <a:pt x="14837" y="10357"/>
                  <a:pt x="14837" y="11168"/>
                </a:cubicBezTo>
                <a:lnTo>
                  <a:pt x="14837" y="12757"/>
                </a:lnTo>
                <a:cubicBezTo>
                  <a:pt x="14837" y="13405"/>
                  <a:pt x="13474" y="13730"/>
                  <a:pt x="10800" y="13730"/>
                </a:cubicBezTo>
                <a:close/>
                <a:moveTo>
                  <a:pt x="10800" y="10411"/>
                </a:moveTo>
                <a:cubicBezTo>
                  <a:pt x="9437" y="10411"/>
                  <a:pt x="7864" y="10497"/>
                  <a:pt x="7864" y="11168"/>
                </a:cubicBezTo>
                <a:lnTo>
                  <a:pt x="7864" y="12757"/>
                </a:lnTo>
                <a:cubicBezTo>
                  <a:pt x="7864" y="13416"/>
                  <a:pt x="9437" y="13503"/>
                  <a:pt x="10800" y="13503"/>
                </a:cubicBezTo>
                <a:cubicBezTo>
                  <a:pt x="12163" y="13503"/>
                  <a:pt x="13736" y="13416"/>
                  <a:pt x="13736" y="12757"/>
                </a:cubicBezTo>
                <a:lnTo>
                  <a:pt x="13736" y="11168"/>
                </a:lnTo>
                <a:cubicBezTo>
                  <a:pt x="13736" y="10497"/>
                  <a:pt x="12163" y="10411"/>
                  <a:pt x="10800" y="10411"/>
                </a:cubicBezTo>
                <a:close/>
              </a:path>
            </a:pathLst>
          </a:custGeom>
          <a:solidFill>
            <a:schemeClr val="accent6"/>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27" name="Shape">
            <a:extLst>
              <a:ext uri="{FF2B5EF4-FFF2-40B4-BE49-F238E27FC236}">
                <a16:creationId xmlns:a16="http://schemas.microsoft.com/office/drawing/2014/main" id="{F92D42C0-4CD4-E640-6F22-55565882BD11}"/>
              </a:ext>
            </a:extLst>
          </p:cNvPr>
          <p:cNvSpPr/>
          <p:nvPr/>
        </p:nvSpPr>
        <p:spPr>
          <a:xfrm>
            <a:off x="1104339" y="4185119"/>
            <a:ext cx="669269" cy="1838099"/>
          </a:xfrm>
          <a:custGeom>
            <a:avLst/>
            <a:gdLst/>
            <a:ahLst/>
            <a:cxnLst>
              <a:cxn ang="0">
                <a:pos x="wd2" y="hd2"/>
              </a:cxn>
              <a:cxn ang="5400000">
                <a:pos x="wd2" y="hd2"/>
              </a:cxn>
              <a:cxn ang="10800000">
                <a:pos x="wd2" y="hd2"/>
              </a:cxn>
              <a:cxn ang="16200000">
                <a:pos x="wd2" y="hd2"/>
              </a:cxn>
            </a:cxnLst>
            <a:rect l="0" t="0" r="r" b="b"/>
            <a:pathLst>
              <a:path w="21600" h="21600" extrusionOk="0">
                <a:moveTo>
                  <a:pt x="12242" y="21600"/>
                </a:moveTo>
                <a:cubicBezTo>
                  <a:pt x="11958" y="21600"/>
                  <a:pt x="11722" y="21546"/>
                  <a:pt x="11722" y="21481"/>
                </a:cubicBezTo>
                <a:lnTo>
                  <a:pt x="11722" y="13312"/>
                </a:lnTo>
                <a:lnTo>
                  <a:pt x="520" y="13312"/>
                </a:lnTo>
                <a:cubicBezTo>
                  <a:pt x="236" y="13312"/>
                  <a:pt x="0" y="13258"/>
                  <a:pt x="0" y="13193"/>
                </a:cubicBezTo>
                <a:lnTo>
                  <a:pt x="0" y="11929"/>
                </a:lnTo>
                <a:cubicBezTo>
                  <a:pt x="0" y="11918"/>
                  <a:pt x="0" y="11897"/>
                  <a:pt x="47" y="11886"/>
                </a:cubicBezTo>
                <a:lnTo>
                  <a:pt x="11107" y="5911"/>
                </a:lnTo>
                <a:cubicBezTo>
                  <a:pt x="11202" y="5857"/>
                  <a:pt x="11485" y="5824"/>
                  <a:pt x="11769" y="5846"/>
                </a:cubicBezTo>
                <a:cubicBezTo>
                  <a:pt x="12005" y="5867"/>
                  <a:pt x="12147" y="5943"/>
                  <a:pt x="12053" y="5997"/>
                </a:cubicBezTo>
                <a:lnTo>
                  <a:pt x="1040" y="11951"/>
                </a:lnTo>
                <a:lnTo>
                  <a:pt x="1040" y="13075"/>
                </a:lnTo>
                <a:lnTo>
                  <a:pt x="12242" y="13075"/>
                </a:lnTo>
                <a:cubicBezTo>
                  <a:pt x="12525" y="13075"/>
                  <a:pt x="12761" y="13129"/>
                  <a:pt x="12761" y="13193"/>
                </a:cubicBezTo>
                <a:lnTo>
                  <a:pt x="12761" y="21481"/>
                </a:lnTo>
                <a:cubicBezTo>
                  <a:pt x="12761" y="21546"/>
                  <a:pt x="12525" y="21600"/>
                  <a:pt x="12242" y="21600"/>
                </a:cubicBezTo>
                <a:close/>
                <a:moveTo>
                  <a:pt x="18197" y="14911"/>
                </a:moveTo>
                <a:cubicBezTo>
                  <a:pt x="17913" y="14911"/>
                  <a:pt x="17677" y="14857"/>
                  <a:pt x="17677" y="14793"/>
                </a:cubicBezTo>
                <a:lnTo>
                  <a:pt x="17677" y="13193"/>
                </a:lnTo>
                <a:cubicBezTo>
                  <a:pt x="17677" y="13129"/>
                  <a:pt x="17913" y="13075"/>
                  <a:pt x="18197" y="13075"/>
                </a:cubicBezTo>
                <a:lnTo>
                  <a:pt x="20560" y="13075"/>
                </a:lnTo>
                <a:lnTo>
                  <a:pt x="20560" y="12037"/>
                </a:lnTo>
                <a:lnTo>
                  <a:pt x="18197" y="12037"/>
                </a:lnTo>
                <a:cubicBezTo>
                  <a:pt x="17913" y="12037"/>
                  <a:pt x="17677" y="11983"/>
                  <a:pt x="17677" y="11918"/>
                </a:cubicBezTo>
                <a:lnTo>
                  <a:pt x="17677" y="119"/>
                </a:lnTo>
                <a:cubicBezTo>
                  <a:pt x="17677" y="54"/>
                  <a:pt x="17913" y="0"/>
                  <a:pt x="18197" y="0"/>
                </a:cubicBezTo>
                <a:cubicBezTo>
                  <a:pt x="18481" y="0"/>
                  <a:pt x="18717" y="54"/>
                  <a:pt x="18717" y="119"/>
                </a:cubicBezTo>
                <a:lnTo>
                  <a:pt x="18717" y="11800"/>
                </a:lnTo>
                <a:lnTo>
                  <a:pt x="21080" y="11800"/>
                </a:lnTo>
                <a:cubicBezTo>
                  <a:pt x="21364" y="11800"/>
                  <a:pt x="21600" y="11854"/>
                  <a:pt x="21600" y="11918"/>
                </a:cubicBezTo>
                <a:lnTo>
                  <a:pt x="21600" y="13183"/>
                </a:lnTo>
                <a:cubicBezTo>
                  <a:pt x="21600" y="13247"/>
                  <a:pt x="21364" y="13301"/>
                  <a:pt x="21080" y="13301"/>
                </a:cubicBezTo>
                <a:lnTo>
                  <a:pt x="18717" y="13301"/>
                </a:lnTo>
                <a:lnTo>
                  <a:pt x="18717" y="14793"/>
                </a:lnTo>
                <a:cubicBezTo>
                  <a:pt x="18717" y="14857"/>
                  <a:pt x="18481" y="14911"/>
                  <a:pt x="18197" y="14911"/>
                </a:cubicBezTo>
                <a:close/>
                <a:moveTo>
                  <a:pt x="12242" y="12048"/>
                </a:moveTo>
                <a:lnTo>
                  <a:pt x="6097" y="12048"/>
                </a:lnTo>
                <a:cubicBezTo>
                  <a:pt x="5908" y="12048"/>
                  <a:pt x="5766" y="12026"/>
                  <a:pt x="5672" y="11994"/>
                </a:cubicBezTo>
                <a:cubicBezTo>
                  <a:pt x="5577" y="11962"/>
                  <a:pt x="5577" y="11918"/>
                  <a:pt x="5624" y="11886"/>
                </a:cubicBezTo>
                <a:lnTo>
                  <a:pt x="11769" y="8569"/>
                </a:lnTo>
                <a:cubicBezTo>
                  <a:pt x="11863" y="8515"/>
                  <a:pt x="12100" y="8493"/>
                  <a:pt x="12336" y="8504"/>
                </a:cubicBezTo>
                <a:cubicBezTo>
                  <a:pt x="12572" y="8515"/>
                  <a:pt x="12714" y="8558"/>
                  <a:pt x="12714" y="8612"/>
                </a:cubicBezTo>
                <a:lnTo>
                  <a:pt x="12714" y="11929"/>
                </a:lnTo>
                <a:cubicBezTo>
                  <a:pt x="12761" y="11994"/>
                  <a:pt x="12525" y="12048"/>
                  <a:pt x="12242" y="12048"/>
                </a:cubicBezTo>
                <a:close/>
                <a:moveTo>
                  <a:pt x="6853" y="11821"/>
                </a:moveTo>
                <a:lnTo>
                  <a:pt x="11722" y="11821"/>
                </a:lnTo>
                <a:lnTo>
                  <a:pt x="11722" y="9185"/>
                </a:lnTo>
                <a:lnTo>
                  <a:pt x="6853" y="11821"/>
                </a:lnTo>
                <a:close/>
              </a:path>
            </a:pathLst>
          </a:custGeom>
          <a:solidFill>
            <a:schemeClr val="accent4"/>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nvGrpSpPr>
          <p:cNvPr id="28" name="Group 27">
            <a:extLst>
              <a:ext uri="{FF2B5EF4-FFF2-40B4-BE49-F238E27FC236}">
                <a16:creationId xmlns:a16="http://schemas.microsoft.com/office/drawing/2014/main" id="{9F3B8087-E78A-0AF1-5910-24600A6C50FD}"/>
              </a:ext>
            </a:extLst>
          </p:cNvPr>
          <p:cNvGrpSpPr/>
          <p:nvPr/>
        </p:nvGrpSpPr>
        <p:grpSpPr>
          <a:xfrm>
            <a:off x="1905344" y="4617799"/>
            <a:ext cx="2232696" cy="736155"/>
            <a:chOff x="8921976" y="1466725"/>
            <a:chExt cx="3208682" cy="736155"/>
          </a:xfrm>
        </p:grpSpPr>
        <p:sp>
          <p:nvSpPr>
            <p:cNvPr id="29" name="TextBox 28">
              <a:extLst>
                <a:ext uri="{FF2B5EF4-FFF2-40B4-BE49-F238E27FC236}">
                  <a16:creationId xmlns:a16="http://schemas.microsoft.com/office/drawing/2014/main" id="{A837F76D-5B8A-9988-0630-D30EB42403C7}"/>
                </a:ext>
              </a:extLst>
            </p:cNvPr>
            <p:cNvSpPr txBox="1"/>
            <p:nvPr/>
          </p:nvSpPr>
          <p:spPr>
            <a:xfrm>
              <a:off x="8921976" y="1466725"/>
              <a:ext cx="3208682" cy="461665"/>
            </a:xfrm>
            <a:prstGeom prst="rect">
              <a:avLst/>
            </a:prstGeom>
            <a:noFill/>
          </p:spPr>
          <p:txBody>
            <a:bodyPr wrap="square" lIns="0" rIns="0" rtlCol="0" anchor="b">
              <a:spAutoFit/>
            </a:bodyPr>
            <a:lstStyle/>
            <a:p>
              <a:r>
                <a:rPr lang="en-US" sz="2400"/>
                <a:t>Jordan </a:t>
              </a:r>
              <a:r>
                <a:rPr lang="en-US" sz="2400" err="1"/>
                <a:t>Kalisher</a:t>
              </a:r>
              <a:endParaRPr lang="en-US" sz="2400"/>
            </a:p>
          </p:txBody>
        </p:sp>
        <p:sp>
          <p:nvSpPr>
            <p:cNvPr id="30" name="TextBox 29">
              <a:extLst>
                <a:ext uri="{FF2B5EF4-FFF2-40B4-BE49-F238E27FC236}">
                  <a16:creationId xmlns:a16="http://schemas.microsoft.com/office/drawing/2014/main" id="{08CB131D-0640-9F48-C18E-84DBB233AE32}"/>
                </a:ext>
              </a:extLst>
            </p:cNvPr>
            <p:cNvSpPr txBox="1"/>
            <p:nvPr/>
          </p:nvSpPr>
          <p:spPr>
            <a:xfrm>
              <a:off x="8921977" y="1925881"/>
              <a:ext cx="2926080" cy="276999"/>
            </a:xfrm>
            <a:prstGeom prst="rect">
              <a:avLst/>
            </a:prstGeom>
            <a:noFill/>
          </p:spPr>
          <p:txBody>
            <a:bodyPr wrap="square" lIns="0" rIns="0" rtlCol="0" anchor="t">
              <a:spAutoFit/>
            </a:bodyPr>
            <a:lstStyle/>
            <a:p>
              <a:pPr>
                <a:spcAft>
                  <a:spcPts val="1200"/>
                </a:spcAft>
              </a:pPr>
              <a:r>
                <a:rPr lang="en-US" sz="1200"/>
                <a:t>Background Research</a:t>
              </a:r>
              <a:endParaRPr lang="en-US" sz="1200" noProof="1">
                <a:solidFill>
                  <a:schemeClr val="tx1">
                    <a:lumMod val="65000"/>
                    <a:lumOff val="35000"/>
                  </a:schemeClr>
                </a:solidFill>
              </a:endParaRPr>
            </a:p>
          </p:txBody>
        </p:sp>
      </p:grpSp>
      <p:grpSp>
        <p:nvGrpSpPr>
          <p:cNvPr id="31" name="Group 30">
            <a:extLst>
              <a:ext uri="{FF2B5EF4-FFF2-40B4-BE49-F238E27FC236}">
                <a16:creationId xmlns:a16="http://schemas.microsoft.com/office/drawing/2014/main" id="{11FCFAD4-FE92-0E9F-8C0D-7D4D1ACCABB5}"/>
              </a:ext>
            </a:extLst>
          </p:cNvPr>
          <p:cNvGrpSpPr/>
          <p:nvPr/>
        </p:nvGrpSpPr>
        <p:grpSpPr>
          <a:xfrm>
            <a:off x="5640004" y="4617799"/>
            <a:ext cx="2358774" cy="920821"/>
            <a:chOff x="8921976" y="1466725"/>
            <a:chExt cx="3389873" cy="920821"/>
          </a:xfrm>
        </p:grpSpPr>
        <p:sp>
          <p:nvSpPr>
            <p:cNvPr id="32" name="TextBox 31">
              <a:extLst>
                <a:ext uri="{FF2B5EF4-FFF2-40B4-BE49-F238E27FC236}">
                  <a16:creationId xmlns:a16="http://schemas.microsoft.com/office/drawing/2014/main" id="{4E69023C-0F1C-7143-709D-B01A78A40CF5}"/>
                </a:ext>
              </a:extLst>
            </p:cNvPr>
            <p:cNvSpPr txBox="1"/>
            <p:nvPr/>
          </p:nvSpPr>
          <p:spPr>
            <a:xfrm>
              <a:off x="8921976" y="1466725"/>
              <a:ext cx="3389873" cy="461665"/>
            </a:xfrm>
            <a:prstGeom prst="rect">
              <a:avLst/>
            </a:prstGeom>
            <a:noFill/>
          </p:spPr>
          <p:txBody>
            <a:bodyPr wrap="square" lIns="0" rIns="0" rtlCol="0" anchor="b">
              <a:spAutoFit/>
            </a:bodyPr>
            <a:lstStyle/>
            <a:p>
              <a:r>
                <a:rPr lang="en-US" sz="2400"/>
                <a:t>Timothy </a:t>
              </a:r>
              <a:r>
                <a:rPr lang="en-US" sz="2400" err="1"/>
                <a:t>Mascal</a:t>
              </a:r>
              <a:endParaRPr lang="en-US" sz="2400"/>
            </a:p>
          </p:txBody>
        </p:sp>
        <p:sp>
          <p:nvSpPr>
            <p:cNvPr id="33" name="TextBox 32">
              <a:extLst>
                <a:ext uri="{FF2B5EF4-FFF2-40B4-BE49-F238E27FC236}">
                  <a16:creationId xmlns:a16="http://schemas.microsoft.com/office/drawing/2014/main" id="{895ADA82-C8E7-1E34-0C3B-2C91B7B88F12}"/>
                </a:ext>
              </a:extLst>
            </p:cNvPr>
            <p:cNvSpPr txBox="1"/>
            <p:nvPr/>
          </p:nvSpPr>
          <p:spPr>
            <a:xfrm>
              <a:off x="8921977" y="1925881"/>
              <a:ext cx="2926078" cy="461665"/>
            </a:xfrm>
            <a:prstGeom prst="rect">
              <a:avLst/>
            </a:prstGeom>
            <a:noFill/>
          </p:spPr>
          <p:txBody>
            <a:bodyPr wrap="square" lIns="0" rIns="0" rtlCol="0" anchor="t">
              <a:spAutoFit/>
            </a:bodyPr>
            <a:lstStyle/>
            <a:p>
              <a:pPr>
                <a:spcAft>
                  <a:spcPts val="1200"/>
                </a:spcAft>
              </a:pPr>
              <a:r>
                <a:rPr lang="en-US" sz="1200"/>
                <a:t>Causal Discovery Model Architect</a:t>
              </a:r>
              <a:endParaRPr lang="en-US" sz="1200" noProof="1">
                <a:solidFill>
                  <a:schemeClr val="tx1">
                    <a:lumMod val="65000"/>
                    <a:lumOff val="35000"/>
                  </a:schemeClr>
                </a:solidFill>
              </a:endParaRPr>
            </a:p>
          </p:txBody>
        </p:sp>
      </p:grpSp>
      <p:grpSp>
        <p:nvGrpSpPr>
          <p:cNvPr id="34" name="Group 33">
            <a:extLst>
              <a:ext uri="{FF2B5EF4-FFF2-40B4-BE49-F238E27FC236}">
                <a16:creationId xmlns:a16="http://schemas.microsoft.com/office/drawing/2014/main" id="{F105A019-E3BD-E0BC-D62D-F6358CB49105}"/>
              </a:ext>
            </a:extLst>
          </p:cNvPr>
          <p:cNvGrpSpPr/>
          <p:nvPr/>
        </p:nvGrpSpPr>
        <p:grpSpPr>
          <a:xfrm>
            <a:off x="9017328" y="4617799"/>
            <a:ext cx="2036054" cy="736155"/>
            <a:chOff x="8921976" y="1466725"/>
            <a:chExt cx="2926081" cy="736155"/>
          </a:xfrm>
        </p:grpSpPr>
        <p:sp>
          <p:nvSpPr>
            <p:cNvPr id="35" name="TextBox 34">
              <a:extLst>
                <a:ext uri="{FF2B5EF4-FFF2-40B4-BE49-F238E27FC236}">
                  <a16:creationId xmlns:a16="http://schemas.microsoft.com/office/drawing/2014/main" id="{99E22E5A-F5C1-38E1-EF75-FB7494700644}"/>
                </a:ext>
              </a:extLst>
            </p:cNvPr>
            <p:cNvSpPr txBox="1"/>
            <p:nvPr/>
          </p:nvSpPr>
          <p:spPr>
            <a:xfrm>
              <a:off x="8921976" y="1466725"/>
              <a:ext cx="2926080" cy="461665"/>
            </a:xfrm>
            <a:prstGeom prst="rect">
              <a:avLst/>
            </a:prstGeom>
            <a:noFill/>
          </p:spPr>
          <p:txBody>
            <a:bodyPr wrap="square" lIns="0" rIns="0" rtlCol="0" anchor="b">
              <a:spAutoFit/>
            </a:bodyPr>
            <a:lstStyle/>
            <a:p>
              <a:r>
                <a:rPr lang="en-US" sz="2400"/>
                <a:t>Seth Webster</a:t>
              </a:r>
            </a:p>
          </p:txBody>
        </p:sp>
        <p:sp>
          <p:nvSpPr>
            <p:cNvPr id="36" name="TextBox 35">
              <a:extLst>
                <a:ext uri="{FF2B5EF4-FFF2-40B4-BE49-F238E27FC236}">
                  <a16:creationId xmlns:a16="http://schemas.microsoft.com/office/drawing/2014/main" id="{B8DB8DAD-837A-584E-2B13-177B636AB268}"/>
                </a:ext>
              </a:extLst>
            </p:cNvPr>
            <p:cNvSpPr txBox="1"/>
            <p:nvPr/>
          </p:nvSpPr>
          <p:spPr>
            <a:xfrm>
              <a:off x="8921977" y="1925881"/>
              <a:ext cx="2926080" cy="276999"/>
            </a:xfrm>
            <a:prstGeom prst="rect">
              <a:avLst/>
            </a:prstGeom>
            <a:noFill/>
          </p:spPr>
          <p:txBody>
            <a:bodyPr wrap="square" lIns="0" rIns="0" rtlCol="0" anchor="t">
              <a:spAutoFit/>
            </a:bodyPr>
            <a:lstStyle/>
            <a:p>
              <a:r>
                <a:rPr lang="en-US" sz="1200"/>
                <a:t>Work Support (IT)</a:t>
              </a:r>
            </a:p>
          </p:txBody>
        </p:sp>
      </p:grpSp>
    </p:spTree>
    <p:extLst>
      <p:ext uri="{BB962C8B-B14F-4D97-AF65-F5344CB8AC3E}">
        <p14:creationId xmlns:p14="http://schemas.microsoft.com/office/powerpoint/2010/main" val="3649868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BF30-1DC2-EDD9-33DE-2EF3CAED7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20D89-3F40-FDBC-433F-4137231E134B}"/>
              </a:ext>
            </a:extLst>
          </p:cNvPr>
          <p:cNvSpPr>
            <a:spLocks noGrp="1"/>
          </p:cNvSpPr>
          <p:nvPr>
            <p:ph type="title"/>
          </p:nvPr>
        </p:nvSpPr>
        <p:spPr/>
        <p:txBody>
          <a:bodyPr/>
          <a:lstStyle/>
          <a:p>
            <a:r>
              <a:rPr lang="en-US" sz="3200"/>
              <a:t>Why Statistics are Important</a:t>
            </a:r>
            <a:endParaRPr lang="en-US"/>
          </a:p>
        </p:txBody>
      </p:sp>
      <p:sp>
        <p:nvSpPr>
          <p:cNvPr id="5" name="Freeform: Shape 4">
            <a:extLst>
              <a:ext uri="{FF2B5EF4-FFF2-40B4-BE49-F238E27FC236}">
                <a16:creationId xmlns:a16="http://schemas.microsoft.com/office/drawing/2014/main" id="{3B941DC4-3193-988F-F592-79772927C18C}"/>
              </a:ext>
            </a:extLst>
          </p:cNvPr>
          <p:cNvSpPr/>
          <p:nvPr/>
        </p:nvSpPr>
        <p:spPr>
          <a:xfrm>
            <a:off x="1246233" y="2899915"/>
            <a:ext cx="2833820" cy="2390296"/>
          </a:xfrm>
          <a:custGeom>
            <a:avLst/>
            <a:gdLst>
              <a:gd name="connsiteX0" fmla="*/ 4 w 2553735"/>
              <a:gd name="connsiteY0" fmla="*/ 0 h 2576132"/>
              <a:gd name="connsiteX1" fmla="*/ 19259 w 2553735"/>
              <a:gd name="connsiteY1" fmla="*/ 25190 h 2576132"/>
              <a:gd name="connsiteX2" fmla="*/ 462115 w 2553735"/>
              <a:gd name="connsiteY2" fmla="*/ 218243 h 2576132"/>
              <a:gd name="connsiteX3" fmla="*/ 2553735 w 2553735"/>
              <a:gd name="connsiteY3" fmla="*/ 218243 h 2576132"/>
              <a:gd name="connsiteX4" fmla="*/ 2553735 w 2553735"/>
              <a:gd name="connsiteY4" fmla="*/ 659263 h 2576132"/>
              <a:gd name="connsiteX5" fmla="*/ 2553733 w 2553735"/>
              <a:gd name="connsiteY5" fmla="*/ 659282 h 2576132"/>
              <a:gd name="connsiteX6" fmla="*/ 2553733 w 2553735"/>
              <a:gd name="connsiteY6" fmla="*/ 1432988 h 2576132"/>
              <a:gd name="connsiteX7" fmla="*/ 2552988 w 2553735"/>
              <a:gd name="connsiteY7" fmla="*/ 1440378 h 2576132"/>
              <a:gd name="connsiteX8" fmla="*/ 2553731 w 2553735"/>
              <a:gd name="connsiteY8" fmla="*/ 1447747 h 2576132"/>
              <a:gd name="connsiteX9" fmla="*/ 2553731 w 2553735"/>
              <a:gd name="connsiteY9" fmla="*/ 2350450 h 2576132"/>
              <a:gd name="connsiteX10" fmla="*/ 2328049 w 2553735"/>
              <a:gd name="connsiteY10" fmla="*/ 2576132 h 2576132"/>
              <a:gd name="connsiteX11" fmla="*/ 225682 w 2553735"/>
              <a:gd name="connsiteY11" fmla="*/ 2576132 h 2576132"/>
              <a:gd name="connsiteX12" fmla="*/ 0 w 2553735"/>
              <a:gd name="connsiteY12" fmla="*/ 2350450 h 2576132"/>
              <a:gd name="connsiteX13" fmla="*/ 0 w 2553735"/>
              <a:gd name="connsiteY13" fmla="*/ 1447747 h 2576132"/>
              <a:gd name="connsiteX14" fmla="*/ 745 w 2553735"/>
              <a:gd name="connsiteY14" fmla="*/ 1440358 h 2576132"/>
              <a:gd name="connsiteX15" fmla="*/ 2 w 2553735"/>
              <a:gd name="connsiteY15" fmla="*/ 1432988 h 2576132"/>
              <a:gd name="connsiteX16" fmla="*/ 2 w 2553735"/>
              <a:gd name="connsiteY16" fmla="*/ 530285 h 2576132"/>
              <a:gd name="connsiteX17" fmla="*/ 4 w 2553735"/>
              <a:gd name="connsiteY17" fmla="*/ 530265 h 2576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53735" h="2576132">
                <a:moveTo>
                  <a:pt x="4" y="0"/>
                </a:moveTo>
                <a:lnTo>
                  <a:pt x="19259" y="25190"/>
                </a:lnTo>
                <a:cubicBezTo>
                  <a:pt x="126648" y="143441"/>
                  <a:pt x="285223" y="218243"/>
                  <a:pt x="462115" y="218243"/>
                </a:cubicBezTo>
                <a:lnTo>
                  <a:pt x="2553735" y="218243"/>
                </a:lnTo>
                <a:lnTo>
                  <a:pt x="2553735" y="659263"/>
                </a:lnTo>
                <a:lnTo>
                  <a:pt x="2553733" y="659282"/>
                </a:lnTo>
                <a:lnTo>
                  <a:pt x="2553733" y="1432988"/>
                </a:lnTo>
                <a:lnTo>
                  <a:pt x="2552988" y="1440378"/>
                </a:lnTo>
                <a:lnTo>
                  <a:pt x="2553731" y="1447747"/>
                </a:lnTo>
                <a:lnTo>
                  <a:pt x="2553731" y="2350450"/>
                </a:lnTo>
                <a:cubicBezTo>
                  <a:pt x="2553731" y="2475091"/>
                  <a:pt x="2452690" y="2576132"/>
                  <a:pt x="2328049" y="2576132"/>
                </a:cubicBezTo>
                <a:lnTo>
                  <a:pt x="225682" y="2576132"/>
                </a:lnTo>
                <a:cubicBezTo>
                  <a:pt x="101041" y="2576132"/>
                  <a:pt x="0" y="2475091"/>
                  <a:pt x="0" y="2350450"/>
                </a:cubicBezTo>
                <a:lnTo>
                  <a:pt x="0" y="1447747"/>
                </a:lnTo>
                <a:lnTo>
                  <a:pt x="745" y="1440358"/>
                </a:lnTo>
                <a:lnTo>
                  <a:pt x="2" y="1432988"/>
                </a:lnTo>
                <a:lnTo>
                  <a:pt x="2" y="530285"/>
                </a:lnTo>
                <a:lnTo>
                  <a:pt x="4" y="530265"/>
                </a:lnTo>
                <a:close/>
              </a:path>
            </a:pathLst>
          </a:cu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82880" tIns="182880" rIns="182880" bIns="45720" rtlCol="0" anchor="ctr">
            <a:noAutofit/>
          </a:bodyPr>
          <a:lstStyle/>
          <a:p>
            <a:pPr algn="ctr"/>
            <a:r>
              <a:rPr lang="en-US" sz="1400" noProof="1">
                <a:solidFill>
                  <a:schemeClr val="tx1"/>
                </a:solidFill>
              </a:rPr>
              <a:t>Vital to understand causes of lethal outcomes of aviation accidents</a:t>
            </a:r>
          </a:p>
          <a:p>
            <a:pPr algn="ctr"/>
            <a:endParaRPr lang="en-US" noProof="1">
              <a:solidFill>
                <a:schemeClr val="tx1"/>
              </a:solidFill>
            </a:endParaRPr>
          </a:p>
          <a:p>
            <a:pPr algn="ctr"/>
            <a:r>
              <a:rPr lang="en-US" sz="1400" noProof="1">
                <a:solidFill>
                  <a:schemeClr val="tx1"/>
                </a:solidFill>
              </a:rPr>
              <a:t>General </a:t>
            </a:r>
            <a:r>
              <a:rPr lang="en-US" noProof="1">
                <a:solidFill>
                  <a:schemeClr val="tx1"/>
                </a:solidFill>
              </a:rPr>
              <a:t>aviation</a:t>
            </a:r>
            <a:endParaRPr lang="en-US" noProof="1">
              <a:solidFill>
                <a:schemeClr val="tx1"/>
              </a:solidFill>
              <a:cs typeface="Arial"/>
            </a:endParaRPr>
          </a:p>
          <a:p>
            <a:pPr algn="ctr"/>
            <a:r>
              <a:rPr lang="en-US" noProof="1">
                <a:solidFill>
                  <a:schemeClr val="tx1"/>
                </a:solidFill>
              </a:rPr>
              <a:t>1987 – 2007: 19</a:t>
            </a:r>
            <a:r>
              <a:rPr lang="en-US" sz="1400" noProof="1">
                <a:solidFill>
                  <a:schemeClr val="tx1"/>
                </a:solidFill>
              </a:rPr>
              <a:t>%</a:t>
            </a:r>
            <a:endParaRPr lang="en-US" noProof="1">
              <a:solidFill>
                <a:schemeClr val="tx1"/>
              </a:solidFill>
              <a:cs typeface="Arial"/>
            </a:endParaRPr>
          </a:p>
          <a:p>
            <a:pPr algn="ctr"/>
            <a:endParaRPr lang="en-US" noProof="1">
              <a:solidFill>
                <a:schemeClr val="tx1"/>
              </a:solidFill>
            </a:endParaRPr>
          </a:p>
          <a:p>
            <a:pPr algn="ctr"/>
            <a:r>
              <a:rPr lang="en-US" noProof="1">
                <a:solidFill>
                  <a:schemeClr val="tx1"/>
                </a:solidFill>
              </a:rPr>
              <a:t>2024: 16%</a:t>
            </a:r>
            <a:endParaRPr lang="en-US" sz="1400" noProof="1">
              <a:solidFill>
                <a:schemeClr val="tx1"/>
              </a:solidFill>
              <a:cs typeface="Arial"/>
            </a:endParaRPr>
          </a:p>
        </p:txBody>
      </p:sp>
      <p:sp>
        <p:nvSpPr>
          <p:cNvPr id="4" name="Rectangle: Diagonal Corners Rounded 3">
            <a:extLst>
              <a:ext uri="{FF2B5EF4-FFF2-40B4-BE49-F238E27FC236}">
                <a16:creationId xmlns:a16="http://schemas.microsoft.com/office/drawing/2014/main" id="{4B8DB0B8-09B4-A208-5EA9-5DEDBAC251AF}"/>
              </a:ext>
            </a:extLst>
          </p:cNvPr>
          <p:cNvSpPr/>
          <p:nvPr/>
        </p:nvSpPr>
        <p:spPr>
          <a:xfrm rot="10800000" flipV="1">
            <a:off x="1246231" y="1860186"/>
            <a:ext cx="2833820" cy="1036687"/>
          </a:xfrm>
          <a:prstGeom prst="round2DiagRect">
            <a:avLst>
              <a:gd name="adj1" fmla="val 50000"/>
              <a:gd name="adj2" fmla="val 0"/>
            </a:avLst>
          </a:prstGeom>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Ins="182880" rtlCol="0" anchor="ctr"/>
          <a:lstStyle/>
          <a:p>
            <a:pPr algn="r"/>
            <a:r>
              <a:rPr lang="en-US" sz="2000"/>
              <a:t>Why Statistics Matter</a:t>
            </a:r>
            <a:endParaRPr lang="en-US" sz="2000" b="1"/>
          </a:p>
        </p:txBody>
      </p:sp>
      <p:sp>
        <p:nvSpPr>
          <p:cNvPr id="10" name="Freeform: Shape 9">
            <a:extLst>
              <a:ext uri="{FF2B5EF4-FFF2-40B4-BE49-F238E27FC236}">
                <a16:creationId xmlns:a16="http://schemas.microsoft.com/office/drawing/2014/main" id="{AA30F9EB-2E5F-7AB8-050A-982D11D31B79}"/>
              </a:ext>
            </a:extLst>
          </p:cNvPr>
          <p:cNvSpPr/>
          <p:nvPr/>
        </p:nvSpPr>
        <p:spPr>
          <a:xfrm>
            <a:off x="4679089" y="2920235"/>
            <a:ext cx="2833820" cy="2390296"/>
          </a:xfrm>
          <a:custGeom>
            <a:avLst/>
            <a:gdLst>
              <a:gd name="connsiteX0" fmla="*/ 4 w 2553735"/>
              <a:gd name="connsiteY0" fmla="*/ 0 h 2576132"/>
              <a:gd name="connsiteX1" fmla="*/ 19259 w 2553735"/>
              <a:gd name="connsiteY1" fmla="*/ 25190 h 2576132"/>
              <a:gd name="connsiteX2" fmla="*/ 462115 w 2553735"/>
              <a:gd name="connsiteY2" fmla="*/ 218243 h 2576132"/>
              <a:gd name="connsiteX3" fmla="*/ 2553735 w 2553735"/>
              <a:gd name="connsiteY3" fmla="*/ 218243 h 2576132"/>
              <a:gd name="connsiteX4" fmla="*/ 2553735 w 2553735"/>
              <a:gd name="connsiteY4" fmla="*/ 659263 h 2576132"/>
              <a:gd name="connsiteX5" fmla="*/ 2553733 w 2553735"/>
              <a:gd name="connsiteY5" fmla="*/ 659282 h 2576132"/>
              <a:gd name="connsiteX6" fmla="*/ 2553733 w 2553735"/>
              <a:gd name="connsiteY6" fmla="*/ 1432988 h 2576132"/>
              <a:gd name="connsiteX7" fmla="*/ 2552988 w 2553735"/>
              <a:gd name="connsiteY7" fmla="*/ 1440378 h 2576132"/>
              <a:gd name="connsiteX8" fmla="*/ 2553731 w 2553735"/>
              <a:gd name="connsiteY8" fmla="*/ 1447747 h 2576132"/>
              <a:gd name="connsiteX9" fmla="*/ 2553731 w 2553735"/>
              <a:gd name="connsiteY9" fmla="*/ 2350450 h 2576132"/>
              <a:gd name="connsiteX10" fmla="*/ 2328049 w 2553735"/>
              <a:gd name="connsiteY10" fmla="*/ 2576132 h 2576132"/>
              <a:gd name="connsiteX11" fmla="*/ 225682 w 2553735"/>
              <a:gd name="connsiteY11" fmla="*/ 2576132 h 2576132"/>
              <a:gd name="connsiteX12" fmla="*/ 0 w 2553735"/>
              <a:gd name="connsiteY12" fmla="*/ 2350450 h 2576132"/>
              <a:gd name="connsiteX13" fmla="*/ 0 w 2553735"/>
              <a:gd name="connsiteY13" fmla="*/ 1447747 h 2576132"/>
              <a:gd name="connsiteX14" fmla="*/ 745 w 2553735"/>
              <a:gd name="connsiteY14" fmla="*/ 1440358 h 2576132"/>
              <a:gd name="connsiteX15" fmla="*/ 2 w 2553735"/>
              <a:gd name="connsiteY15" fmla="*/ 1432988 h 2576132"/>
              <a:gd name="connsiteX16" fmla="*/ 2 w 2553735"/>
              <a:gd name="connsiteY16" fmla="*/ 530285 h 2576132"/>
              <a:gd name="connsiteX17" fmla="*/ 4 w 2553735"/>
              <a:gd name="connsiteY17" fmla="*/ 530265 h 2576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53735" h="2576132">
                <a:moveTo>
                  <a:pt x="4" y="0"/>
                </a:moveTo>
                <a:lnTo>
                  <a:pt x="19259" y="25190"/>
                </a:lnTo>
                <a:cubicBezTo>
                  <a:pt x="126648" y="143441"/>
                  <a:pt x="285223" y="218243"/>
                  <a:pt x="462115" y="218243"/>
                </a:cubicBezTo>
                <a:lnTo>
                  <a:pt x="2553735" y="218243"/>
                </a:lnTo>
                <a:lnTo>
                  <a:pt x="2553735" y="659263"/>
                </a:lnTo>
                <a:lnTo>
                  <a:pt x="2553733" y="659282"/>
                </a:lnTo>
                <a:lnTo>
                  <a:pt x="2553733" y="1432988"/>
                </a:lnTo>
                <a:lnTo>
                  <a:pt x="2552988" y="1440378"/>
                </a:lnTo>
                <a:lnTo>
                  <a:pt x="2553731" y="1447747"/>
                </a:lnTo>
                <a:lnTo>
                  <a:pt x="2553731" y="2350450"/>
                </a:lnTo>
                <a:cubicBezTo>
                  <a:pt x="2553731" y="2475091"/>
                  <a:pt x="2452690" y="2576132"/>
                  <a:pt x="2328049" y="2576132"/>
                </a:cubicBezTo>
                <a:lnTo>
                  <a:pt x="225682" y="2576132"/>
                </a:lnTo>
                <a:cubicBezTo>
                  <a:pt x="101041" y="2576132"/>
                  <a:pt x="0" y="2475091"/>
                  <a:pt x="0" y="2350450"/>
                </a:cubicBezTo>
                <a:lnTo>
                  <a:pt x="0" y="1447747"/>
                </a:lnTo>
                <a:lnTo>
                  <a:pt x="745" y="1440358"/>
                </a:lnTo>
                <a:lnTo>
                  <a:pt x="2" y="1432988"/>
                </a:lnTo>
                <a:lnTo>
                  <a:pt x="2" y="530285"/>
                </a:lnTo>
                <a:lnTo>
                  <a:pt x="4" y="530265"/>
                </a:lnTo>
                <a:close/>
              </a:path>
            </a:pathLst>
          </a:custGeom>
          <a:solidFill>
            <a:schemeClr val="bg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182880" tIns="182880" rIns="182880" bIns="45720" rtlCol="0" anchor="ctr">
            <a:noAutofit/>
          </a:bodyPr>
          <a:lstStyle/>
          <a:p>
            <a:pPr algn="ctr"/>
            <a:r>
              <a:rPr lang="en-US" noProof="1">
                <a:solidFill>
                  <a:schemeClr val="tx1"/>
                </a:solidFill>
                <a:cs typeface="Arial"/>
              </a:rPr>
              <a:t>Crashes with fire: 13%</a:t>
            </a:r>
            <a:endParaRPr lang="en-US" sz="1400" noProof="1">
              <a:solidFill>
                <a:schemeClr val="tx1"/>
              </a:solidFill>
              <a:cs typeface="Arial"/>
            </a:endParaRPr>
          </a:p>
          <a:p>
            <a:pPr algn="ctr"/>
            <a:r>
              <a:rPr lang="en-US" noProof="1">
                <a:solidFill>
                  <a:schemeClr val="tx1"/>
                </a:solidFill>
                <a:cs typeface="Arial"/>
              </a:rPr>
              <a:t>Fatalities from fire: 40%</a:t>
            </a:r>
            <a:endParaRPr lang="en-US" noProof="1">
              <a:solidFill>
                <a:schemeClr val="tx1"/>
              </a:solidFill>
            </a:endParaRPr>
          </a:p>
          <a:p>
            <a:pPr algn="ctr"/>
            <a:endParaRPr lang="en-US" noProof="1">
              <a:solidFill>
                <a:schemeClr val="tx1"/>
              </a:solidFill>
              <a:cs typeface="Arial"/>
            </a:endParaRPr>
          </a:p>
          <a:p>
            <a:pPr algn="ctr"/>
            <a:endParaRPr lang="en-US" noProof="1">
              <a:solidFill>
                <a:schemeClr val="tx1"/>
              </a:solidFill>
              <a:cs typeface="Arial"/>
            </a:endParaRPr>
          </a:p>
          <a:p>
            <a:pPr algn="ctr"/>
            <a:r>
              <a:rPr lang="en-US" sz="1400" noProof="1">
                <a:solidFill>
                  <a:schemeClr val="tx1"/>
                </a:solidFill>
              </a:rPr>
              <a:t>Crash </a:t>
            </a:r>
            <a:r>
              <a:rPr lang="en-US" noProof="1">
                <a:solidFill>
                  <a:schemeClr val="tx1"/>
                </a:solidFill>
              </a:rPr>
              <a:t>without fire: 15%</a:t>
            </a:r>
            <a:endParaRPr lang="en-US" sz="1400" noProof="1">
              <a:solidFill>
                <a:schemeClr val="tx1"/>
              </a:solidFill>
              <a:cs typeface="Arial"/>
            </a:endParaRPr>
          </a:p>
          <a:p>
            <a:pPr algn="ctr"/>
            <a:r>
              <a:rPr lang="en-US" sz="1400" noProof="1">
                <a:solidFill>
                  <a:schemeClr val="tx1"/>
                </a:solidFill>
              </a:rPr>
              <a:t>Crash with fire</a:t>
            </a:r>
            <a:r>
              <a:rPr lang="en-US" noProof="1">
                <a:solidFill>
                  <a:schemeClr val="tx1"/>
                </a:solidFill>
              </a:rPr>
              <a:t>: </a:t>
            </a:r>
            <a:r>
              <a:rPr lang="en-US" sz="1400" noProof="1">
                <a:solidFill>
                  <a:schemeClr val="tx1"/>
                </a:solidFill>
              </a:rPr>
              <a:t> 69%</a:t>
            </a:r>
            <a:endParaRPr lang="en-US" sz="1400" noProof="1">
              <a:solidFill>
                <a:schemeClr val="tx1"/>
              </a:solidFill>
              <a:cs typeface="Arial"/>
            </a:endParaRPr>
          </a:p>
          <a:p>
            <a:pPr algn="ctr"/>
            <a:endParaRPr lang="en-US" noProof="1">
              <a:solidFill>
                <a:schemeClr val="tx1"/>
              </a:solidFill>
            </a:endParaRPr>
          </a:p>
          <a:p>
            <a:pPr algn="ctr"/>
            <a:r>
              <a:rPr lang="en-US" sz="1400" noProof="1">
                <a:solidFill>
                  <a:schemeClr val="tx1"/>
                </a:solidFill>
              </a:rPr>
              <a:t>Due to outdated/lacking fire suppression methods</a:t>
            </a:r>
            <a:endParaRPr lang="en-US" sz="1400" noProof="1">
              <a:solidFill>
                <a:schemeClr val="tx1"/>
              </a:solidFill>
              <a:cs typeface="Arial"/>
            </a:endParaRPr>
          </a:p>
        </p:txBody>
      </p:sp>
      <p:sp>
        <p:nvSpPr>
          <p:cNvPr id="9" name="Rectangle: Diagonal Corners Rounded 8">
            <a:extLst>
              <a:ext uri="{FF2B5EF4-FFF2-40B4-BE49-F238E27FC236}">
                <a16:creationId xmlns:a16="http://schemas.microsoft.com/office/drawing/2014/main" id="{F59DDD75-6FEA-E498-7619-007A9770AB20}"/>
              </a:ext>
            </a:extLst>
          </p:cNvPr>
          <p:cNvSpPr/>
          <p:nvPr/>
        </p:nvSpPr>
        <p:spPr>
          <a:xfrm rot="10800000" flipV="1">
            <a:off x="4679093" y="1880506"/>
            <a:ext cx="2833814" cy="1036687"/>
          </a:xfrm>
          <a:prstGeom prst="round2DiagRect">
            <a:avLst>
              <a:gd name="adj1" fmla="val 50000"/>
              <a:gd name="adj2" fmla="val 0"/>
            </a:avLst>
          </a:prstGeom>
          <a:solidFill>
            <a:schemeClr val="accent2"/>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Ins="182880" rtlCol="0" anchor="ctr"/>
          <a:lstStyle/>
          <a:p>
            <a:pPr algn="r"/>
            <a:r>
              <a:rPr lang="en-US" sz="2000"/>
              <a:t>Engineering Factors</a:t>
            </a:r>
            <a:endParaRPr lang="en-US" sz="2000" b="1">
              <a:solidFill>
                <a:schemeClr val="tx1">
                  <a:lumMod val="85000"/>
                  <a:lumOff val="15000"/>
                </a:schemeClr>
              </a:solidFill>
            </a:endParaRPr>
          </a:p>
        </p:txBody>
      </p:sp>
      <p:sp>
        <p:nvSpPr>
          <p:cNvPr id="15" name="Freeform: Shape 14">
            <a:extLst>
              <a:ext uri="{FF2B5EF4-FFF2-40B4-BE49-F238E27FC236}">
                <a16:creationId xmlns:a16="http://schemas.microsoft.com/office/drawing/2014/main" id="{F6619513-67AB-4B43-15CF-0546B910E41A}"/>
              </a:ext>
            </a:extLst>
          </p:cNvPr>
          <p:cNvSpPr/>
          <p:nvPr/>
        </p:nvSpPr>
        <p:spPr>
          <a:xfrm>
            <a:off x="8111945" y="2920235"/>
            <a:ext cx="2833820" cy="2390296"/>
          </a:xfrm>
          <a:custGeom>
            <a:avLst/>
            <a:gdLst>
              <a:gd name="connsiteX0" fmla="*/ 4 w 2553735"/>
              <a:gd name="connsiteY0" fmla="*/ 0 h 2576132"/>
              <a:gd name="connsiteX1" fmla="*/ 19259 w 2553735"/>
              <a:gd name="connsiteY1" fmla="*/ 25190 h 2576132"/>
              <a:gd name="connsiteX2" fmla="*/ 462115 w 2553735"/>
              <a:gd name="connsiteY2" fmla="*/ 218243 h 2576132"/>
              <a:gd name="connsiteX3" fmla="*/ 2553735 w 2553735"/>
              <a:gd name="connsiteY3" fmla="*/ 218243 h 2576132"/>
              <a:gd name="connsiteX4" fmla="*/ 2553735 w 2553735"/>
              <a:gd name="connsiteY4" fmla="*/ 659263 h 2576132"/>
              <a:gd name="connsiteX5" fmla="*/ 2553733 w 2553735"/>
              <a:gd name="connsiteY5" fmla="*/ 659282 h 2576132"/>
              <a:gd name="connsiteX6" fmla="*/ 2553733 w 2553735"/>
              <a:gd name="connsiteY6" fmla="*/ 1432988 h 2576132"/>
              <a:gd name="connsiteX7" fmla="*/ 2552988 w 2553735"/>
              <a:gd name="connsiteY7" fmla="*/ 1440378 h 2576132"/>
              <a:gd name="connsiteX8" fmla="*/ 2553731 w 2553735"/>
              <a:gd name="connsiteY8" fmla="*/ 1447747 h 2576132"/>
              <a:gd name="connsiteX9" fmla="*/ 2553731 w 2553735"/>
              <a:gd name="connsiteY9" fmla="*/ 2350450 h 2576132"/>
              <a:gd name="connsiteX10" fmla="*/ 2328049 w 2553735"/>
              <a:gd name="connsiteY10" fmla="*/ 2576132 h 2576132"/>
              <a:gd name="connsiteX11" fmla="*/ 225682 w 2553735"/>
              <a:gd name="connsiteY11" fmla="*/ 2576132 h 2576132"/>
              <a:gd name="connsiteX12" fmla="*/ 0 w 2553735"/>
              <a:gd name="connsiteY12" fmla="*/ 2350450 h 2576132"/>
              <a:gd name="connsiteX13" fmla="*/ 0 w 2553735"/>
              <a:gd name="connsiteY13" fmla="*/ 1447747 h 2576132"/>
              <a:gd name="connsiteX14" fmla="*/ 745 w 2553735"/>
              <a:gd name="connsiteY14" fmla="*/ 1440358 h 2576132"/>
              <a:gd name="connsiteX15" fmla="*/ 2 w 2553735"/>
              <a:gd name="connsiteY15" fmla="*/ 1432988 h 2576132"/>
              <a:gd name="connsiteX16" fmla="*/ 2 w 2553735"/>
              <a:gd name="connsiteY16" fmla="*/ 530285 h 2576132"/>
              <a:gd name="connsiteX17" fmla="*/ 4 w 2553735"/>
              <a:gd name="connsiteY17" fmla="*/ 530265 h 2576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53735" h="2576132">
                <a:moveTo>
                  <a:pt x="4" y="0"/>
                </a:moveTo>
                <a:lnTo>
                  <a:pt x="19259" y="25190"/>
                </a:lnTo>
                <a:cubicBezTo>
                  <a:pt x="126648" y="143441"/>
                  <a:pt x="285223" y="218243"/>
                  <a:pt x="462115" y="218243"/>
                </a:cubicBezTo>
                <a:lnTo>
                  <a:pt x="2553735" y="218243"/>
                </a:lnTo>
                <a:lnTo>
                  <a:pt x="2553735" y="659263"/>
                </a:lnTo>
                <a:lnTo>
                  <a:pt x="2553733" y="659282"/>
                </a:lnTo>
                <a:lnTo>
                  <a:pt x="2553733" y="1432988"/>
                </a:lnTo>
                <a:lnTo>
                  <a:pt x="2552988" y="1440378"/>
                </a:lnTo>
                <a:lnTo>
                  <a:pt x="2553731" y="1447747"/>
                </a:lnTo>
                <a:lnTo>
                  <a:pt x="2553731" y="2350450"/>
                </a:lnTo>
                <a:cubicBezTo>
                  <a:pt x="2553731" y="2475091"/>
                  <a:pt x="2452690" y="2576132"/>
                  <a:pt x="2328049" y="2576132"/>
                </a:cubicBezTo>
                <a:lnTo>
                  <a:pt x="225682" y="2576132"/>
                </a:lnTo>
                <a:cubicBezTo>
                  <a:pt x="101041" y="2576132"/>
                  <a:pt x="0" y="2475091"/>
                  <a:pt x="0" y="2350450"/>
                </a:cubicBezTo>
                <a:lnTo>
                  <a:pt x="0" y="1447747"/>
                </a:lnTo>
                <a:lnTo>
                  <a:pt x="745" y="1440358"/>
                </a:lnTo>
                <a:lnTo>
                  <a:pt x="2" y="1432988"/>
                </a:lnTo>
                <a:lnTo>
                  <a:pt x="2" y="530285"/>
                </a:lnTo>
                <a:lnTo>
                  <a:pt x="4" y="530265"/>
                </a:lnTo>
                <a:close/>
              </a:path>
            </a:pathLst>
          </a:custGeom>
          <a:solidFill>
            <a:schemeClr val="bg1"/>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182880" tIns="182880" rIns="182880" rtlCol="0" anchor="ctr">
            <a:noAutofit/>
          </a:bodyPr>
          <a:lstStyle/>
          <a:p>
            <a:pPr algn="ctr"/>
            <a:r>
              <a:rPr lang="en-US" sz="1400" noProof="1">
                <a:solidFill>
                  <a:schemeClr val="tx1"/>
                </a:solidFill>
              </a:rPr>
              <a:t>Not wearing harnesses increases the percentage of lethal incidents</a:t>
            </a:r>
          </a:p>
          <a:p>
            <a:pPr algn="ctr"/>
            <a:endParaRPr lang="en-US" noProof="1">
              <a:solidFill>
                <a:schemeClr val="tx1"/>
              </a:solidFill>
            </a:endParaRPr>
          </a:p>
          <a:p>
            <a:pPr algn="ctr"/>
            <a:r>
              <a:rPr lang="en-US" noProof="1">
                <a:solidFill>
                  <a:schemeClr val="tx1"/>
                </a:solidFill>
              </a:rPr>
              <a:t>4x Fatality rate without harness</a:t>
            </a:r>
            <a:endParaRPr lang="en-US" sz="1400" noProof="1">
              <a:solidFill>
                <a:schemeClr val="tx1"/>
              </a:solidFill>
            </a:endParaRPr>
          </a:p>
        </p:txBody>
      </p:sp>
      <p:sp>
        <p:nvSpPr>
          <p:cNvPr id="14" name="Rectangle: Diagonal Corners Rounded 13">
            <a:extLst>
              <a:ext uri="{FF2B5EF4-FFF2-40B4-BE49-F238E27FC236}">
                <a16:creationId xmlns:a16="http://schemas.microsoft.com/office/drawing/2014/main" id="{86B4368E-5E81-3114-E2D9-DC882CC256B0}"/>
              </a:ext>
            </a:extLst>
          </p:cNvPr>
          <p:cNvSpPr/>
          <p:nvPr/>
        </p:nvSpPr>
        <p:spPr>
          <a:xfrm rot="10800000" flipV="1">
            <a:off x="8111949" y="1880506"/>
            <a:ext cx="2833814" cy="1036687"/>
          </a:xfrm>
          <a:prstGeom prst="round2DiagRect">
            <a:avLst>
              <a:gd name="adj1" fmla="val 50000"/>
              <a:gd name="adj2" fmla="val 0"/>
            </a:avLst>
          </a:prstGeom>
          <a:solidFill>
            <a:schemeClr val="accent5"/>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Ins="182880" rtlCol="0" anchor="ctr"/>
          <a:lstStyle/>
          <a:p>
            <a:pPr algn="r"/>
            <a:r>
              <a:rPr lang="en-US" sz="2000"/>
              <a:t>Human Factors</a:t>
            </a:r>
            <a:endParaRPr lang="en-US" sz="2000" b="1">
              <a:solidFill>
                <a:schemeClr val="tx1">
                  <a:lumMod val="85000"/>
                  <a:lumOff val="15000"/>
                </a:schemeClr>
              </a:solidFill>
            </a:endParaRPr>
          </a:p>
        </p:txBody>
      </p:sp>
      <p:sp>
        <p:nvSpPr>
          <p:cNvPr id="3" name="TextBox 2">
            <a:extLst>
              <a:ext uri="{FF2B5EF4-FFF2-40B4-BE49-F238E27FC236}">
                <a16:creationId xmlns:a16="http://schemas.microsoft.com/office/drawing/2014/main" id="{82D667EB-EFED-59B2-ED1D-CA3EC0B54251}"/>
              </a:ext>
            </a:extLst>
          </p:cNvPr>
          <p:cNvSpPr txBox="1"/>
          <p:nvPr/>
        </p:nvSpPr>
        <p:spPr>
          <a:xfrm>
            <a:off x="10817817" y="6426631"/>
            <a:ext cx="857573" cy="307777"/>
          </a:xfrm>
          <a:prstGeom prst="rect">
            <a:avLst/>
          </a:prstGeom>
          <a:noFill/>
        </p:spPr>
        <p:txBody>
          <a:bodyPr wrap="square" rtlCol="0">
            <a:spAutoFit/>
          </a:bodyPr>
          <a:lstStyle/>
          <a:p>
            <a:r>
              <a:rPr lang="en-US"/>
              <a:t>Jordan</a:t>
            </a:r>
          </a:p>
        </p:txBody>
      </p:sp>
    </p:spTree>
    <p:extLst>
      <p:ext uri="{BB962C8B-B14F-4D97-AF65-F5344CB8AC3E}">
        <p14:creationId xmlns:p14="http://schemas.microsoft.com/office/powerpoint/2010/main" val="4223435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E5D95-B1A7-A10B-5EB5-A26C5A0AF493}"/>
              </a:ext>
            </a:extLst>
          </p:cNvPr>
          <p:cNvSpPr>
            <a:spLocks noGrp="1"/>
          </p:cNvSpPr>
          <p:nvPr>
            <p:ph type="title"/>
          </p:nvPr>
        </p:nvSpPr>
        <p:spPr/>
        <p:txBody>
          <a:bodyPr/>
          <a:lstStyle/>
          <a:p>
            <a:r>
              <a:rPr lang="en-US"/>
              <a:t>What Drives Aviation Fatalities in Fatal Crashes?</a:t>
            </a:r>
          </a:p>
        </p:txBody>
      </p:sp>
      <p:grpSp>
        <p:nvGrpSpPr>
          <p:cNvPr id="5" name="Group 4">
            <a:extLst>
              <a:ext uri="{FF2B5EF4-FFF2-40B4-BE49-F238E27FC236}">
                <a16:creationId xmlns:a16="http://schemas.microsoft.com/office/drawing/2014/main" id="{1712C50D-8692-DEB2-616A-497C034EEB0E}"/>
              </a:ext>
            </a:extLst>
          </p:cNvPr>
          <p:cNvGrpSpPr/>
          <p:nvPr/>
        </p:nvGrpSpPr>
        <p:grpSpPr>
          <a:xfrm>
            <a:off x="996165" y="4251879"/>
            <a:ext cx="10246281" cy="1402184"/>
            <a:chOff x="754781" y="4251879"/>
            <a:chExt cx="10246281" cy="1402184"/>
          </a:xfrm>
        </p:grpSpPr>
        <p:sp>
          <p:nvSpPr>
            <p:cNvPr id="37" name="Freeform 36">
              <a:extLst>
                <a:ext uri="{FF2B5EF4-FFF2-40B4-BE49-F238E27FC236}">
                  <a16:creationId xmlns:a16="http://schemas.microsoft.com/office/drawing/2014/main" id="{D3B2A1BF-1794-5D78-2756-96DC07302265}"/>
                </a:ext>
              </a:extLst>
            </p:cNvPr>
            <p:cNvSpPr/>
            <p:nvPr/>
          </p:nvSpPr>
          <p:spPr>
            <a:xfrm>
              <a:off x="4814459" y="4251879"/>
              <a:ext cx="6186603" cy="1402184"/>
            </a:xfrm>
            <a:custGeom>
              <a:avLst/>
              <a:gdLst>
                <a:gd name="connsiteX0" fmla="*/ 730236 w 771962"/>
                <a:gd name="connsiteY0" fmla="*/ 174965 h 174964"/>
                <a:gd name="connsiteX1" fmla="*/ 0 w 771962"/>
                <a:gd name="connsiteY1" fmla="*/ 174965 h 174964"/>
                <a:gd name="connsiteX2" fmla="*/ 0 w 771962"/>
                <a:gd name="connsiteY2" fmla="*/ 0 h 174964"/>
                <a:gd name="connsiteX3" fmla="*/ 720718 w 771962"/>
                <a:gd name="connsiteY3" fmla="*/ 0 h 174964"/>
                <a:gd name="connsiteX4" fmla="*/ 768836 w 771962"/>
                <a:gd name="connsiteY4" fmla="*/ 68717 h 174964"/>
                <a:gd name="connsiteX5" fmla="*/ 730236 w 771962"/>
                <a:gd name="connsiteY5" fmla="*/ 174965 h 174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962" h="174964">
                  <a:moveTo>
                    <a:pt x="730236" y="174965"/>
                  </a:moveTo>
                  <a:lnTo>
                    <a:pt x="0" y="174965"/>
                  </a:lnTo>
                  <a:lnTo>
                    <a:pt x="0" y="0"/>
                  </a:lnTo>
                  <a:lnTo>
                    <a:pt x="720718" y="0"/>
                  </a:lnTo>
                  <a:cubicBezTo>
                    <a:pt x="756146" y="0"/>
                    <a:pt x="780998" y="34887"/>
                    <a:pt x="768836" y="68717"/>
                  </a:cubicBezTo>
                  <a:lnTo>
                    <a:pt x="730236" y="174965"/>
                  </a:lnTo>
                  <a:close/>
                </a:path>
              </a:pathLst>
            </a:custGeom>
            <a:solidFill>
              <a:schemeClr val="accent6">
                <a:lumMod val="75000"/>
              </a:schemeClr>
            </a:solidFill>
            <a:ln w="0"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78549A2B-E040-9733-A023-8E8CF53672AF}"/>
                </a:ext>
              </a:extLst>
            </p:cNvPr>
            <p:cNvSpPr/>
            <p:nvPr/>
          </p:nvSpPr>
          <p:spPr>
            <a:xfrm>
              <a:off x="754781" y="4256110"/>
              <a:ext cx="4864825" cy="1397953"/>
            </a:xfrm>
            <a:custGeom>
              <a:avLst/>
              <a:gdLst>
                <a:gd name="connsiteX0" fmla="*/ 0 w 607031"/>
                <a:gd name="connsiteY0" fmla="*/ 174436 h 174436"/>
                <a:gd name="connsiteX1" fmla="*/ 297699 w 607031"/>
                <a:gd name="connsiteY1" fmla="*/ 174436 h 174436"/>
                <a:gd name="connsiteX2" fmla="*/ 607032 w 607031"/>
                <a:gd name="connsiteY2" fmla="*/ 174436 h 174436"/>
                <a:gd name="connsiteX3" fmla="*/ 506565 w 607031"/>
                <a:gd name="connsiteY3" fmla="*/ 0 h 174436"/>
                <a:gd name="connsiteX4" fmla="*/ 0 w 607031"/>
                <a:gd name="connsiteY4" fmla="*/ 174436 h 174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031" h="174436">
                  <a:moveTo>
                    <a:pt x="0" y="174436"/>
                  </a:moveTo>
                  <a:lnTo>
                    <a:pt x="297699" y="174436"/>
                  </a:lnTo>
                  <a:lnTo>
                    <a:pt x="607032" y="174436"/>
                  </a:lnTo>
                  <a:lnTo>
                    <a:pt x="506565" y="0"/>
                  </a:lnTo>
                  <a:lnTo>
                    <a:pt x="0" y="174436"/>
                  </a:lnTo>
                  <a:close/>
                </a:path>
              </a:pathLst>
            </a:custGeom>
            <a:solidFill>
              <a:schemeClr val="accent6"/>
            </a:solidFill>
            <a:ln w="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22B90B6B-E96B-75F7-3162-6B14B1A52F9E}"/>
              </a:ext>
            </a:extLst>
          </p:cNvPr>
          <p:cNvGrpSpPr/>
          <p:nvPr/>
        </p:nvGrpSpPr>
        <p:grpSpPr>
          <a:xfrm>
            <a:off x="1042783" y="2824273"/>
            <a:ext cx="9352120" cy="2749304"/>
            <a:chOff x="801399" y="2824273"/>
            <a:chExt cx="9352120" cy="2749304"/>
          </a:xfrm>
        </p:grpSpPr>
        <p:sp>
          <p:nvSpPr>
            <p:cNvPr id="39" name="Freeform 38">
              <a:extLst>
                <a:ext uri="{FF2B5EF4-FFF2-40B4-BE49-F238E27FC236}">
                  <a16:creationId xmlns:a16="http://schemas.microsoft.com/office/drawing/2014/main" id="{3BF27882-0478-AEFF-0F83-008CE7BCE208}"/>
                </a:ext>
              </a:extLst>
            </p:cNvPr>
            <p:cNvSpPr/>
            <p:nvPr/>
          </p:nvSpPr>
          <p:spPr>
            <a:xfrm>
              <a:off x="3983874" y="2824273"/>
              <a:ext cx="6169645" cy="1376772"/>
            </a:xfrm>
            <a:custGeom>
              <a:avLst/>
              <a:gdLst>
                <a:gd name="connsiteX0" fmla="*/ 728649 w 769846"/>
                <a:gd name="connsiteY0" fmla="*/ 171793 h 171793"/>
                <a:gd name="connsiteX1" fmla="*/ 0 w 769846"/>
                <a:gd name="connsiteY1" fmla="*/ 171793 h 171793"/>
                <a:gd name="connsiteX2" fmla="*/ 0 w 769846"/>
                <a:gd name="connsiteY2" fmla="*/ 0 h 171793"/>
                <a:gd name="connsiteX3" fmla="*/ 718603 w 769846"/>
                <a:gd name="connsiteY3" fmla="*/ 0 h 171793"/>
                <a:gd name="connsiteX4" fmla="*/ 766721 w 769846"/>
                <a:gd name="connsiteY4" fmla="*/ 68717 h 171793"/>
                <a:gd name="connsiteX5" fmla="*/ 728649 w 769846"/>
                <a:gd name="connsiteY5" fmla="*/ 171793 h 17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846" h="171793">
                  <a:moveTo>
                    <a:pt x="728649" y="171793"/>
                  </a:moveTo>
                  <a:lnTo>
                    <a:pt x="0" y="171793"/>
                  </a:lnTo>
                  <a:lnTo>
                    <a:pt x="0" y="0"/>
                  </a:lnTo>
                  <a:lnTo>
                    <a:pt x="718603" y="0"/>
                  </a:lnTo>
                  <a:cubicBezTo>
                    <a:pt x="754030" y="0"/>
                    <a:pt x="778883" y="35416"/>
                    <a:pt x="766721" y="68717"/>
                  </a:cubicBezTo>
                  <a:lnTo>
                    <a:pt x="728649" y="171793"/>
                  </a:lnTo>
                  <a:close/>
                </a:path>
              </a:pathLst>
            </a:custGeom>
            <a:solidFill>
              <a:schemeClr val="accent4">
                <a:lumMod val="75000"/>
              </a:schemeClr>
            </a:solidFill>
            <a:ln w="0"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09654C80-1CB8-5F95-2973-355D25721676}"/>
                </a:ext>
              </a:extLst>
            </p:cNvPr>
            <p:cNvSpPr/>
            <p:nvPr/>
          </p:nvSpPr>
          <p:spPr>
            <a:xfrm>
              <a:off x="801399" y="2824273"/>
              <a:ext cx="3979151" cy="2749304"/>
            </a:xfrm>
            <a:custGeom>
              <a:avLst/>
              <a:gdLst>
                <a:gd name="connsiteX0" fmla="*/ 0 w 496517"/>
                <a:gd name="connsiteY0" fmla="*/ 343058 h 343057"/>
                <a:gd name="connsiteX1" fmla="*/ 496518 w 496517"/>
                <a:gd name="connsiteY1" fmla="*/ 171793 h 343057"/>
                <a:gd name="connsiteX2" fmla="*/ 446813 w 496517"/>
                <a:gd name="connsiteY2" fmla="*/ 85104 h 343057"/>
                <a:gd name="connsiteX3" fmla="*/ 397109 w 496517"/>
                <a:gd name="connsiteY3" fmla="*/ 0 h 343057"/>
                <a:gd name="connsiteX4" fmla="*/ 0 w 496517"/>
                <a:gd name="connsiteY4" fmla="*/ 343058 h 343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17" h="343057">
                  <a:moveTo>
                    <a:pt x="0" y="343058"/>
                  </a:moveTo>
                  <a:lnTo>
                    <a:pt x="496518" y="171793"/>
                  </a:lnTo>
                  <a:lnTo>
                    <a:pt x="446813" y="85104"/>
                  </a:lnTo>
                  <a:lnTo>
                    <a:pt x="397109" y="0"/>
                  </a:lnTo>
                  <a:lnTo>
                    <a:pt x="0" y="343058"/>
                  </a:lnTo>
                  <a:close/>
                </a:path>
              </a:pathLst>
            </a:custGeom>
            <a:solidFill>
              <a:schemeClr val="accent4"/>
            </a:solidFill>
            <a:ln w="0" cap="flat">
              <a:noFill/>
              <a:prstDash val="solid"/>
              <a:miter/>
            </a:ln>
          </p:spPr>
          <p:txBody>
            <a:bodyPr rtlCol="0" anchor="ctr"/>
            <a:lstStyle/>
            <a:p>
              <a:endParaRPr lang="en-US"/>
            </a:p>
          </p:txBody>
        </p:sp>
      </p:grpSp>
      <p:grpSp>
        <p:nvGrpSpPr>
          <p:cNvPr id="3" name="Group 2">
            <a:extLst>
              <a:ext uri="{FF2B5EF4-FFF2-40B4-BE49-F238E27FC236}">
                <a16:creationId xmlns:a16="http://schemas.microsoft.com/office/drawing/2014/main" id="{8A8D8D8C-AAF6-EDE6-5ECF-E6054B8B1CB0}"/>
              </a:ext>
            </a:extLst>
          </p:cNvPr>
          <p:cNvGrpSpPr/>
          <p:nvPr/>
        </p:nvGrpSpPr>
        <p:grpSpPr>
          <a:xfrm>
            <a:off x="949555" y="1358537"/>
            <a:ext cx="8623251" cy="4215040"/>
            <a:chOff x="708171" y="1358537"/>
            <a:chExt cx="8623251" cy="4215040"/>
          </a:xfrm>
        </p:grpSpPr>
        <p:sp>
          <p:nvSpPr>
            <p:cNvPr id="38" name="Freeform 37">
              <a:extLst>
                <a:ext uri="{FF2B5EF4-FFF2-40B4-BE49-F238E27FC236}">
                  <a16:creationId xmlns:a16="http://schemas.microsoft.com/office/drawing/2014/main" id="{DB3A436B-9501-2CA5-3A55-B3B3140B9038}"/>
                </a:ext>
              </a:extLst>
            </p:cNvPr>
            <p:cNvSpPr/>
            <p:nvPr/>
          </p:nvSpPr>
          <p:spPr>
            <a:xfrm>
              <a:off x="3144819" y="1358537"/>
              <a:ext cx="6186603" cy="1406424"/>
            </a:xfrm>
            <a:custGeom>
              <a:avLst/>
              <a:gdLst>
                <a:gd name="connsiteX0" fmla="*/ 730236 w 771962"/>
                <a:gd name="connsiteY0" fmla="*/ 175493 h 175493"/>
                <a:gd name="connsiteX1" fmla="*/ 0 w 771962"/>
                <a:gd name="connsiteY1" fmla="*/ 175493 h 175493"/>
                <a:gd name="connsiteX2" fmla="*/ 0 w 771962"/>
                <a:gd name="connsiteY2" fmla="*/ 0 h 175493"/>
                <a:gd name="connsiteX3" fmla="*/ 720718 w 771962"/>
                <a:gd name="connsiteY3" fmla="*/ 0 h 175493"/>
                <a:gd name="connsiteX4" fmla="*/ 768836 w 771962"/>
                <a:gd name="connsiteY4" fmla="*/ 68189 h 175493"/>
                <a:gd name="connsiteX5" fmla="*/ 730236 w 771962"/>
                <a:gd name="connsiteY5" fmla="*/ 175493 h 175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962" h="175493">
                  <a:moveTo>
                    <a:pt x="730236" y="175493"/>
                  </a:moveTo>
                  <a:lnTo>
                    <a:pt x="0" y="175493"/>
                  </a:lnTo>
                  <a:lnTo>
                    <a:pt x="0" y="0"/>
                  </a:lnTo>
                  <a:lnTo>
                    <a:pt x="720718" y="0"/>
                  </a:lnTo>
                  <a:cubicBezTo>
                    <a:pt x="756146" y="0"/>
                    <a:pt x="780998" y="34887"/>
                    <a:pt x="768836" y="68189"/>
                  </a:cubicBezTo>
                  <a:lnTo>
                    <a:pt x="730236" y="175493"/>
                  </a:lnTo>
                  <a:close/>
                </a:path>
              </a:pathLst>
            </a:custGeom>
            <a:solidFill>
              <a:schemeClr val="accent3">
                <a:lumMod val="50000"/>
              </a:schemeClr>
            </a:solid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D15126D8-1F9D-A3F6-CD0D-3F404F83B542}"/>
                </a:ext>
              </a:extLst>
            </p:cNvPr>
            <p:cNvSpPr/>
            <p:nvPr/>
          </p:nvSpPr>
          <p:spPr>
            <a:xfrm>
              <a:off x="708171" y="1358537"/>
              <a:ext cx="3246043" cy="4215040"/>
            </a:xfrm>
            <a:custGeom>
              <a:avLst/>
              <a:gdLst>
                <a:gd name="connsiteX0" fmla="*/ 405040 w 405040"/>
                <a:gd name="connsiteY0" fmla="*/ 175493 h 525951"/>
                <a:gd name="connsiteX1" fmla="*/ 303516 w 405040"/>
                <a:gd name="connsiteY1" fmla="*/ 0 h 525951"/>
                <a:gd name="connsiteX2" fmla="*/ 148585 w 405040"/>
                <a:gd name="connsiteY2" fmla="*/ 267997 h 525951"/>
                <a:gd name="connsiteX3" fmla="*/ 0 w 405040"/>
                <a:gd name="connsiteY3" fmla="*/ 525951 h 525951"/>
                <a:gd name="connsiteX4" fmla="*/ 405040 w 405040"/>
                <a:gd name="connsiteY4" fmla="*/ 175493 h 525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040" h="525951">
                  <a:moveTo>
                    <a:pt x="405040" y="175493"/>
                  </a:moveTo>
                  <a:lnTo>
                    <a:pt x="303516" y="0"/>
                  </a:lnTo>
                  <a:lnTo>
                    <a:pt x="148585" y="267997"/>
                  </a:lnTo>
                  <a:lnTo>
                    <a:pt x="0" y="525951"/>
                  </a:lnTo>
                  <a:lnTo>
                    <a:pt x="405040" y="175493"/>
                  </a:lnTo>
                  <a:close/>
                </a:path>
              </a:pathLst>
            </a:custGeom>
            <a:solidFill>
              <a:schemeClr val="accent3"/>
            </a:solidFill>
            <a:ln w="0" cap="flat">
              <a:noFill/>
              <a:prstDash val="solid"/>
              <a:miter/>
            </a:ln>
          </p:spPr>
          <p:txBody>
            <a:bodyPr rtlCol="0" anchor="ctr"/>
            <a:lstStyle/>
            <a:p>
              <a:endParaRPr lang="en-US"/>
            </a:p>
          </p:txBody>
        </p:sp>
      </p:grpSp>
      <p:sp>
        <p:nvSpPr>
          <p:cNvPr id="44" name="TextBox 43">
            <a:extLst>
              <a:ext uri="{FF2B5EF4-FFF2-40B4-BE49-F238E27FC236}">
                <a16:creationId xmlns:a16="http://schemas.microsoft.com/office/drawing/2014/main" id="{A5C60B99-26E5-D528-89FF-6EE84B39010D}"/>
              </a:ext>
            </a:extLst>
          </p:cNvPr>
          <p:cNvSpPr txBox="1"/>
          <p:nvPr/>
        </p:nvSpPr>
        <p:spPr>
          <a:xfrm>
            <a:off x="3920970" y="3511224"/>
            <a:ext cx="687796" cy="400110"/>
          </a:xfrm>
          <a:prstGeom prst="rect">
            <a:avLst/>
          </a:prstGeom>
          <a:noFill/>
        </p:spPr>
        <p:txBody>
          <a:bodyPr wrap="square" lIns="0" rIns="0" rtlCol="0" anchor="ctr">
            <a:spAutoFit/>
          </a:bodyPr>
          <a:lstStyle/>
          <a:p>
            <a:pPr algn="ctr"/>
            <a:r>
              <a:rPr lang="en-US" sz="2000" b="1" noProof="1">
                <a:solidFill>
                  <a:schemeClr val="bg1"/>
                </a:solidFill>
              </a:rPr>
              <a:t>02</a:t>
            </a:r>
          </a:p>
        </p:txBody>
      </p:sp>
      <p:sp>
        <p:nvSpPr>
          <p:cNvPr id="45" name="TextBox 44">
            <a:extLst>
              <a:ext uri="{FF2B5EF4-FFF2-40B4-BE49-F238E27FC236}">
                <a16:creationId xmlns:a16="http://schemas.microsoft.com/office/drawing/2014/main" id="{D90B08A9-2375-9D3D-A29F-35BBD5F723D7}"/>
              </a:ext>
            </a:extLst>
          </p:cNvPr>
          <p:cNvSpPr txBox="1"/>
          <p:nvPr/>
        </p:nvSpPr>
        <p:spPr>
          <a:xfrm>
            <a:off x="4678036" y="4789507"/>
            <a:ext cx="687796" cy="400110"/>
          </a:xfrm>
          <a:prstGeom prst="rect">
            <a:avLst/>
          </a:prstGeom>
          <a:noFill/>
        </p:spPr>
        <p:txBody>
          <a:bodyPr wrap="square" lIns="0" rIns="0" rtlCol="0" anchor="ctr">
            <a:spAutoFit/>
          </a:bodyPr>
          <a:lstStyle/>
          <a:p>
            <a:pPr algn="ctr"/>
            <a:r>
              <a:rPr lang="en-US" sz="2000" b="1" noProof="1">
                <a:solidFill>
                  <a:schemeClr val="bg1"/>
                </a:solidFill>
              </a:rPr>
              <a:t>03</a:t>
            </a:r>
          </a:p>
        </p:txBody>
      </p:sp>
      <p:grpSp>
        <p:nvGrpSpPr>
          <p:cNvPr id="56" name="Group 55">
            <a:extLst>
              <a:ext uri="{FF2B5EF4-FFF2-40B4-BE49-F238E27FC236}">
                <a16:creationId xmlns:a16="http://schemas.microsoft.com/office/drawing/2014/main" id="{5C1C2EE0-C694-2FA9-8BD9-ADDF75114BD0}"/>
              </a:ext>
            </a:extLst>
          </p:cNvPr>
          <p:cNvGrpSpPr/>
          <p:nvPr/>
        </p:nvGrpSpPr>
        <p:grpSpPr>
          <a:xfrm>
            <a:off x="3866529" y="1477519"/>
            <a:ext cx="5808370" cy="962794"/>
            <a:chOff x="8529090" y="856744"/>
            <a:chExt cx="3967659" cy="2095086"/>
          </a:xfrm>
        </p:grpSpPr>
        <p:sp>
          <p:nvSpPr>
            <p:cNvPr id="57" name="TextBox 56">
              <a:extLst>
                <a:ext uri="{FF2B5EF4-FFF2-40B4-BE49-F238E27FC236}">
                  <a16:creationId xmlns:a16="http://schemas.microsoft.com/office/drawing/2014/main" id="{90BF2D1C-429B-F2F6-365C-6971041514DF}"/>
                </a:ext>
              </a:extLst>
            </p:cNvPr>
            <p:cNvSpPr txBox="1"/>
            <p:nvPr/>
          </p:nvSpPr>
          <p:spPr>
            <a:xfrm>
              <a:off x="8529090" y="856744"/>
              <a:ext cx="3967659" cy="1004605"/>
            </a:xfrm>
            <a:prstGeom prst="rect">
              <a:avLst/>
            </a:prstGeom>
            <a:noFill/>
          </p:spPr>
          <p:txBody>
            <a:bodyPr wrap="square" lIns="0" rIns="0" rtlCol="0" anchor="b">
              <a:spAutoFit/>
            </a:bodyPr>
            <a:lstStyle/>
            <a:p>
              <a:r>
                <a:rPr lang="en-US" sz="2400" b="1" noProof="1">
                  <a:solidFill>
                    <a:schemeClr val="bg1"/>
                  </a:solidFill>
                </a:rPr>
                <a:t>5,000+ aviation accidents (1908–2009) </a:t>
              </a:r>
            </a:p>
          </p:txBody>
        </p:sp>
        <p:sp>
          <p:nvSpPr>
            <p:cNvPr id="58" name="TextBox 57">
              <a:extLst>
                <a:ext uri="{FF2B5EF4-FFF2-40B4-BE49-F238E27FC236}">
                  <a16:creationId xmlns:a16="http://schemas.microsoft.com/office/drawing/2014/main" id="{60BEE972-C687-47FC-1610-EFF3A9EC2D0B}"/>
                </a:ext>
              </a:extLst>
            </p:cNvPr>
            <p:cNvSpPr txBox="1"/>
            <p:nvPr/>
          </p:nvSpPr>
          <p:spPr>
            <a:xfrm>
              <a:off x="8801193" y="1947225"/>
              <a:ext cx="3498919" cy="1004605"/>
            </a:xfrm>
            <a:prstGeom prst="rect">
              <a:avLst/>
            </a:prstGeom>
            <a:noFill/>
          </p:spPr>
          <p:txBody>
            <a:bodyPr wrap="square" lIns="0" rIns="0" rtlCol="0" anchor="t">
              <a:spAutoFit/>
            </a:bodyPr>
            <a:lstStyle/>
            <a:p>
              <a:r>
                <a:rPr lang="en-US" sz="1200" noProof="1">
                  <a:solidFill>
                    <a:schemeClr val="bg1"/>
                  </a:solidFill>
                </a:rPr>
                <a:t>Real-world data + crash summaries include: </a:t>
              </a:r>
            </a:p>
            <a:p>
              <a:r>
                <a:rPr lang="en-US" sz="1200" noProof="1">
                  <a:solidFill>
                    <a:schemeClr val="bg1"/>
                  </a:solidFill>
                </a:rPr>
                <a:t>       fatalities, passengers, location, cause descriptions from reports </a:t>
              </a:r>
            </a:p>
          </p:txBody>
        </p:sp>
      </p:grpSp>
      <p:sp>
        <p:nvSpPr>
          <p:cNvPr id="60" name="TextBox 59">
            <a:extLst>
              <a:ext uri="{FF2B5EF4-FFF2-40B4-BE49-F238E27FC236}">
                <a16:creationId xmlns:a16="http://schemas.microsoft.com/office/drawing/2014/main" id="{94FDC70C-D088-FF98-2E4E-C55D51359A79}"/>
              </a:ext>
            </a:extLst>
          </p:cNvPr>
          <p:cNvSpPr txBox="1"/>
          <p:nvPr/>
        </p:nvSpPr>
        <p:spPr>
          <a:xfrm>
            <a:off x="4854565" y="3190131"/>
            <a:ext cx="6589158" cy="1200329"/>
          </a:xfrm>
          <a:prstGeom prst="rect">
            <a:avLst/>
          </a:prstGeom>
          <a:noFill/>
        </p:spPr>
        <p:txBody>
          <a:bodyPr wrap="square" lIns="0" rIns="0" rtlCol="0" anchor="b">
            <a:spAutoFit/>
          </a:bodyPr>
          <a:lstStyle/>
          <a:p>
            <a:r>
              <a:rPr lang="en-US" sz="3600" b="1" noProof="1">
                <a:solidFill>
                  <a:schemeClr val="bg1"/>
                </a:solidFill>
              </a:rPr>
              <a:t>Correlation ≠ Causation </a:t>
            </a:r>
          </a:p>
          <a:p>
            <a:endParaRPr lang="en-US" sz="3600" b="1" noProof="1">
              <a:solidFill>
                <a:schemeClr val="bg1"/>
              </a:solidFill>
            </a:endParaRPr>
          </a:p>
        </p:txBody>
      </p:sp>
      <p:grpSp>
        <p:nvGrpSpPr>
          <p:cNvPr id="62" name="Group 61">
            <a:extLst>
              <a:ext uri="{FF2B5EF4-FFF2-40B4-BE49-F238E27FC236}">
                <a16:creationId xmlns:a16="http://schemas.microsoft.com/office/drawing/2014/main" id="{93637498-B426-3AD9-AE4B-71C3B82A8F39}"/>
              </a:ext>
            </a:extLst>
          </p:cNvPr>
          <p:cNvGrpSpPr/>
          <p:nvPr/>
        </p:nvGrpSpPr>
        <p:grpSpPr>
          <a:xfrm>
            <a:off x="6226077" y="4466918"/>
            <a:ext cx="4283573" cy="1045287"/>
            <a:chOff x="8921977" y="789839"/>
            <a:chExt cx="2926080" cy="2274595"/>
          </a:xfrm>
        </p:grpSpPr>
        <p:sp>
          <p:nvSpPr>
            <p:cNvPr id="63" name="TextBox 62">
              <a:extLst>
                <a:ext uri="{FF2B5EF4-FFF2-40B4-BE49-F238E27FC236}">
                  <a16:creationId xmlns:a16="http://schemas.microsoft.com/office/drawing/2014/main" id="{691E267D-6965-C9DC-4F13-EE024AB3A11D}"/>
                </a:ext>
              </a:extLst>
            </p:cNvPr>
            <p:cNvSpPr txBox="1"/>
            <p:nvPr/>
          </p:nvSpPr>
          <p:spPr>
            <a:xfrm>
              <a:off x="8921977" y="789839"/>
              <a:ext cx="2926080" cy="1138552"/>
            </a:xfrm>
            <a:prstGeom prst="rect">
              <a:avLst/>
            </a:prstGeom>
            <a:noFill/>
          </p:spPr>
          <p:txBody>
            <a:bodyPr wrap="square" lIns="0" rIns="0" rtlCol="0" anchor="b">
              <a:spAutoFit/>
            </a:bodyPr>
            <a:lstStyle/>
            <a:p>
              <a:r>
                <a:rPr lang="en-US" sz="2800" b="1" noProof="1">
                  <a:solidFill>
                    <a:schemeClr val="bg1"/>
                  </a:solidFill>
                </a:rPr>
                <a:t>Objective</a:t>
              </a:r>
            </a:p>
          </p:txBody>
        </p:sp>
        <p:sp>
          <p:nvSpPr>
            <p:cNvPr id="64" name="TextBox 63">
              <a:extLst>
                <a:ext uri="{FF2B5EF4-FFF2-40B4-BE49-F238E27FC236}">
                  <a16:creationId xmlns:a16="http://schemas.microsoft.com/office/drawing/2014/main" id="{FB74BD6B-9E84-4C65-B171-FD6E7E0CC75F}"/>
                </a:ext>
              </a:extLst>
            </p:cNvPr>
            <p:cNvSpPr txBox="1"/>
            <p:nvPr/>
          </p:nvSpPr>
          <p:spPr>
            <a:xfrm>
              <a:off x="8921977" y="1925882"/>
              <a:ext cx="2926080" cy="1138552"/>
            </a:xfrm>
            <a:prstGeom prst="rect">
              <a:avLst/>
            </a:prstGeom>
            <a:noFill/>
          </p:spPr>
          <p:txBody>
            <a:bodyPr wrap="square" lIns="0" rIns="0" rtlCol="0" anchor="t">
              <a:spAutoFit/>
            </a:bodyPr>
            <a:lstStyle/>
            <a:p>
              <a:r>
                <a:rPr lang="en-US" noProof="1">
                  <a:solidFill>
                    <a:schemeClr val="bg1"/>
                  </a:solidFill>
                </a:rPr>
                <a:t>Goal: Identify causal drivers of high-lethality crashes</a:t>
              </a:r>
            </a:p>
            <a:p>
              <a:endParaRPr lang="en-US" noProof="1">
                <a:solidFill>
                  <a:schemeClr val="bg1"/>
                </a:solidFill>
              </a:endParaRPr>
            </a:p>
          </p:txBody>
        </p:sp>
      </p:grpSp>
      <p:sp>
        <p:nvSpPr>
          <p:cNvPr id="43" name="TextBox 42">
            <a:extLst>
              <a:ext uri="{FF2B5EF4-FFF2-40B4-BE49-F238E27FC236}">
                <a16:creationId xmlns:a16="http://schemas.microsoft.com/office/drawing/2014/main" id="{CE45D692-8AA0-492A-0E44-5EBBAC9497D1}"/>
              </a:ext>
            </a:extLst>
          </p:cNvPr>
          <p:cNvSpPr txBox="1"/>
          <p:nvPr/>
        </p:nvSpPr>
        <p:spPr>
          <a:xfrm>
            <a:off x="3178734" y="2090501"/>
            <a:ext cx="687796" cy="400110"/>
          </a:xfrm>
          <a:prstGeom prst="rect">
            <a:avLst/>
          </a:prstGeom>
          <a:noFill/>
        </p:spPr>
        <p:txBody>
          <a:bodyPr wrap="square" lIns="0" rIns="0" rtlCol="0" anchor="ctr">
            <a:spAutoFit/>
          </a:bodyPr>
          <a:lstStyle/>
          <a:p>
            <a:pPr algn="ctr"/>
            <a:r>
              <a:rPr lang="en-US" sz="2000" b="1" noProof="1">
                <a:solidFill>
                  <a:schemeClr val="bg1"/>
                </a:solidFill>
              </a:rPr>
              <a:t>01</a:t>
            </a:r>
          </a:p>
        </p:txBody>
      </p:sp>
      <p:sp>
        <p:nvSpPr>
          <p:cNvPr id="6" name="TextBox 5">
            <a:extLst>
              <a:ext uri="{FF2B5EF4-FFF2-40B4-BE49-F238E27FC236}">
                <a16:creationId xmlns:a16="http://schemas.microsoft.com/office/drawing/2014/main" id="{A145A956-D67C-DE09-CD36-F103FBC5342D}"/>
              </a:ext>
            </a:extLst>
          </p:cNvPr>
          <p:cNvSpPr txBox="1"/>
          <p:nvPr/>
        </p:nvSpPr>
        <p:spPr>
          <a:xfrm>
            <a:off x="10817817" y="6426631"/>
            <a:ext cx="857573" cy="307777"/>
          </a:xfrm>
          <a:prstGeom prst="rect">
            <a:avLst/>
          </a:prstGeom>
          <a:noFill/>
        </p:spPr>
        <p:txBody>
          <a:bodyPr wrap="square" rtlCol="0">
            <a:spAutoFit/>
          </a:bodyPr>
          <a:lstStyle/>
          <a:p>
            <a:r>
              <a:rPr lang="en-US"/>
              <a:t>Clancy</a:t>
            </a:r>
          </a:p>
        </p:txBody>
      </p:sp>
    </p:spTree>
    <p:extLst>
      <p:ext uri="{BB962C8B-B14F-4D97-AF65-F5344CB8AC3E}">
        <p14:creationId xmlns:p14="http://schemas.microsoft.com/office/powerpoint/2010/main" val="263836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2D1A7-FC59-3A60-C309-AE98ADAA2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3C52B-089B-2AEF-635B-5762869EA8CD}"/>
              </a:ext>
            </a:extLst>
          </p:cNvPr>
          <p:cNvSpPr>
            <a:spLocks noGrp="1"/>
          </p:cNvSpPr>
          <p:nvPr>
            <p:ph type="title"/>
          </p:nvPr>
        </p:nvSpPr>
        <p:spPr/>
        <p:txBody>
          <a:bodyPr>
            <a:normAutofit/>
          </a:bodyPr>
          <a:lstStyle/>
          <a:p>
            <a:r>
              <a:rPr lang="en-US">
                <a:ea typeface="+mj-lt"/>
                <a:cs typeface="+mj-lt"/>
              </a:rPr>
              <a:t>From Raw Data to a Causal Problem</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01DF64-C699-B692-5659-8FF420B367D7}"/>
                  </a:ext>
                </a:extLst>
              </p:cNvPr>
              <p:cNvSpPr>
                <a:spLocks noGrp="1"/>
              </p:cNvSpPr>
              <p:nvPr>
                <p:ph type="body" idx="1"/>
              </p:nvPr>
            </p:nvSpPr>
            <p:spPr>
              <a:xfrm>
                <a:off x="6422547" y="4722012"/>
                <a:ext cx="6029197" cy="1607153"/>
              </a:xfrm>
            </p:spPr>
            <p:txBody>
              <a:bodyPr vert="horz" lIns="91440" tIns="45720" rIns="91440" bIns="45720" rtlCol="0" anchor="t">
                <a:normAutofit/>
              </a:bodyPr>
              <a:lstStyle/>
              <a:p>
                <a:pPr marL="186262" indent="0">
                  <a:buNone/>
                </a:pPr>
                <a:r>
                  <a:rPr lang="en-US" sz="2400">
                    <a:ea typeface="+mn-lt"/>
                    <a:cs typeface="+mn-lt"/>
                  </a:rPr>
                  <a:t>Defined outcome: </a:t>
                </a:r>
              </a:p>
              <a:p>
                <a:pPr marL="0" indent="0">
                  <a:buNone/>
                </a:pPr>
                <a14:m>
                  <m:oMathPara xmlns:m="http://schemas.openxmlformats.org/officeDocument/2006/math">
                    <m:oMathParaPr>
                      <m:jc m:val="centerGroup"/>
                    </m:oMathParaPr>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𝑓</m:t>
                          </m:r>
                        </m:e>
                      </m:acc>
                      <m:r>
                        <a:rPr lang="en-US" sz="2400" i="1">
                          <a:latin typeface="Cambria Math" panose="02040503050406030204" pitchFamily="18" charset="0"/>
                        </a:rPr>
                        <m:t>=</m:t>
                      </m:r>
                      <m:f>
                        <m:fPr>
                          <m:ctrlPr>
                            <a:rPr lang="en-US" sz="2400" i="1">
                              <a:latin typeface="Cambria Math" panose="02040503050406030204" pitchFamily="18" charset="0"/>
                            </a:rPr>
                          </m:ctrlPr>
                        </m:fPr>
                        <m:num>
                          <m:r>
                            <m:rPr>
                              <m:nor/>
                            </m:rPr>
                            <a:rPr lang="en-US" sz="2400"/>
                            <m:t>Aircraft</m:t>
                          </m:r>
                          <m:r>
                            <m:rPr>
                              <m:nor/>
                            </m:rPr>
                            <a:rPr lang="en-US" sz="2400"/>
                            <m:t> </m:t>
                          </m:r>
                          <m:r>
                            <m:rPr>
                              <m:nor/>
                            </m:rPr>
                            <a:rPr lang="en-US" sz="2400"/>
                            <m:t>Fatalities</m:t>
                          </m:r>
                          <m:r>
                            <m:rPr>
                              <m:nor/>
                            </m:rPr>
                            <a:rPr lang="en-US" sz="2400"/>
                            <m:t> </m:t>
                          </m:r>
                          <m:r>
                            <a:rPr lang="en-US" sz="2400" i="1">
                              <a:latin typeface="Cambria Math" panose="02040503050406030204" pitchFamily="18" charset="0"/>
                            </a:rPr>
                            <m:t>+</m:t>
                          </m:r>
                          <m:r>
                            <m:rPr>
                              <m:nor/>
                            </m:rPr>
                            <a:rPr lang="en-US" sz="2400"/>
                            <m:t> </m:t>
                          </m:r>
                          <m:r>
                            <m:rPr>
                              <m:nor/>
                            </m:rPr>
                            <a:rPr lang="en-US" sz="2400"/>
                            <m:t>Ground</m:t>
                          </m:r>
                          <m:r>
                            <m:rPr>
                              <m:nor/>
                            </m:rPr>
                            <a:rPr lang="en-US" sz="2400"/>
                            <m:t> </m:t>
                          </m:r>
                          <m:r>
                            <m:rPr>
                              <m:nor/>
                            </m:rPr>
                            <a:rPr lang="en-US" sz="2400"/>
                            <m:t>Fatalities</m:t>
                          </m:r>
                        </m:num>
                        <m:den>
                          <m:r>
                            <m:rPr>
                              <m:nor/>
                            </m:rPr>
                            <a:rPr lang="en-US" sz="2400"/>
                            <m:t>Souls</m:t>
                          </m:r>
                          <m:r>
                            <m:rPr>
                              <m:nor/>
                            </m:rPr>
                            <a:rPr lang="en-US" sz="2400"/>
                            <m:t> </m:t>
                          </m:r>
                          <m:r>
                            <m:rPr>
                              <m:nor/>
                            </m:rPr>
                            <a:rPr lang="en-US" sz="2400"/>
                            <m:t>Aboard</m:t>
                          </m:r>
                        </m:den>
                      </m:f>
                    </m:oMath>
                  </m:oMathPara>
                </a14:m>
                <a:endParaRPr lang="en-US" sz="2400"/>
              </a:p>
            </p:txBody>
          </p:sp>
        </mc:Choice>
        <mc:Fallback xmlns="">
          <p:sp>
            <p:nvSpPr>
              <p:cNvPr id="3" name="Content Placeholder 2">
                <a:extLst>
                  <a:ext uri="{FF2B5EF4-FFF2-40B4-BE49-F238E27FC236}">
                    <a16:creationId xmlns:a16="http://schemas.microsoft.com/office/drawing/2014/main" id="{1F01DF64-C699-B692-5659-8FF420B367D7}"/>
                  </a:ext>
                </a:extLst>
              </p:cNvPr>
              <p:cNvSpPr>
                <a:spLocks noGrp="1" noRot="1" noChangeAspect="1" noMove="1" noResize="1" noEditPoints="1" noAdjustHandles="1" noChangeArrowheads="1" noChangeShapeType="1" noTextEdit="1"/>
              </p:cNvSpPr>
              <p:nvPr>
                <p:ph type="body" idx="1"/>
              </p:nvPr>
            </p:nvSpPr>
            <p:spPr>
              <a:xfrm>
                <a:off x="6422547" y="4722012"/>
                <a:ext cx="6029197" cy="1607153"/>
              </a:xfrm>
              <a:blipFill>
                <a:blip r:embed="rId4"/>
                <a:stretch>
                  <a:fillRect t="-1141"/>
                </a:stretch>
              </a:blipFill>
            </p:spPr>
            <p:txBody>
              <a:bodyPr/>
              <a:lstStyle/>
              <a:p>
                <a:r>
                  <a:rPr lang="en-US">
                    <a:noFill/>
                  </a:rPr>
                  <a:t> </a:t>
                </a:r>
              </a:p>
            </p:txBody>
          </p:sp>
        </mc:Fallback>
      </mc:AlternateContent>
      <p:graphicFrame>
        <p:nvGraphicFramePr>
          <p:cNvPr id="7" name="Diagram 6">
            <a:extLst>
              <a:ext uri="{FF2B5EF4-FFF2-40B4-BE49-F238E27FC236}">
                <a16:creationId xmlns:a16="http://schemas.microsoft.com/office/drawing/2014/main" id="{EDD1E693-CE54-B576-C4BC-A39C9163C9B6}"/>
              </a:ext>
            </a:extLst>
          </p:cNvPr>
          <p:cNvGraphicFramePr/>
          <p:nvPr>
            <p:extLst>
              <p:ext uri="{D42A27DB-BD31-4B8C-83A1-F6EECF244321}">
                <p14:modId xmlns:p14="http://schemas.microsoft.com/office/powerpoint/2010/main" val="4188110238"/>
              </p:ext>
            </p:extLst>
          </p:nvPr>
        </p:nvGraphicFramePr>
        <p:xfrm>
          <a:off x="314519" y="1057670"/>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0CEBDD46-B862-1867-4CC7-1716C34B91BF}"/>
              </a:ext>
            </a:extLst>
          </p:cNvPr>
          <p:cNvSpPr txBox="1"/>
          <p:nvPr/>
        </p:nvSpPr>
        <p:spPr>
          <a:xfrm>
            <a:off x="10817817" y="6426631"/>
            <a:ext cx="857573" cy="307777"/>
          </a:xfrm>
          <a:prstGeom prst="rect">
            <a:avLst/>
          </a:prstGeom>
          <a:noFill/>
        </p:spPr>
        <p:txBody>
          <a:bodyPr wrap="square" rtlCol="0">
            <a:spAutoFit/>
          </a:bodyPr>
          <a:lstStyle/>
          <a:p>
            <a:r>
              <a:rPr lang="en-US"/>
              <a:t>Tayan</a:t>
            </a:r>
          </a:p>
        </p:txBody>
      </p:sp>
    </p:spTree>
    <p:extLst>
      <p:ext uri="{BB962C8B-B14F-4D97-AF65-F5344CB8AC3E}">
        <p14:creationId xmlns:p14="http://schemas.microsoft.com/office/powerpoint/2010/main" val="2197562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 Data Preparation &amp; Classification</a:t>
            </a:r>
          </a:p>
        </p:txBody>
      </p:sp>
      <p:graphicFrame>
        <p:nvGraphicFramePr>
          <p:cNvPr id="7" name="Table 6">
            <a:extLst>
              <a:ext uri="{FF2B5EF4-FFF2-40B4-BE49-F238E27FC236}">
                <a16:creationId xmlns:a16="http://schemas.microsoft.com/office/drawing/2014/main" id="{0EBE8FF9-BEE9-2FA5-8E4E-E7AF581EA97A}"/>
              </a:ext>
            </a:extLst>
          </p:cNvPr>
          <p:cNvGraphicFramePr>
            <a:graphicFrameLocks noGrp="1"/>
          </p:cNvGraphicFramePr>
          <p:nvPr>
            <p:extLst>
              <p:ext uri="{D42A27DB-BD31-4B8C-83A1-F6EECF244321}">
                <p14:modId xmlns:p14="http://schemas.microsoft.com/office/powerpoint/2010/main" val="2328248354"/>
              </p:ext>
            </p:extLst>
          </p:nvPr>
        </p:nvGraphicFramePr>
        <p:xfrm>
          <a:off x="5348749" y="1401748"/>
          <a:ext cx="6189315" cy="4927006"/>
        </p:xfrm>
        <a:graphic>
          <a:graphicData uri="http://schemas.openxmlformats.org/drawingml/2006/table">
            <a:tbl>
              <a:tblPr firstRow="1" bandRow="1">
                <a:tableStyleId>{125E5076-3810-47DD-B79F-674D7AD40C01}</a:tableStyleId>
              </a:tblPr>
              <a:tblGrid>
                <a:gridCol w="1440101">
                  <a:extLst>
                    <a:ext uri="{9D8B030D-6E8A-4147-A177-3AD203B41FA5}">
                      <a16:colId xmlns:a16="http://schemas.microsoft.com/office/drawing/2014/main" val="20000"/>
                    </a:ext>
                  </a:extLst>
                </a:gridCol>
                <a:gridCol w="575015">
                  <a:extLst>
                    <a:ext uri="{9D8B030D-6E8A-4147-A177-3AD203B41FA5}">
                      <a16:colId xmlns:a16="http://schemas.microsoft.com/office/drawing/2014/main" val="20001"/>
                    </a:ext>
                  </a:extLst>
                </a:gridCol>
                <a:gridCol w="575015">
                  <a:extLst>
                    <a:ext uri="{9D8B030D-6E8A-4147-A177-3AD203B41FA5}">
                      <a16:colId xmlns:a16="http://schemas.microsoft.com/office/drawing/2014/main" val="20002"/>
                    </a:ext>
                  </a:extLst>
                </a:gridCol>
                <a:gridCol w="510935">
                  <a:extLst>
                    <a:ext uri="{9D8B030D-6E8A-4147-A177-3AD203B41FA5}">
                      <a16:colId xmlns:a16="http://schemas.microsoft.com/office/drawing/2014/main" val="20003"/>
                    </a:ext>
                  </a:extLst>
                </a:gridCol>
                <a:gridCol w="521615">
                  <a:extLst>
                    <a:ext uri="{9D8B030D-6E8A-4147-A177-3AD203B41FA5}">
                      <a16:colId xmlns:a16="http://schemas.microsoft.com/office/drawing/2014/main" val="20004"/>
                    </a:ext>
                  </a:extLst>
                </a:gridCol>
                <a:gridCol w="1057754">
                  <a:extLst>
                    <a:ext uri="{9D8B030D-6E8A-4147-A177-3AD203B41FA5}">
                      <a16:colId xmlns:a16="http://schemas.microsoft.com/office/drawing/2014/main" val="20005"/>
                    </a:ext>
                  </a:extLst>
                </a:gridCol>
                <a:gridCol w="792888">
                  <a:extLst>
                    <a:ext uri="{9D8B030D-6E8A-4147-A177-3AD203B41FA5}">
                      <a16:colId xmlns:a16="http://schemas.microsoft.com/office/drawing/2014/main" val="20006"/>
                    </a:ext>
                  </a:extLst>
                </a:gridCol>
                <a:gridCol w="715992">
                  <a:extLst>
                    <a:ext uri="{9D8B030D-6E8A-4147-A177-3AD203B41FA5}">
                      <a16:colId xmlns:a16="http://schemas.microsoft.com/office/drawing/2014/main" val="20007"/>
                    </a:ext>
                  </a:extLst>
                </a:gridCol>
              </a:tblGrid>
              <a:tr h="508343">
                <a:tc>
                  <a:txBody>
                    <a:bodyPr/>
                    <a:lstStyle/>
                    <a:p>
                      <a:r>
                        <a:rPr lang="en-US" sz="1000" b="1"/>
                        <a:t>Category</a:t>
                      </a:r>
                    </a:p>
                  </a:txBody>
                  <a:tcPr>
                    <a:lnB w="6350" cap="flat" cmpd="sng" algn="ctr">
                      <a:solidFill>
                        <a:schemeClr val="tx1"/>
                      </a:solidFill>
                      <a:prstDash val="solid"/>
                      <a:round/>
                      <a:headEnd type="none" w="med" len="med"/>
                      <a:tailEnd type="none" w="med" len="med"/>
                    </a:lnB>
                    <a:solidFill>
                      <a:schemeClr val="tx1"/>
                    </a:solidFill>
                  </a:tcPr>
                </a:tc>
                <a:tc>
                  <a:txBody>
                    <a:bodyPr/>
                    <a:lstStyle/>
                    <a:p>
                      <a:pPr algn="ctr"/>
                      <a:r>
                        <a:rPr lang="en-US" sz="1000"/>
                        <a:t>TP</a:t>
                      </a:r>
                    </a:p>
                  </a:txBody>
                  <a:tcPr anchor="ctr"/>
                </a:tc>
                <a:tc>
                  <a:txBody>
                    <a:bodyPr/>
                    <a:lstStyle/>
                    <a:p>
                      <a:pPr algn="ctr"/>
                      <a:r>
                        <a:rPr lang="en-US" sz="1000"/>
                        <a:t>TN</a:t>
                      </a:r>
                    </a:p>
                  </a:txBody>
                  <a:tcPr anchor="ctr"/>
                </a:tc>
                <a:tc>
                  <a:txBody>
                    <a:bodyPr/>
                    <a:lstStyle/>
                    <a:p>
                      <a:pPr algn="ctr"/>
                      <a:r>
                        <a:rPr lang="en-US" sz="1000"/>
                        <a:t>FP</a:t>
                      </a:r>
                    </a:p>
                  </a:txBody>
                  <a:tcPr anchor="ctr"/>
                </a:tc>
                <a:tc>
                  <a:txBody>
                    <a:bodyPr/>
                    <a:lstStyle/>
                    <a:p>
                      <a:pPr algn="ctr"/>
                      <a:r>
                        <a:rPr lang="en-US" sz="1000"/>
                        <a:t>FN</a:t>
                      </a:r>
                    </a:p>
                  </a:txBody>
                  <a:tcPr anchor="ctr"/>
                </a:tc>
                <a:tc>
                  <a:txBody>
                    <a:bodyPr/>
                    <a:lstStyle/>
                    <a:p>
                      <a:pPr algn="ctr"/>
                      <a:r>
                        <a:rPr lang="en-US" sz="1000"/>
                        <a:t>Precision</a:t>
                      </a:r>
                    </a:p>
                  </a:txBody>
                  <a:tcPr anchor="ctr"/>
                </a:tc>
                <a:tc>
                  <a:txBody>
                    <a:bodyPr/>
                    <a:lstStyle/>
                    <a:p>
                      <a:pPr algn="ctr"/>
                      <a:r>
                        <a:rPr lang="en-US" sz="1000"/>
                        <a:t>Recall</a:t>
                      </a:r>
                    </a:p>
                  </a:txBody>
                  <a:tcPr anchor="ctr"/>
                </a:tc>
                <a:tc>
                  <a:txBody>
                    <a:bodyPr/>
                    <a:lstStyle/>
                    <a:p>
                      <a:pPr algn="ctr"/>
                      <a:r>
                        <a:rPr lang="en-US" sz="1000"/>
                        <a:t>F1</a:t>
                      </a:r>
                    </a:p>
                  </a:txBody>
                  <a:tcPr anchor="ctr"/>
                </a:tc>
                <a:extLst>
                  <a:ext uri="{0D108BD9-81ED-4DB2-BD59-A6C34878D82A}">
                    <a16:rowId xmlns:a16="http://schemas.microsoft.com/office/drawing/2014/main" val="10000"/>
                  </a:ext>
                </a:extLst>
              </a:tr>
              <a:tr h="391032">
                <a:tc>
                  <a:txBody>
                    <a:bodyPr/>
                    <a:lstStyle/>
                    <a:p>
                      <a:r>
                        <a:rPr lang="en-US" sz="1000" b="1"/>
                        <a:t>Sabotage</a:t>
                      </a:r>
                    </a:p>
                  </a:txBody>
                  <a:tcPr>
                    <a:lnR w="285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tx1"/>
                    </a:solidFill>
                  </a:tcPr>
                </a:tc>
                <a:tc>
                  <a:txBody>
                    <a:bodyPr/>
                    <a:lstStyle/>
                    <a:p>
                      <a:pPr algn="ctr"/>
                      <a:r>
                        <a:rPr lang="en-US" sz="1000"/>
                        <a:t>2</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353</a:t>
                      </a:r>
                    </a:p>
                  </a:txBody>
                  <a:tcPr anchor="ctr">
                    <a:solidFill>
                      <a:schemeClr val="accent1">
                        <a:lumMod val="75000"/>
                      </a:schemeClr>
                    </a:solidFill>
                  </a:tcPr>
                </a:tc>
                <a:tc>
                  <a:txBody>
                    <a:bodyPr/>
                    <a:lstStyle/>
                    <a:p>
                      <a:pPr algn="ctr"/>
                      <a:r>
                        <a:rPr lang="en-US" sz="1000"/>
                        <a:t>2</a:t>
                      </a:r>
                    </a:p>
                  </a:txBody>
                  <a:tcPr anchor="ctr">
                    <a:solidFill>
                      <a:schemeClr val="accent1">
                        <a:lumMod val="75000"/>
                      </a:schemeClr>
                    </a:solidFill>
                  </a:tcPr>
                </a:tc>
                <a:tc>
                  <a:txBody>
                    <a:bodyPr/>
                    <a:lstStyle/>
                    <a:p>
                      <a:pPr algn="ctr"/>
                      <a:r>
                        <a:rPr lang="en-US" sz="1000"/>
                        <a:t>1</a:t>
                      </a:r>
                    </a:p>
                  </a:txBody>
                  <a:tcPr anchor="ctr">
                    <a:solidFill>
                      <a:schemeClr val="accent1">
                        <a:lumMod val="75000"/>
                      </a:schemeClr>
                    </a:solidFill>
                  </a:tcPr>
                </a:tc>
                <a:tc>
                  <a:txBody>
                    <a:bodyPr/>
                    <a:lstStyle/>
                    <a:p>
                      <a:pPr algn="ctr"/>
                      <a:r>
                        <a:rPr lang="en-US" sz="1000"/>
                        <a:t>0.5</a:t>
                      </a:r>
                    </a:p>
                  </a:txBody>
                  <a:tcPr anchor="ctr">
                    <a:solidFill>
                      <a:schemeClr val="accent1">
                        <a:lumMod val="75000"/>
                      </a:schemeClr>
                    </a:solidFill>
                  </a:tcPr>
                </a:tc>
                <a:tc>
                  <a:txBody>
                    <a:bodyPr/>
                    <a:lstStyle/>
                    <a:p>
                      <a:pPr algn="ctr"/>
                      <a:r>
                        <a:rPr lang="en-US" sz="1000"/>
                        <a:t>0.667</a:t>
                      </a:r>
                    </a:p>
                  </a:txBody>
                  <a:tcPr anchor="ctr">
                    <a:solidFill>
                      <a:schemeClr val="accent1">
                        <a:lumMod val="75000"/>
                      </a:schemeClr>
                    </a:solidFill>
                  </a:tcPr>
                </a:tc>
                <a:tc>
                  <a:txBody>
                    <a:bodyPr/>
                    <a:lstStyle/>
                    <a:p>
                      <a:pPr algn="ctr"/>
                      <a:r>
                        <a:rPr lang="en-US" sz="1000"/>
                        <a:t>0.571</a:t>
                      </a:r>
                    </a:p>
                  </a:txBody>
                  <a:tcPr anchor="ctr">
                    <a:solidFill>
                      <a:schemeClr val="accent1">
                        <a:lumMod val="75000"/>
                      </a:schemeClr>
                    </a:solidFill>
                  </a:tcPr>
                </a:tc>
                <a:extLst>
                  <a:ext uri="{0D108BD9-81ED-4DB2-BD59-A6C34878D82A}">
                    <a16:rowId xmlns:a16="http://schemas.microsoft.com/office/drawing/2014/main" val="10001"/>
                  </a:ext>
                </a:extLst>
              </a:tr>
              <a:tr h="391032">
                <a:tc>
                  <a:txBody>
                    <a:bodyPr/>
                    <a:lstStyle/>
                    <a:p>
                      <a:r>
                        <a:rPr lang="en-US" sz="1000" b="1"/>
                        <a:t>Shot Down</a:t>
                      </a:r>
                    </a:p>
                  </a:txBody>
                  <a:tcPr>
                    <a:lnR w="28575" cap="flat" cmpd="sng" algn="ctr">
                      <a:solidFill>
                        <a:schemeClr val="bg1"/>
                      </a:solidFill>
                      <a:prstDash val="solid"/>
                      <a:round/>
                      <a:headEnd type="none" w="med" len="med"/>
                      <a:tailEnd type="none" w="med" len="med"/>
                    </a:lnR>
                    <a:solidFill>
                      <a:schemeClr val="tx1"/>
                    </a:solidFill>
                  </a:tcPr>
                </a:tc>
                <a:tc>
                  <a:txBody>
                    <a:bodyPr/>
                    <a:lstStyle/>
                    <a:p>
                      <a:pPr algn="ctr"/>
                      <a:r>
                        <a:rPr lang="en-US" sz="1000"/>
                        <a:t>9</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345</a:t>
                      </a:r>
                    </a:p>
                  </a:txBody>
                  <a:tcPr anchor="ctr">
                    <a:solidFill>
                      <a:schemeClr val="accent1">
                        <a:lumMod val="75000"/>
                      </a:schemeClr>
                    </a:solidFill>
                  </a:tcPr>
                </a:tc>
                <a:tc>
                  <a:txBody>
                    <a:bodyPr/>
                    <a:lstStyle/>
                    <a:p>
                      <a:pPr algn="ctr"/>
                      <a:r>
                        <a:rPr lang="en-US" sz="1000"/>
                        <a:t>1</a:t>
                      </a:r>
                    </a:p>
                  </a:txBody>
                  <a:tcPr anchor="ctr">
                    <a:solidFill>
                      <a:schemeClr val="accent1">
                        <a:lumMod val="75000"/>
                      </a:schemeClr>
                    </a:solidFill>
                  </a:tcPr>
                </a:tc>
                <a:tc>
                  <a:txBody>
                    <a:bodyPr/>
                    <a:lstStyle/>
                    <a:p>
                      <a:pPr algn="ctr"/>
                      <a:r>
                        <a:rPr lang="en-US" sz="1000"/>
                        <a:t>3</a:t>
                      </a:r>
                    </a:p>
                  </a:txBody>
                  <a:tcPr anchor="ctr">
                    <a:solidFill>
                      <a:schemeClr val="accent1">
                        <a:lumMod val="75000"/>
                      </a:schemeClr>
                    </a:solidFill>
                  </a:tcPr>
                </a:tc>
                <a:tc>
                  <a:txBody>
                    <a:bodyPr/>
                    <a:lstStyle/>
                    <a:p>
                      <a:pPr algn="ctr"/>
                      <a:r>
                        <a:rPr lang="en-US" sz="1000"/>
                        <a:t>0.9</a:t>
                      </a:r>
                    </a:p>
                  </a:txBody>
                  <a:tcPr anchor="ctr">
                    <a:solidFill>
                      <a:schemeClr val="accent1">
                        <a:lumMod val="75000"/>
                      </a:schemeClr>
                    </a:solidFill>
                  </a:tcPr>
                </a:tc>
                <a:tc>
                  <a:txBody>
                    <a:bodyPr/>
                    <a:lstStyle/>
                    <a:p>
                      <a:pPr algn="ctr"/>
                      <a:r>
                        <a:rPr lang="en-US" sz="1000"/>
                        <a:t>0.75</a:t>
                      </a:r>
                    </a:p>
                  </a:txBody>
                  <a:tcPr anchor="ctr">
                    <a:solidFill>
                      <a:schemeClr val="accent1">
                        <a:lumMod val="75000"/>
                      </a:schemeClr>
                    </a:solidFill>
                  </a:tcPr>
                </a:tc>
                <a:tc>
                  <a:txBody>
                    <a:bodyPr/>
                    <a:lstStyle/>
                    <a:p>
                      <a:pPr algn="ctr"/>
                      <a:r>
                        <a:rPr lang="en-US" sz="1000"/>
                        <a:t>0.818</a:t>
                      </a:r>
                    </a:p>
                  </a:txBody>
                  <a:tcPr anchor="ctr">
                    <a:solidFill>
                      <a:schemeClr val="accent1">
                        <a:lumMod val="75000"/>
                      </a:schemeClr>
                    </a:solidFill>
                  </a:tcPr>
                </a:tc>
                <a:extLst>
                  <a:ext uri="{0D108BD9-81ED-4DB2-BD59-A6C34878D82A}">
                    <a16:rowId xmlns:a16="http://schemas.microsoft.com/office/drawing/2014/main" val="10002"/>
                  </a:ext>
                </a:extLst>
              </a:tr>
              <a:tr h="391032">
                <a:tc>
                  <a:txBody>
                    <a:bodyPr/>
                    <a:lstStyle/>
                    <a:p>
                      <a:r>
                        <a:rPr lang="en-US" sz="1000" b="1" i="0">
                          <a:solidFill>
                            <a:schemeClr val="tx1"/>
                          </a:solidFill>
                        </a:rPr>
                        <a:t>Fire</a:t>
                      </a:r>
                    </a:p>
                  </a:txBody>
                  <a:tcPr>
                    <a:lnR w="28575" cap="flat" cmpd="sng" algn="ctr">
                      <a:solidFill>
                        <a:schemeClr val="bg1"/>
                      </a:solidFill>
                      <a:prstDash val="solid"/>
                      <a:round/>
                      <a:headEnd type="none" w="med" len="med"/>
                      <a:tailEnd type="none" w="med" len="med"/>
                    </a:lnR>
                    <a:solidFill>
                      <a:schemeClr val="accent1">
                        <a:lumMod val="20000"/>
                        <a:lumOff val="80000"/>
                      </a:schemeClr>
                    </a:solidFill>
                  </a:tcPr>
                </a:tc>
                <a:tc>
                  <a:txBody>
                    <a:bodyPr/>
                    <a:lstStyle/>
                    <a:p>
                      <a:pPr algn="ctr"/>
                      <a:r>
                        <a:rPr lang="en-US" sz="1000" b="1" i="0">
                          <a:solidFill>
                            <a:schemeClr val="tx1"/>
                          </a:solidFill>
                        </a:rPr>
                        <a:t>44</a:t>
                      </a:r>
                    </a:p>
                  </a:txBody>
                  <a:tcPr anchor="ctr">
                    <a:lnL w="28575" cap="flat" cmpd="sng" algn="ctr">
                      <a:solidFill>
                        <a:schemeClr val="bg1"/>
                      </a:solidFill>
                      <a:prstDash val="solid"/>
                      <a:round/>
                      <a:headEnd type="none" w="med" len="med"/>
                      <a:tailEnd type="none" w="med" len="med"/>
                    </a:lnL>
                    <a:solidFill>
                      <a:schemeClr val="accent1">
                        <a:lumMod val="20000"/>
                        <a:lumOff val="80000"/>
                      </a:schemeClr>
                    </a:solidFill>
                  </a:tcPr>
                </a:tc>
                <a:tc>
                  <a:txBody>
                    <a:bodyPr/>
                    <a:lstStyle/>
                    <a:p>
                      <a:pPr algn="ctr"/>
                      <a:r>
                        <a:rPr lang="en-US" sz="1000" b="1" i="0">
                          <a:solidFill>
                            <a:schemeClr val="tx1"/>
                          </a:solidFill>
                        </a:rPr>
                        <a:t>305</a:t>
                      </a:r>
                    </a:p>
                  </a:txBody>
                  <a:tcPr anchor="ctr">
                    <a:solidFill>
                      <a:schemeClr val="accent1">
                        <a:lumMod val="20000"/>
                        <a:lumOff val="80000"/>
                      </a:schemeClr>
                    </a:solidFill>
                  </a:tcPr>
                </a:tc>
                <a:tc>
                  <a:txBody>
                    <a:bodyPr/>
                    <a:lstStyle/>
                    <a:p>
                      <a:pPr algn="ctr"/>
                      <a:r>
                        <a:rPr lang="en-US" sz="1000" b="1" i="0">
                          <a:solidFill>
                            <a:schemeClr val="tx1"/>
                          </a:solidFill>
                        </a:rPr>
                        <a:t>9</a:t>
                      </a:r>
                    </a:p>
                  </a:txBody>
                  <a:tcPr anchor="ctr">
                    <a:solidFill>
                      <a:schemeClr val="accent1">
                        <a:lumMod val="20000"/>
                        <a:lumOff val="80000"/>
                      </a:schemeClr>
                    </a:solidFill>
                  </a:tcPr>
                </a:tc>
                <a:tc>
                  <a:txBody>
                    <a:bodyPr/>
                    <a:lstStyle/>
                    <a:p>
                      <a:pPr algn="ctr"/>
                      <a:r>
                        <a:rPr lang="en-US" sz="1000" b="1" i="0">
                          <a:solidFill>
                            <a:schemeClr val="tx1"/>
                          </a:solidFill>
                        </a:rPr>
                        <a:t>0</a:t>
                      </a:r>
                    </a:p>
                  </a:txBody>
                  <a:tcPr anchor="ctr">
                    <a:solidFill>
                      <a:schemeClr val="accent1">
                        <a:lumMod val="20000"/>
                        <a:lumOff val="80000"/>
                      </a:schemeClr>
                    </a:solidFill>
                  </a:tcPr>
                </a:tc>
                <a:tc>
                  <a:txBody>
                    <a:bodyPr/>
                    <a:lstStyle/>
                    <a:p>
                      <a:pPr algn="ctr"/>
                      <a:r>
                        <a:rPr lang="en-US" sz="1000" b="1">
                          <a:solidFill>
                            <a:schemeClr val="tx1"/>
                          </a:solidFill>
                        </a:rPr>
                        <a:t>0.83</a:t>
                      </a:r>
                    </a:p>
                  </a:txBody>
                  <a:tcPr anchor="ctr">
                    <a:solidFill>
                      <a:schemeClr val="accent1">
                        <a:lumMod val="20000"/>
                        <a:lumOff val="80000"/>
                      </a:schemeClr>
                    </a:solidFill>
                  </a:tcPr>
                </a:tc>
                <a:tc>
                  <a:txBody>
                    <a:bodyPr/>
                    <a:lstStyle/>
                    <a:p>
                      <a:pPr algn="ctr"/>
                      <a:r>
                        <a:rPr lang="en-US" sz="1000" b="1">
                          <a:solidFill>
                            <a:schemeClr val="tx1"/>
                          </a:solidFill>
                        </a:rPr>
                        <a:t>1.0</a:t>
                      </a:r>
                    </a:p>
                  </a:txBody>
                  <a:tcPr anchor="ctr">
                    <a:solidFill>
                      <a:schemeClr val="accent1">
                        <a:lumMod val="20000"/>
                        <a:lumOff val="80000"/>
                      </a:schemeClr>
                    </a:solidFill>
                  </a:tcPr>
                </a:tc>
                <a:tc>
                  <a:txBody>
                    <a:bodyPr/>
                    <a:lstStyle/>
                    <a:p>
                      <a:pPr algn="ctr"/>
                      <a:r>
                        <a:rPr lang="en-US" sz="1000" b="1">
                          <a:solidFill>
                            <a:schemeClr val="tx1"/>
                          </a:solidFill>
                        </a:rPr>
                        <a:t>0.907</a:t>
                      </a:r>
                    </a:p>
                  </a:txBody>
                  <a:tcPr anchor="ctr">
                    <a:solidFill>
                      <a:schemeClr val="accent1">
                        <a:lumMod val="20000"/>
                        <a:lumOff val="80000"/>
                      </a:schemeClr>
                    </a:solidFill>
                  </a:tcPr>
                </a:tc>
                <a:extLst>
                  <a:ext uri="{0D108BD9-81ED-4DB2-BD59-A6C34878D82A}">
                    <a16:rowId xmlns:a16="http://schemas.microsoft.com/office/drawing/2014/main" val="10003"/>
                  </a:ext>
                </a:extLst>
              </a:tr>
              <a:tr h="391032">
                <a:tc>
                  <a:txBody>
                    <a:bodyPr/>
                    <a:lstStyle/>
                    <a:p>
                      <a:r>
                        <a:rPr lang="en-US" sz="1000" b="1"/>
                        <a:t>Fuel</a:t>
                      </a:r>
                    </a:p>
                  </a:txBody>
                  <a:tcPr>
                    <a:lnR w="28575" cap="flat" cmpd="sng" algn="ctr">
                      <a:solidFill>
                        <a:schemeClr val="bg1"/>
                      </a:solidFill>
                      <a:prstDash val="solid"/>
                      <a:round/>
                      <a:headEnd type="none" w="med" len="med"/>
                      <a:tailEnd type="none" w="med" len="med"/>
                    </a:lnR>
                    <a:solidFill>
                      <a:schemeClr val="tx1"/>
                    </a:solidFill>
                  </a:tcPr>
                </a:tc>
                <a:tc>
                  <a:txBody>
                    <a:bodyPr/>
                    <a:lstStyle/>
                    <a:p>
                      <a:pPr algn="ctr"/>
                      <a:r>
                        <a:rPr lang="en-US" sz="1000"/>
                        <a:t>8</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350</a:t>
                      </a:r>
                    </a:p>
                  </a:txBody>
                  <a:tcPr anchor="ctr">
                    <a:solidFill>
                      <a:schemeClr val="accent1">
                        <a:lumMod val="75000"/>
                      </a:schemeClr>
                    </a:solidFill>
                  </a:tcPr>
                </a:tc>
                <a:tc>
                  <a:txBody>
                    <a:bodyPr/>
                    <a:lstStyle/>
                    <a:p>
                      <a:pPr algn="ctr"/>
                      <a:r>
                        <a:rPr lang="en-US" sz="1000"/>
                        <a:t>0</a:t>
                      </a:r>
                    </a:p>
                  </a:txBody>
                  <a:tcPr anchor="ctr">
                    <a:solidFill>
                      <a:schemeClr val="accent1">
                        <a:lumMod val="75000"/>
                      </a:schemeClr>
                    </a:solidFill>
                  </a:tcPr>
                </a:tc>
                <a:tc>
                  <a:txBody>
                    <a:bodyPr/>
                    <a:lstStyle/>
                    <a:p>
                      <a:pPr algn="ctr"/>
                      <a:r>
                        <a:rPr lang="en-US" sz="1000"/>
                        <a:t>0</a:t>
                      </a:r>
                    </a:p>
                  </a:txBody>
                  <a:tcPr anchor="ctr">
                    <a:solidFill>
                      <a:schemeClr val="accent1">
                        <a:lumMod val="75000"/>
                      </a:schemeClr>
                    </a:solidFill>
                  </a:tcPr>
                </a:tc>
                <a:tc>
                  <a:txBody>
                    <a:bodyPr/>
                    <a:lstStyle/>
                    <a:p>
                      <a:pPr algn="ctr"/>
                      <a:r>
                        <a:rPr lang="en-US" sz="1000"/>
                        <a:t>1.0</a:t>
                      </a:r>
                    </a:p>
                  </a:txBody>
                  <a:tcPr anchor="ctr">
                    <a:solidFill>
                      <a:schemeClr val="accent1">
                        <a:lumMod val="75000"/>
                      </a:schemeClr>
                    </a:solidFill>
                  </a:tcPr>
                </a:tc>
                <a:tc>
                  <a:txBody>
                    <a:bodyPr/>
                    <a:lstStyle/>
                    <a:p>
                      <a:pPr algn="ctr"/>
                      <a:r>
                        <a:rPr lang="en-US" sz="1000"/>
                        <a:t>1.0</a:t>
                      </a:r>
                    </a:p>
                  </a:txBody>
                  <a:tcPr anchor="ctr">
                    <a:solidFill>
                      <a:schemeClr val="accent1">
                        <a:lumMod val="75000"/>
                      </a:schemeClr>
                    </a:solidFill>
                  </a:tcPr>
                </a:tc>
                <a:tc>
                  <a:txBody>
                    <a:bodyPr/>
                    <a:lstStyle/>
                    <a:p>
                      <a:pPr algn="ctr"/>
                      <a:r>
                        <a:rPr lang="en-US" sz="1000"/>
                        <a:t>1.0</a:t>
                      </a:r>
                    </a:p>
                  </a:txBody>
                  <a:tcPr anchor="ctr">
                    <a:solidFill>
                      <a:schemeClr val="accent1">
                        <a:lumMod val="75000"/>
                      </a:schemeClr>
                    </a:solidFill>
                  </a:tcPr>
                </a:tc>
                <a:extLst>
                  <a:ext uri="{0D108BD9-81ED-4DB2-BD59-A6C34878D82A}">
                    <a16:rowId xmlns:a16="http://schemas.microsoft.com/office/drawing/2014/main" val="10004"/>
                  </a:ext>
                </a:extLst>
              </a:tr>
              <a:tr h="391032">
                <a:tc>
                  <a:txBody>
                    <a:bodyPr/>
                    <a:lstStyle/>
                    <a:p>
                      <a:pPr marR="0" algn="l"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Weather</a:t>
                      </a:r>
                    </a:p>
                  </a:txBody>
                  <a:tcPr>
                    <a:lnR w="28575" cap="flat" cmpd="sng" algn="ctr">
                      <a:solidFill>
                        <a:schemeClr val="bg1"/>
                      </a:solidFill>
                      <a:prstDash val="solid"/>
                      <a:round/>
                      <a:headEnd type="none" w="med" len="med"/>
                      <a:tailEnd type="none" w="med" len="med"/>
                    </a:lnR>
                    <a:solidFill>
                      <a:schemeClr val="accent1">
                        <a:lumMod val="20000"/>
                        <a:lumOff val="80000"/>
                      </a:schemeClr>
                    </a:solidFill>
                  </a:tcPr>
                </a:tc>
                <a:tc>
                  <a:txBody>
                    <a:bodyPr/>
                    <a:lstStyle/>
                    <a:p>
                      <a:pPr marR="0" algn="ctr"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101</a:t>
                      </a:r>
                    </a:p>
                  </a:txBody>
                  <a:tcPr anchor="ctr">
                    <a:lnL w="28575" cap="flat" cmpd="sng" algn="ctr">
                      <a:solidFill>
                        <a:schemeClr val="bg1"/>
                      </a:solidFill>
                      <a:prstDash val="solid"/>
                      <a:round/>
                      <a:headEnd type="none" w="med" len="med"/>
                      <a:tailEnd type="none" w="med" len="med"/>
                    </a:lnL>
                    <a:solidFill>
                      <a:schemeClr val="accent1">
                        <a:lumMod val="20000"/>
                        <a:lumOff val="80000"/>
                      </a:schemeClr>
                    </a:solidFill>
                  </a:tcPr>
                </a:tc>
                <a:tc>
                  <a:txBody>
                    <a:bodyPr/>
                    <a:lstStyle/>
                    <a:p>
                      <a:pPr marR="0" algn="ctr"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249</a:t>
                      </a:r>
                    </a:p>
                  </a:txBody>
                  <a:tcPr anchor="ctr">
                    <a:solidFill>
                      <a:schemeClr val="accent1">
                        <a:lumMod val="20000"/>
                        <a:lumOff val="80000"/>
                      </a:schemeClr>
                    </a:solidFill>
                  </a:tcPr>
                </a:tc>
                <a:tc>
                  <a:txBody>
                    <a:bodyPr/>
                    <a:lstStyle/>
                    <a:p>
                      <a:pPr marR="0" algn="ctr"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3</a:t>
                      </a:r>
                    </a:p>
                  </a:txBody>
                  <a:tcPr anchor="ctr">
                    <a:solidFill>
                      <a:schemeClr val="accent1">
                        <a:lumMod val="20000"/>
                        <a:lumOff val="80000"/>
                      </a:schemeClr>
                    </a:solidFill>
                  </a:tcPr>
                </a:tc>
                <a:tc>
                  <a:txBody>
                    <a:bodyPr/>
                    <a:lstStyle/>
                    <a:p>
                      <a:pPr marR="0" algn="ctr"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5</a:t>
                      </a:r>
                    </a:p>
                  </a:txBody>
                  <a:tcPr anchor="ctr">
                    <a:solidFill>
                      <a:schemeClr val="accent1">
                        <a:lumMod val="20000"/>
                        <a:lumOff val="80000"/>
                      </a:schemeClr>
                    </a:solidFill>
                  </a:tcPr>
                </a:tc>
                <a:tc>
                  <a:txBody>
                    <a:bodyPr/>
                    <a:lstStyle/>
                    <a:p>
                      <a:pPr marR="0" algn="ctr"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0.971</a:t>
                      </a:r>
                    </a:p>
                  </a:txBody>
                  <a:tcPr anchor="ctr">
                    <a:solidFill>
                      <a:schemeClr val="accent1">
                        <a:lumMod val="20000"/>
                        <a:lumOff val="80000"/>
                      </a:schemeClr>
                    </a:solidFill>
                  </a:tcPr>
                </a:tc>
                <a:tc>
                  <a:txBody>
                    <a:bodyPr/>
                    <a:lstStyle/>
                    <a:p>
                      <a:pPr marR="0" algn="ctr"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0.953</a:t>
                      </a:r>
                    </a:p>
                  </a:txBody>
                  <a:tcPr anchor="ctr">
                    <a:solidFill>
                      <a:schemeClr val="accent1">
                        <a:lumMod val="20000"/>
                        <a:lumOff val="80000"/>
                      </a:schemeClr>
                    </a:solidFill>
                  </a:tcPr>
                </a:tc>
                <a:tc>
                  <a:txBody>
                    <a:bodyPr/>
                    <a:lstStyle/>
                    <a:p>
                      <a:pPr marR="0" algn="ctr" rtl="0" eaLnBrk="1" hangingPunct="1">
                        <a:lnSpc>
                          <a:spcPct val="100000"/>
                        </a:lnSpc>
                        <a:spcBef>
                          <a:spcPts val="0"/>
                        </a:spcBef>
                        <a:spcAft>
                          <a:spcPts val="0"/>
                        </a:spcAft>
                        <a:buClr>
                          <a:srgbClr val="000000"/>
                        </a:buClr>
                        <a:buFont typeface="Arial"/>
                      </a:pPr>
                      <a:r>
                        <a:rPr lang="en-US" sz="1000" b="1" i="0" u="none" strike="noStrike" cap="none">
                          <a:solidFill>
                            <a:schemeClr val="tx1"/>
                          </a:solidFill>
                          <a:latin typeface="+mn-lt"/>
                          <a:ea typeface="+mn-ea"/>
                          <a:cs typeface="+mn-cs"/>
                          <a:sym typeface="Arial"/>
                        </a:rPr>
                        <a:t>0.962</a:t>
                      </a:r>
                    </a:p>
                  </a:txBody>
                  <a:tcPr anchor="ctr">
                    <a:solidFill>
                      <a:schemeClr val="accent1">
                        <a:lumMod val="20000"/>
                        <a:lumOff val="80000"/>
                      </a:schemeClr>
                    </a:solidFill>
                  </a:tcPr>
                </a:tc>
                <a:extLst>
                  <a:ext uri="{0D108BD9-81ED-4DB2-BD59-A6C34878D82A}">
                    <a16:rowId xmlns:a16="http://schemas.microsoft.com/office/drawing/2014/main" val="10005"/>
                  </a:ext>
                </a:extLst>
              </a:tr>
              <a:tr h="391032">
                <a:tc>
                  <a:txBody>
                    <a:bodyPr/>
                    <a:lstStyle/>
                    <a:p>
                      <a:r>
                        <a:rPr lang="en-US" sz="1000" b="1"/>
                        <a:t>Collision</a:t>
                      </a:r>
                    </a:p>
                  </a:txBody>
                  <a:tcPr>
                    <a:lnR w="28575" cap="flat" cmpd="sng" algn="ctr">
                      <a:solidFill>
                        <a:schemeClr val="bg1"/>
                      </a:solidFill>
                      <a:prstDash val="solid"/>
                      <a:round/>
                      <a:headEnd type="none" w="med" len="med"/>
                      <a:tailEnd type="none" w="med" len="med"/>
                    </a:lnR>
                    <a:solidFill>
                      <a:schemeClr val="tx1"/>
                    </a:solidFill>
                  </a:tcPr>
                </a:tc>
                <a:tc>
                  <a:txBody>
                    <a:bodyPr/>
                    <a:lstStyle/>
                    <a:p>
                      <a:pPr algn="ctr"/>
                      <a:r>
                        <a:rPr lang="en-US" sz="1000"/>
                        <a:t>11</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341</a:t>
                      </a:r>
                    </a:p>
                  </a:txBody>
                  <a:tcPr anchor="ctr">
                    <a:solidFill>
                      <a:schemeClr val="accent1">
                        <a:lumMod val="75000"/>
                      </a:schemeClr>
                    </a:solidFill>
                  </a:tcPr>
                </a:tc>
                <a:tc>
                  <a:txBody>
                    <a:bodyPr/>
                    <a:lstStyle/>
                    <a:p>
                      <a:pPr algn="ctr"/>
                      <a:r>
                        <a:rPr lang="en-US" sz="1000"/>
                        <a:t>4</a:t>
                      </a:r>
                    </a:p>
                  </a:txBody>
                  <a:tcPr anchor="ctr">
                    <a:solidFill>
                      <a:schemeClr val="accent1">
                        <a:lumMod val="75000"/>
                      </a:schemeClr>
                    </a:solidFill>
                  </a:tcPr>
                </a:tc>
                <a:tc>
                  <a:txBody>
                    <a:bodyPr/>
                    <a:lstStyle/>
                    <a:p>
                      <a:pPr algn="ctr"/>
                      <a:r>
                        <a:rPr lang="en-US" sz="1000"/>
                        <a:t>2</a:t>
                      </a:r>
                    </a:p>
                  </a:txBody>
                  <a:tcPr anchor="ctr">
                    <a:solidFill>
                      <a:schemeClr val="accent1">
                        <a:lumMod val="75000"/>
                      </a:schemeClr>
                    </a:solidFill>
                  </a:tcPr>
                </a:tc>
                <a:tc>
                  <a:txBody>
                    <a:bodyPr/>
                    <a:lstStyle/>
                    <a:p>
                      <a:pPr algn="ctr"/>
                      <a:r>
                        <a:rPr lang="en-US" sz="1000"/>
                        <a:t>0.733</a:t>
                      </a:r>
                    </a:p>
                  </a:txBody>
                  <a:tcPr anchor="ctr">
                    <a:solidFill>
                      <a:schemeClr val="accent1">
                        <a:lumMod val="75000"/>
                      </a:schemeClr>
                    </a:solidFill>
                  </a:tcPr>
                </a:tc>
                <a:tc>
                  <a:txBody>
                    <a:bodyPr/>
                    <a:lstStyle/>
                    <a:p>
                      <a:pPr algn="ctr"/>
                      <a:r>
                        <a:rPr lang="en-US" sz="1000"/>
                        <a:t>0.846</a:t>
                      </a:r>
                    </a:p>
                  </a:txBody>
                  <a:tcPr anchor="ctr">
                    <a:solidFill>
                      <a:schemeClr val="accent1">
                        <a:lumMod val="75000"/>
                      </a:schemeClr>
                    </a:solidFill>
                  </a:tcPr>
                </a:tc>
                <a:tc>
                  <a:txBody>
                    <a:bodyPr/>
                    <a:lstStyle/>
                    <a:p>
                      <a:pPr algn="ctr"/>
                      <a:r>
                        <a:rPr lang="en-US" sz="1000"/>
                        <a:t>0.786</a:t>
                      </a:r>
                    </a:p>
                  </a:txBody>
                  <a:tcPr anchor="ctr">
                    <a:solidFill>
                      <a:schemeClr val="accent1">
                        <a:lumMod val="75000"/>
                      </a:schemeClr>
                    </a:solidFill>
                  </a:tcPr>
                </a:tc>
                <a:extLst>
                  <a:ext uri="{0D108BD9-81ED-4DB2-BD59-A6C34878D82A}">
                    <a16:rowId xmlns:a16="http://schemas.microsoft.com/office/drawing/2014/main" val="10006"/>
                  </a:ext>
                </a:extLst>
              </a:tr>
              <a:tr h="391032">
                <a:tc>
                  <a:txBody>
                    <a:bodyPr/>
                    <a:lstStyle/>
                    <a:p>
                      <a:r>
                        <a:rPr lang="en-US" sz="1000" b="1">
                          <a:solidFill>
                            <a:schemeClr val="tx1"/>
                          </a:solidFill>
                        </a:rPr>
                        <a:t>CFIT</a:t>
                      </a:r>
                    </a:p>
                  </a:txBody>
                  <a:tcPr>
                    <a:lnR w="28575" cap="flat" cmpd="sng" algn="ctr">
                      <a:solidFill>
                        <a:schemeClr val="bg1"/>
                      </a:solidFill>
                      <a:prstDash val="solid"/>
                      <a:round/>
                      <a:headEnd type="none" w="med" len="med"/>
                      <a:tailEnd type="none" w="med" len="med"/>
                    </a:lnR>
                    <a:solidFill>
                      <a:schemeClr val="accent1">
                        <a:lumMod val="20000"/>
                        <a:lumOff val="80000"/>
                      </a:schemeClr>
                    </a:solidFill>
                  </a:tcPr>
                </a:tc>
                <a:tc>
                  <a:txBody>
                    <a:bodyPr/>
                    <a:lstStyle/>
                    <a:p>
                      <a:pPr algn="ctr"/>
                      <a:r>
                        <a:rPr lang="en-US" sz="1000" b="1">
                          <a:solidFill>
                            <a:schemeClr val="tx1"/>
                          </a:solidFill>
                        </a:rPr>
                        <a:t>133</a:t>
                      </a:r>
                    </a:p>
                  </a:txBody>
                  <a:tcPr anchor="ctr">
                    <a:lnL w="28575" cap="flat" cmpd="sng" algn="ctr">
                      <a:solidFill>
                        <a:schemeClr val="bg1"/>
                      </a:solidFill>
                      <a:prstDash val="solid"/>
                      <a:round/>
                      <a:headEnd type="none" w="med" len="med"/>
                      <a:tailEnd type="none" w="med" len="med"/>
                    </a:lnL>
                    <a:solidFill>
                      <a:schemeClr val="accent1">
                        <a:lumMod val="20000"/>
                        <a:lumOff val="80000"/>
                      </a:schemeClr>
                    </a:solidFill>
                  </a:tcPr>
                </a:tc>
                <a:tc>
                  <a:txBody>
                    <a:bodyPr/>
                    <a:lstStyle/>
                    <a:p>
                      <a:pPr algn="ctr"/>
                      <a:r>
                        <a:rPr lang="en-US" sz="1000" b="1">
                          <a:solidFill>
                            <a:schemeClr val="tx1"/>
                          </a:solidFill>
                        </a:rPr>
                        <a:t>204</a:t>
                      </a:r>
                    </a:p>
                  </a:txBody>
                  <a:tcPr anchor="ctr">
                    <a:solidFill>
                      <a:schemeClr val="accent1">
                        <a:lumMod val="20000"/>
                        <a:lumOff val="80000"/>
                      </a:schemeClr>
                    </a:solidFill>
                  </a:tcPr>
                </a:tc>
                <a:tc>
                  <a:txBody>
                    <a:bodyPr/>
                    <a:lstStyle/>
                    <a:p>
                      <a:pPr algn="ctr"/>
                      <a:r>
                        <a:rPr lang="en-US" sz="1000" b="1">
                          <a:solidFill>
                            <a:schemeClr val="tx1"/>
                          </a:solidFill>
                        </a:rPr>
                        <a:t>14</a:t>
                      </a:r>
                    </a:p>
                  </a:txBody>
                  <a:tcPr anchor="ctr">
                    <a:solidFill>
                      <a:schemeClr val="accent1">
                        <a:lumMod val="20000"/>
                        <a:lumOff val="80000"/>
                      </a:schemeClr>
                    </a:solidFill>
                  </a:tcPr>
                </a:tc>
                <a:tc>
                  <a:txBody>
                    <a:bodyPr/>
                    <a:lstStyle/>
                    <a:p>
                      <a:pPr algn="ctr"/>
                      <a:r>
                        <a:rPr lang="en-US" sz="1000" b="1">
                          <a:solidFill>
                            <a:schemeClr val="tx1"/>
                          </a:solidFill>
                        </a:rPr>
                        <a:t>7</a:t>
                      </a:r>
                    </a:p>
                  </a:txBody>
                  <a:tcPr anchor="ctr">
                    <a:solidFill>
                      <a:schemeClr val="accent1">
                        <a:lumMod val="20000"/>
                        <a:lumOff val="80000"/>
                      </a:schemeClr>
                    </a:solidFill>
                  </a:tcPr>
                </a:tc>
                <a:tc>
                  <a:txBody>
                    <a:bodyPr/>
                    <a:lstStyle/>
                    <a:p>
                      <a:pPr algn="ctr"/>
                      <a:r>
                        <a:rPr lang="en-US" sz="1000" b="1">
                          <a:solidFill>
                            <a:schemeClr val="tx1"/>
                          </a:solidFill>
                        </a:rPr>
                        <a:t>0.905</a:t>
                      </a:r>
                    </a:p>
                  </a:txBody>
                  <a:tcPr anchor="ctr">
                    <a:solidFill>
                      <a:schemeClr val="accent1">
                        <a:lumMod val="20000"/>
                        <a:lumOff val="80000"/>
                      </a:schemeClr>
                    </a:solidFill>
                  </a:tcPr>
                </a:tc>
                <a:tc>
                  <a:txBody>
                    <a:bodyPr/>
                    <a:lstStyle/>
                    <a:p>
                      <a:pPr algn="ctr"/>
                      <a:r>
                        <a:rPr lang="en-US" sz="1000" b="1">
                          <a:solidFill>
                            <a:schemeClr val="tx1"/>
                          </a:solidFill>
                        </a:rPr>
                        <a:t>0.95</a:t>
                      </a:r>
                    </a:p>
                  </a:txBody>
                  <a:tcPr anchor="ctr">
                    <a:solidFill>
                      <a:schemeClr val="accent1">
                        <a:lumMod val="20000"/>
                        <a:lumOff val="80000"/>
                      </a:schemeClr>
                    </a:solidFill>
                  </a:tcPr>
                </a:tc>
                <a:tc>
                  <a:txBody>
                    <a:bodyPr/>
                    <a:lstStyle/>
                    <a:p>
                      <a:pPr algn="ctr"/>
                      <a:r>
                        <a:rPr lang="en-US" sz="1000" b="1">
                          <a:solidFill>
                            <a:schemeClr val="tx1"/>
                          </a:solidFill>
                        </a:rPr>
                        <a:t>0.927</a:t>
                      </a:r>
                    </a:p>
                  </a:txBody>
                  <a:tcPr anchor="ctr">
                    <a:solidFill>
                      <a:schemeClr val="accent1">
                        <a:lumMod val="20000"/>
                        <a:lumOff val="80000"/>
                      </a:schemeClr>
                    </a:solidFill>
                  </a:tcPr>
                </a:tc>
                <a:extLst>
                  <a:ext uri="{0D108BD9-81ED-4DB2-BD59-A6C34878D82A}">
                    <a16:rowId xmlns:a16="http://schemas.microsoft.com/office/drawing/2014/main" val="10007"/>
                  </a:ext>
                </a:extLst>
              </a:tr>
              <a:tr h="391032">
                <a:tc>
                  <a:txBody>
                    <a:bodyPr/>
                    <a:lstStyle/>
                    <a:p>
                      <a:r>
                        <a:rPr lang="en-US" sz="1000" b="1"/>
                        <a:t>Mechanical</a:t>
                      </a:r>
                    </a:p>
                  </a:txBody>
                  <a:tcPr>
                    <a:lnR w="28575" cap="flat" cmpd="sng" algn="ctr">
                      <a:solidFill>
                        <a:schemeClr val="bg1"/>
                      </a:solidFill>
                      <a:prstDash val="solid"/>
                      <a:round/>
                      <a:headEnd type="none" w="med" len="med"/>
                      <a:tailEnd type="none" w="med" len="med"/>
                    </a:lnR>
                    <a:solidFill>
                      <a:schemeClr val="tx1"/>
                    </a:solidFill>
                  </a:tcPr>
                </a:tc>
                <a:tc>
                  <a:txBody>
                    <a:bodyPr/>
                    <a:lstStyle/>
                    <a:p>
                      <a:pPr algn="ctr"/>
                      <a:r>
                        <a:rPr lang="en-US" sz="1000"/>
                        <a:t>73</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244</a:t>
                      </a:r>
                    </a:p>
                  </a:txBody>
                  <a:tcPr anchor="ctr">
                    <a:solidFill>
                      <a:schemeClr val="accent1">
                        <a:lumMod val="75000"/>
                      </a:schemeClr>
                    </a:solidFill>
                  </a:tcPr>
                </a:tc>
                <a:tc>
                  <a:txBody>
                    <a:bodyPr/>
                    <a:lstStyle/>
                    <a:p>
                      <a:pPr algn="ctr"/>
                      <a:r>
                        <a:rPr lang="en-US" sz="1000"/>
                        <a:t>28</a:t>
                      </a:r>
                    </a:p>
                  </a:txBody>
                  <a:tcPr anchor="ctr">
                    <a:solidFill>
                      <a:schemeClr val="accent1">
                        <a:lumMod val="75000"/>
                      </a:schemeClr>
                    </a:solidFill>
                  </a:tcPr>
                </a:tc>
                <a:tc>
                  <a:txBody>
                    <a:bodyPr/>
                    <a:lstStyle/>
                    <a:p>
                      <a:pPr algn="ctr"/>
                      <a:r>
                        <a:rPr lang="en-US" sz="1000"/>
                        <a:t>13</a:t>
                      </a:r>
                    </a:p>
                  </a:txBody>
                  <a:tcPr anchor="ctr">
                    <a:solidFill>
                      <a:schemeClr val="accent1">
                        <a:lumMod val="75000"/>
                      </a:schemeClr>
                    </a:solidFill>
                  </a:tcPr>
                </a:tc>
                <a:tc>
                  <a:txBody>
                    <a:bodyPr/>
                    <a:lstStyle/>
                    <a:p>
                      <a:pPr algn="ctr"/>
                      <a:r>
                        <a:rPr lang="en-US" sz="1000"/>
                        <a:t>0.723</a:t>
                      </a:r>
                    </a:p>
                  </a:txBody>
                  <a:tcPr anchor="ctr">
                    <a:solidFill>
                      <a:schemeClr val="accent1">
                        <a:lumMod val="75000"/>
                      </a:schemeClr>
                    </a:solidFill>
                  </a:tcPr>
                </a:tc>
                <a:tc>
                  <a:txBody>
                    <a:bodyPr/>
                    <a:lstStyle/>
                    <a:p>
                      <a:pPr algn="ctr"/>
                      <a:r>
                        <a:rPr lang="en-US" sz="1000"/>
                        <a:t>0.849</a:t>
                      </a:r>
                    </a:p>
                  </a:txBody>
                  <a:tcPr anchor="ctr">
                    <a:solidFill>
                      <a:schemeClr val="accent1">
                        <a:lumMod val="75000"/>
                      </a:schemeClr>
                    </a:solidFill>
                  </a:tcPr>
                </a:tc>
                <a:tc>
                  <a:txBody>
                    <a:bodyPr/>
                    <a:lstStyle/>
                    <a:p>
                      <a:pPr algn="ctr"/>
                      <a:r>
                        <a:rPr lang="en-US" sz="1000"/>
                        <a:t>0.781</a:t>
                      </a:r>
                    </a:p>
                  </a:txBody>
                  <a:tcPr anchor="ctr">
                    <a:solidFill>
                      <a:schemeClr val="accent1">
                        <a:lumMod val="75000"/>
                      </a:schemeClr>
                    </a:solidFill>
                  </a:tcPr>
                </a:tc>
                <a:extLst>
                  <a:ext uri="{0D108BD9-81ED-4DB2-BD59-A6C34878D82A}">
                    <a16:rowId xmlns:a16="http://schemas.microsoft.com/office/drawing/2014/main" val="10008"/>
                  </a:ext>
                </a:extLst>
              </a:tr>
              <a:tr h="391032">
                <a:tc>
                  <a:txBody>
                    <a:bodyPr/>
                    <a:lstStyle/>
                    <a:p>
                      <a:r>
                        <a:rPr lang="en-US" sz="1000" b="1"/>
                        <a:t>Pilot Error</a:t>
                      </a:r>
                    </a:p>
                  </a:txBody>
                  <a:tcPr>
                    <a:lnR w="28575" cap="flat" cmpd="sng" algn="ctr">
                      <a:solidFill>
                        <a:schemeClr val="bg1"/>
                      </a:solidFill>
                      <a:prstDash val="solid"/>
                      <a:round/>
                      <a:headEnd type="none" w="med" len="med"/>
                      <a:tailEnd type="none" w="med" len="med"/>
                    </a:lnR>
                    <a:solidFill>
                      <a:schemeClr val="tx1"/>
                    </a:solidFill>
                  </a:tcPr>
                </a:tc>
                <a:tc>
                  <a:txBody>
                    <a:bodyPr/>
                    <a:lstStyle/>
                    <a:p>
                      <a:pPr algn="ctr"/>
                      <a:r>
                        <a:rPr lang="en-US" sz="1000"/>
                        <a:t>73</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249</a:t>
                      </a:r>
                    </a:p>
                  </a:txBody>
                  <a:tcPr anchor="ctr">
                    <a:solidFill>
                      <a:schemeClr val="accent1">
                        <a:lumMod val="75000"/>
                      </a:schemeClr>
                    </a:solidFill>
                  </a:tcPr>
                </a:tc>
                <a:tc>
                  <a:txBody>
                    <a:bodyPr/>
                    <a:lstStyle/>
                    <a:p>
                      <a:pPr algn="ctr"/>
                      <a:r>
                        <a:rPr lang="en-US" sz="1000"/>
                        <a:t>8</a:t>
                      </a:r>
                    </a:p>
                  </a:txBody>
                  <a:tcPr anchor="ctr">
                    <a:solidFill>
                      <a:schemeClr val="accent1">
                        <a:lumMod val="75000"/>
                      </a:schemeClr>
                    </a:solidFill>
                  </a:tcPr>
                </a:tc>
                <a:tc>
                  <a:txBody>
                    <a:bodyPr/>
                    <a:lstStyle/>
                    <a:p>
                      <a:pPr algn="ctr"/>
                      <a:r>
                        <a:rPr lang="en-US" sz="1000"/>
                        <a:t>28</a:t>
                      </a:r>
                    </a:p>
                  </a:txBody>
                  <a:tcPr anchor="ctr">
                    <a:solidFill>
                      <a:schemeClr val="accent1">
                        <a:lumMod val="75000"/>
                      </a:schemeClr>
                    </a:solidFill>
                  </a:tcPr>
                </a:tc>
                <a:tc>
                  <a:txBody>
                    <a:bodyPr/>
                    <a:lstStyle/>
                    <a:p>
                      <a:pPr algn="ctr"/>
                      <a:r>
                        <a:rPr lang="en-US" sz="1000"/>
                        <a:t>0.901</a:t>
                      </a:r>
                    </a:p>
                  </a:txBody>
                  <a:tcPr anchor="ctr">
                    <a:solidFill>
                      <a:schemeClr val="accent1">
                        <a:lumMod val="75000"/>
                      </a:schemeClr>
                    </a:solidFill>
                  </a:tcPr>
                </a:tc>
                <a:tc>
                  <a:txBody>
                    <a:bodyPr/>
                    <a:lstStyle/>
                    <a:p>
                      <a:pPr algn="ctr"/>
                      <a:r>
                        <a:rPr lang="en-US" sz="1000"/>
                        <a:t>0.723</a:t>
                      </a:r>
                    </a:p>
                  </a:txBody>
                  <a:tcPr anchor="ctr">
                    <a:solidFill>
                      <a:schemeClr val="accent1">
                        <a:lumMod val="75000"/>
                      </a:schemeClr>
                    </a:solidFill>
                  </a:tcPr>
                </a:tc>
                <a:tc>
                  <a:txBody>
                    <a:bodyPr/>
                    <a:lstStyle/>
                    <a:p>
                      <a:pPr algn="ctr"/>
                      <a:r>
                        <a:rPr lang="en-US" sz="1000"/>
                        <a:t>0.802</a:t>
                      </a:r>
                    </a:p>
                  </a:txBody>
                  <a:tcPr anchor="ctr">
                    <a:solidFill>
                      <a:schemeClr val="accent1">
                        <a:lumMod val="75000"/>
                      </a:schemeClr>
                    </a:solidFill>
                  </a:tcPr>
                </a:tc>
                <a:extLst>
                  <a:ext uri="{0D108BD9-81ED-4DB2-BD59-A6C34878D82A}">
                    <a16:rowId xmlns:a16="http://schemas.microsoft.com/office/drawing/2014/main" val="10009"/>
                  </a:ext>
                </a:extLst>
              </a:tr>
              <a:tr h="508343">
                <a:tc>
                  <a:txBody>
                    <a:bodyPr/>
                    <a:lstStyle/>
                    <a:p>
                      <a:r>
                        <a:rPr lang="en-US" sz="1000" b="1"/>
                        <a:t>Undetermined</a:t>
                      </a:r>
                    </a:p>
                  </a:txBody>
                  <a:tcPr>
                    <a:lnR w="28575" cap="flat" cmpd="sng" algn="ctr">
                      <a:solidFill>
                        <a:schemeClr val="bg1"/>
                      </a:solidFill>
                      <a:prstDash val="solid"/>
                      <a:round/>
                      <a:headEnd type="none" w="med" len="med"/>
                      <a:tailEnd type="none" w="med" len="med"/>
                    </a:lnR>
                    <a:solidFill>
                      <a:schemeClr val="tx1"/>
                    </a:solidFill>
                  </a:tcPr>
                </a:tc>
                <a:tc>
                  <a:txBody>
                    <a:bodyPr/>
                    <a:lstStyle/>
                    <a:p>
                      <a:pPr algn="ctr"/>
                      <a:r>
                        <a:rPr lang="en-US" sz="1000"/>
                        <a:t>6</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351</a:t>
                      </a:r>
                    </a:p>
                  </a:txBody>
                  <a:tcPr anchor="ctr">
                    <a:solidFill>
                      <a:schemeClr val="accent1">
                        <a:lumMod val="75000"/>
                      </a:schemeClr>
                    </a:solidFill>
                  </a:tcPr>
                </a:tc>
                <a:tc>
                  <a:txBody>
                    <a:bodyPr/>
                    <a:lstStyle/>
                    <a:p>
                      <a:pPr algn="ctr"/>
                      <a:r>
                        <a:rPr lang="en-US" sz="1000"/>
                        <a:t>0</a:t>
                      </a:r>
                    </a:p>
                  </a:txBody>
                  <a:tcPr anchor="ctr">
                    <a:solidFill>
                      <a:schemeClr val="accent1">
                        <a:lumMod val="75000"/>
                      </a:schemeClr>
                    </a:solidFill>
                  </a:tcPr>
                </a:tc>
                <a:tc>
                  <a:txBody>
                    <a:bodyPr/>
                    <a:lstStyle/>
                    <a:p>
                      <a:pPr algn="ctr"/>
                      <a:r>
                        <a:rPr lang="en-US" sz="1000"/>
                        <a:t>1</a:t>
                      </a:r>
                    </a:p>
                  </a:txBody>
                  <a:tcPr anchor="ctr">
                    <a:solidFill>
                      <a:schemeClr val="accent1">
                        <a:lumMod val="75000"/>
                      </a:schemeClr>
                    </a:solidFill>
                  </a:tcPr>
                </a:tc>
                <a:tc>
                  <a:txBody>
                    <a:bodyPr/>
                    <a:lstStyle/>
                    <a:p>
                      <a:pPr algn="ctr"/>
                      <a:r>
                        <a:rPr lang="en-US" sz="1000"/>
                        <a:t>1.0</a:t>
                      </a:r>
                    </a:p>
                  </a:txBody>
                  <a:tcPr anchor="ctr">
                    <a:solidFill>
                      <a:schemeClr val="accent1">
                        <a:lumMod val="75000"/>
                      </a:schemeClr>
                    </a:solidFill>
                  </a:tcPr>
                </a:tc>
                <a:tc>
                  <a:txBody>
                    <a:bodyPr/>
                    <a:lstStyle/>
                    <a:p>
                      <a:pPr algn="ctr"/>
                      <a:r>
                        <a:rPr lang="en-US" sz="1000"/>
                        <a:t>0.857</a:t>
                      </a:r>
                    </a:p>
                  </a:txBody>
                  <a:tcPr anchor="ctr">
                    <a:solidFill>
                      <a:schemeClr val="accent1">
                        <a:lumMod val="75000"/>
                      </a:schemeClr>
                    </a:solidFill>
                  </a:tcPr>
                </a:tc>
                <a:tc>
                  <a:txBody>
                    <a:bodyPr/>
                    <a:lstStyle/>
                    <a:p>
                      <a:pPr algn="ctr"/>
                      <a:r>
                        <a:rPr lang="en-US" sz="1000"/>
                        <a:t>0.923</a:t>
                      </a:r>
                    </a:p>
                  </a:txBody>
                  <a:tcPr anchor="ctr">
                    <a:solidFill>
                      <a:schemeClr val="accent1">
                        <a:lumMod val="75000"/>
                      </a:schemeClr>
                    </a:solidFill>
                  </a:tcPr>
                </a:tc>
                <a:extLst>
                  <a:ext uri="{0D108BD9-81ED-4DB2-BD59-A6C34878D82A}">
                    <a16:rowId xmlns:a16="http://schemas.microsoft.com/office/drawing/2014/main" val="10010"/>
                  </a:ext>
                </a:extLst>
              </a:tr>
              <a:tr h="391032">
                <a:tc>
                  <a:txBody>
                    <a:bodyPr/>
                    <a:lstStyle/>
                    <a:p>
                      <a:r>
                        <a:rPr lang="en-US" sz="1000" b="1"/>
                        <a:t>Unknown</a:t>
                      </a:r>
                    </a:p>
                  </a:txBody>
                  <a:tcPr>
                    <a:lnR w="28575" cap="flat" cmpd="sng" algn="ctr">
                      <a:solidFill>
                        <a:schemeClr val="bg1"/>
                      </a:solidFill>
                      <a:prstDash val="solid"/>
                      <a:round/>
                      <a:headEnd type="none" w="med" len="med"/>
                      <a:tailEnd type="none" w="med" len="med"/>
                    </a:lnR>
                    <a:solidFill>
                      <a:schemeClr val="tx1"/>
                    </a:solidFill>
                  </a:tcPr>
                </a:tc>
                <a:tc>
                  <a:txBody>
                    <a:bodyPr/>
                    <a:lstStyle/>
                    <a:p>
                      <a:pPr algn="ctr"/>
                      <a:r>
                        <a:rPr lang="en-US" sz="1000"/>
                        <a:t>50</a:t>
                      </a:r>
                    </a:p>
                  </a:txBody>
                  <a:tcPr anchor="ctr">
                    <a:lnL w="28575" cap="flat" cmpd="sng" algn="ctr">
                      <a:solidFill>
                        <a:schemeClr val="bg1"/>
                      </a:solidFill>
                      <a:prstDash val="solid"/>
                      <a:round/>
                      <a:headEnd type="none" w="med" len="med"/>
                      <a:tailEnd type="none" w="med" len="med"/>
                    </a:lnL>
                    <a:solidFill>
                      <a:schemeClr val="accent1">
                        <a:lumMod val="75000"/>
                      </a:schemeClr>
                    </a:solidFill>
                  </a:tcPr>
                </a:tc>
                <a:tc>
                  <a:txBody>
                    <a:bodyPr/>
                    <a:lstStyle/>
                    <a:p>
                      <a:pPr algn="ctr"/>
                      <a:r>
                        <a:rPr lang="en-US" sz="1000"/>
                        <a:t>288</a:t>
                      </a:r>
                    </a:p>
                  </a:txBody>
                  <a:tcPr anchor="ctr">
                    <a:solidFill>
                      <a:schemeClr val="accent1">
                        <a:lumMod val="75000"/>
                      </a:schemeClr>
                    </a:solidFill>
                  </a:tcPr>
                </a:tc>
                <a:tc>
                  <a:txBody>
                    <a:bodyPr/>
                    <a:lstStyle/>
                    <a:p>
                      <a:pPr algn="ctr"/>
                      <a:r>
                        <a:rPr lang="en-US" sz="1000"/>
                        <a:t>19</a:t>
                      </a:r>
                    </a:p>
                  </a:txBody>
                  <a:tcPr anchor="ctr">
                    <a:solidFill>
                      <a:schemeClr val="accent1">
                        <a:lumMod val="75000"/>
                      </a:schemeClr>
                    </a:solidFill>
                  </a:tcPr>
                </a:tc>
                <a:tc>
                  <a:txBody>
                    <a:bodyPr/>
                    <a:lstStyle/>
                    <a:p>
                      <a:pPr algn="ctr"/>
                      <a:r>
                        <a:rPr lang="en-US" sz="1000"/>
                        <a:t>1</a:t>
                      </a:r>
                    </a:p>
                  </a:txBody>
                  <a:tcPr anchor="ctr">
                    <a:solidFill>
                      <a:schemeClr val="accent1">
                        <a:lumMod val="75000"/>
                      </a:schemeClr>
                    </a:solidFill>
                  </a:tcPr>
                </a:tc>
                <a:tc>
                  <a:txBody>
                    <a:bodyPr/>
                    <a:lstStyle/>
                    <a:p>
                      <a:pPr algn="ctr"/>
                      <a:r>
                        <a:rPr lang="en-US" sz="1000"/>
                        <a:t>0.725</a:t>
                      </a:r>
                    </a:p>
                  </a:txBody>
                  <a:tcPr anchor="ctr">
                    <a:solidFill>
                      <a:schemeClr val="accent1">
                        <a:lumMod val="75000"/>
                      </a:schemeClr>
                    </a:solidFill>
                  </a:tcPr>
                </a:tc>
                <a:tc>
                  <a:txBody>
                    <a:bodyPr/>
                    <a:lstStyle/>
                    <a:p>
                      <a:pPr algn="ctr"/>
                      <a:r>
                        <a:rPr lang="en-US" sz="1000"/>
                        <a:t>0.98</a:t>
                      </a:r>
                    </a:p>
                  </a:txBody>
                  <a:tcPr anchor="ctr">
                    <a:solidFill>
                      <a:schemeClr val="accent1">
                        <a:lumMod val="75000"/>
                      </a:schemeClr>
                    </a:solidFill>
                  </a:tcPr>
                </a:tc>
                <a:tc>
                  <a:txBody>
                    <a:bodyPr/>
                    <a:lstStyle/>
                    <a:p>
                      <a:pPr algn="ctr"/>
                      <a:r>
                        <a:rPr lang="en-US" sz="1000"/>
                        <a:t>0.833</a:t>
                      </a:r>
                    </a:p>
                  </a:txBody>
                  <a:tcPr anchor="ctr">
                    <a:solidFill>
                      <a:schemeClr val="accent1">
                        <a:lumMod val="75000"/>
                      </a:schemeClr>
                    </a:solidFill>
                  </a:tcPr>
                </a:tc>
                <a:extLst>
                  <a:ext uri="{0D108BD9-81ED-4DB2-BD59-A6C34878D82A}">
                    <a16:rowId xmlns:a16="http://schemas.microsoft.com/office/drawing/2014/main" val="10011"/>
                  </a:ext>
                </a:extLst>
              </a:tr>
            </a:tbl>
          </a:graphicData>
        </a:graphic>
      </p:graphicFrame>
      <p:graphicFrame>
        <p:nvGraphicFramePr>
          <p:cNvPr id="5" name="Content Placeholder 4">
            <a:extLst>
              <a:ext uri="{FF2B5EF4-FFF2-40B4-BE49-F238E27FC236}">
                <a16:creationId xmlns:a16="http://schemas.microsoft.com/office/drawing/2014/main" id="{D5053E0B-AB87-7CB5-608D-B58ED218CAD9}"/>
              </a:ext>
            </a:extLst>
          </p:cNvPr>
          <p:cNvGraphicFramePr>
            <a:graphicFrameLocks noGrp="1"/>
          </p:cNvGraphicFramePr>
          <p:nvPr>
            <p:ph idx="4294967295"/>
            <p:extLst>
              <p:ext uri="{D42A27DB-BD31-4B8C-83A1-F6EECF244321}">
                <p14:modId xmlns:p14="http://schemas.microsoft.com/office/powerpoint/2010/main" val="2572978508"/>
              </p:ext>
            </p:extLst>
          </p:nvPr>
        </p:nvGraphicFramePr>
        <p:xfrm>
          <a:off x="960000" y="1233176"/>
          <a:ext cx="3729037" cy="5264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6C3BD934-00F3-B33D-73DE-115F0A478170}"/>
              </a:ext>
            </a:extLst>
          </p:cNvPr>
          <p:cNvSpPr txBox="1"/>
          <p:nvPr/>
        </p:nvSpPr>
        <p:spPr>
          <a:xfrm>
            <a:off x="10817817" y="6426631"/>
            <a:ext cx="857573" cy="307777"/>
          </a:xfrm>
          <a:prstGeom prst="rect">
            <a:avLst/>
          </a:prstGeom>
          <a:noFill/>
        </p:spPr>
        <p:txBody>
          <a:bodyPr wrap="square" rtlCol="0">
            <a:spAutoFit/>
          </a:bodyPr>
          <a:lstStyle/>
          <a:p>
            <a:r>
              <a:rPr lang="en-US"/>
              <a:t>Tayan</a:t>
            </a:r>
          </a:p>
        </p:txBody>
      </p:sp>
    </p:spTree>
    <p:extLst>
      <p:ext uri="{BB962C8B-B14F-4D97-AF65-F5344CB8AC3E}">
        <p14:creationId xmlns:p14="http://schemas.microsoft.com/office/powerpoint/2010/main" val="1790522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A92F55C-3C37-14F9-88C1-D68F9989782F}"/>
              </a:ext>
            </a:extLst>
          </p:cNvPr>
          <p:cNvSpPr>
            <a:spLocks noGrp="1"/>
          </p:cNvSpPr>
          <p:nvPr>
            <p:ph type="title"/>
          </p:nvPr>
        </p:nvSpPr>
        <p:spPr/>
        <p:txBody>
          <a:bodyPr/>
          <a:lstStyle/>
          <a:p>
            <a:r>
              <a:rPr lang="en-US">
                <a:ea typeface="+mj-lt"/>
                <a:cs typeface="+mj-lt"/>
              </a:rPr>
              <a:t>Causal Modeling Approach</a:t>
            </a:r>
            <a:endParaRPr lang="en-US"/>
          </a:p>
        </p:txBody>
      </p:sp>
      <p:pic>
        <p:nvPicPr>
          <p:cNvPr id="8" name="Content Placeholder 7" descr="A diagram of a fire engine&#10;&#10;AI-generated content may be incorrect.">
            <a:extLst>
              <a:ext uri="{FF2B5EF4-FFF2-40B4-BE49-F238E27FC236}">
                <a16:creationId xmlns:a16="http://schemas.microsoft.com/office/drawing/2014/main" id="{B6BBAB70-EFBC-A547-B7B1-23443820A961}"/>
              </a:ext>
            </a:extLst>
          </p:cNvPr>
          <p:cNvPicPr>
            <a:picLocks noGrp="1" noChangeAspect="1"/>
          </p:cNvPicPr>
          <p:nvPr>
            <p:ph sz="quarter" idx="4294967295"/>
          </p:nvPr>
        </p:nvPicPr>
        <p:blipFill>
          <a:blip r:embed="rId4"/>
          <a:stretch>
            <a:fillRect/>
          </a:stretch>
        </p:blipFill>
        <p:spPr>
          <a:xfrm>
            <a:off x="4674478" y="1590918"/>
            <a:ext cx="7356810" cy="4312313"/>
          </a:xfrm>
          <a:prstGeom prst="rect">
            <a:avLst/>
          </a:prstGeom>
        </p:spPr>
      </p:pic>
      <p:graphicFrame>
        <p:nvGraphicFramePr>
          <p:cNvPr id="2" name="Content Placeholder 4">
            <a:extLst>
              <a:ext uri="{FF2B5EF4-FFF2-40B4-BE49-F238E27FC236}">
                <a16:creationId xmlns:a16="http://schemas.microsoft.com/office/drawing/2014/main" id="{EA5F85B4-CAC5-C39D-C492-CE3120E83CB3}"/>
              </a:ext>
            </a:extLst>
          </p:cNvPr>
          <p:cNvGraphicFramePr>
            <a:graphicFrameLocks/>
          </p:cNvGraphicFramePr>
          <p:nvPr>
            <p:extLst>
              <p:ext uri="{D42A27DB-BD31-4B8C-83A1-F6EECF244321}">
                <p14:modId xmlns:p14="http://schemas.microsoft.com/office/powerpoint/2010/main" val="2956416597"/>
              </p:ext>
            </p:extLst>
          </p:nvPr>
        </p:nvGraphicFramePr>
        <p:xfrm>
          <a:off x="821126" y="1114999"/>
          <a:ext cx="3729037" cy="52641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TextBox 2">
            <a:extLst>
              <a:ext uri="{FF2B5EF4-FFF2-40B4-BE49-F238E27FC236}">
                <a16:creationId xmlns:a16="http://schemas.microsoft.com/office/drawing/2014/main" id="{43FED9DE-EF52-F4F2-1AA4-017C2275AD60}"/>
              </a:ext>
            </a:extLst>
          </p:cNvPr>
          <p:cNvSpPr txBox="1"/>
          <p:nvPr/>
        </p:nvSpPr>
        <p:spPr>
          <a:xfrm>
            <a:off x="10817817" y="6426631"/>
            <a:ext cx="857573" cy="307777"/>
          </a:xfrm>
          <a:prstGeom prst="rect">
            <a:avLst/>
          </a:prstGeom>
          <a:noFill/>
        </p:spPr>
        <p:txBody>
          <a:bodyPr wrap="square" rtlCol="0">
            <a:spAutoFit/>
          </a:bodyPr>
          <a:lstStyle/>
          <a:p>
            <a:r>
              <a:rPr lang="en-US"/>
              <a:t>Timothy</a:t>
            </a:r>
          </a:p>
        </p:txBody>
      </p:sp>
    </p:spTree>
    <p:extLst>
      <p:ext uri="{BB962C8B-B14F-4D97-AF65-F5344CB8AC3E}">
        <p14:creationId xmlns:p14="http://schemas.microsoft.com/office/powerpoint/2010/main" val="3839847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p:txBody>
          <a:bodyPr/>
          <a:lstStyle/>
          <a:p>
            <a:r>
              <a:rPr lang="en-US"/>
              <a:t>Causal Discovery Algorithm </a:t>
            </a:r>
          </a:p>
        </p:txBody>
      </p:sp>
      <p:sp>
        <p:nvSpPr>
          <p:cNvPr id="3" name="Shape">
            <a:extLst>
              <a:ext uri="{FF2B5EF4-FFF2-40B4-BE49-F238E27FC236}">
                <a16:creationId xmlns:a16="http://schemas.microsoft.com/office/drawing/2014/main" id="{C67DCDB8-BAC6-621A-93F4-1DAE4BA4A859}"/>
              </a:ext>
            </a:extLst>
          </p:cNvPr>
          <p:cNvSpPr/>
          <p:nvPr/>
        </p:nvSpPr>
        <p:spPr>
          <a:xfrm>
            <a:off x="1519964" y="1311286"/>
            <a:ext cx="3875684" cy="4399688"/>
          </a:xfrm>
          <a:custGeom>
            <a:avLst/>
            <a:gdLst/>
            <a:ahLst/>
            <a:cxnLst>
              <a:cxn ang="0">
                <a:pos x="wd2" y="hd2"/>
              </a:cxn>
              <a:cxn ang="5400000">
                <a:pos x="wd2" y="hd2"/>
              </a:cxn>
              <a:cxn ang="10800000">
                <a:pos x="wd2" y="hd2"/>
              </a:cxn>
              <a:cxn ang="16200000">
                <a:pos x="wd2" y="hd2"/>
              </a:cxn>
            </a:cxnLst>
            <a:rect l="0" t="0" r="r" b="b"/>
            <a:pathLst>
              <a:path w="21600" h="21494" extrusionOk="0">
                <a:moveTo>
                  <a:pt x="21600" y="15519"/>
                </a:moveTo>
                <a:lnTo>
                  <a:pt x="21600" y="5968"/>
                </a:lnTo>
                <a:cubicBezTo>
                  <a:pt x="21600" y="5543"/>
                  <a:pt x="21341" y="5147"/>
                  <a:pt x="20923" y="4935"/>
                </a:cubicBezTo>
                <a:lnTo>
                  <a:pt x="11481" y="159"/>
                </a:lnTo>
                <a:cubicBezTo>
                  <a:pt x="11063" y="-53"/>
                  <a:pt x="10545" y="-53"/>
                  <a:pt x="10119" y="159"/>
                </a:cubicBezTo>
                <a:lnTo>
                  <a:pt x="677" y="4935"/>
                </a:lnTo>
                <a:cubicBezTo>
                  <a:pt x="259" y="5147"/>
                  <a:pt x="0" y="5543"/>
                  <a:pt x="0" y="5968"/>
                </a:cubicBezTo>
                <a:lnTo>
                  <a:pt x="0" y="15526"/>
                </a:lnTo>
                <a:cubicBezTo>
                  <a:pt x="0" y="15951"/>
                  <a:pt x="259" y="16347"/>
                  <a:pt x="677" y="16559"/>
                </a:cubicBezTo>
                <a:lnTo>
                  <a:pt x="10119" y="21335"/>
                </a:lnTo>
                <a:cubicBezTo>
                  <a:pt x="10537" y="21547"/>
                  <a:pt x="11055" y="21547"/>
                  <a:pt x="11481" y="21335"/>
                </a:cubicBezTo>
                <a:lnTo>
                  <a:pt x="20923" y="16559"/>
                </a:lnTo>
                <a:cubicBezTo>
                  <a:pt x="21341" y="16339"/>
                  <a:pt x="21600" y="15944"/>
                  <a:pt x="21600" y="15519"/>
                </a:cubicBezTo>
                <a:close/>
              </a:path>
            </a:pathLst>
          </a:custGeom>
          <a:solidFill>
            <a:schemeClr val="accent4"/>
          </a:solidFill>
          <a:ln w="12700">
            <a:miter lim="400000"/>
          </a:ln>
        </p:spPr>
        <p:txBody>
          <a:bodyPr lIns="38100" tIns="38100" rIns="38100" bIns="38100" anchor="ctr"/>
          <a:lstStyle/>
          <a:p>
            <a:pPr>
              <a:defRPr sz="3000">
                <a:solidFill>
                  <a:srgbClr val="FFFFFF"/>
                </a:solidFill>
              </a:defRPr>
            </a:pPr>
            <a:endParaRPr/>
          </a:p>
        </p:txBody>
      </p:sp>
      <p:sp>
        <p:nvSpPr>
          <p:cNvPr id="4" name="Shape">
            <a:extLst>
              <a:ext uri="{FF2B5EF4-FFF2-40B4-BE49-F238E27FC236}">
                <a16:creationId xmlns:a16="http://schemas.microsoft.com/office/drawing/2014/main" id="{D5B8B43C-5BC9-8ACE-EEDF-0F1DE880CF66}"/>
              </a:ext>
            </a:extLst>
          </p:cNvPr>
          <p:cNvSpPr/>
          <p:nvPr/>
        </p:nvSpPr>
        <p:spPr>
          <a:xfrm>
            <a:off x="2765781" y="1419660"/>
            <a:ext cx="1384050" cy="1321556"/>
          </a:xfrm>
          <a:custGeom>
            <a:avLst/>
            <a:gdLst/>
            <a:ahLst/>
            <a:cxnLst>
              <a:cxn ang="0">
                <a:pos x="wd2" y="hd2"/>
              </a:cxn>
              <a:cxn ang="5400000">
                <a:pos x="wd2" y="hd2"/>
              </a:cxn>
              <a:cxn ang="10800000">
                <a:pos x="wd2" y="hd2"/>
              </a:cxn>
              <a:cxn ang="16200000">
                <a:pos x="wd2" y="hd2"/>
              </a:cxn>
            </a:cxnLst>
            <a:rect l="0" t="0" r="r" b="b"/>
            <a:pathLst>
              <a:path w="21600" h="21502" extrusionOk="0">
                <a:moveTo>
                  <a:pt x="21600" y="15596"/>
                </a:moveTo>
                <a:lnTo>
                  <a:pt x="21600" y="5906"/>
                </a:lnTo>
                <a:cubicBezTo>
                  <a:pt x="21600" y="5530"/>
                  <a:pt x="21376" y="5188"/>
                  <a:pt x="21004" y="4992"/>
                </a:cubicBezTo>
                <a:lnTo>
                  <a:pt x="11406" y="147"/>
                </a:lnTo>
                <a:cubicBezTo>
                  <a:pt x="11033" y="-49"/>
                  <a:pt x="10567" y="-49"/>
                  <a:pt x="10194" y="147"/>
                </a:cubicBezTo>
                <a:lnTo>
                  <a:pt x="596" y="4992"/>
                </a:lnTo>
                <a:cubicBezTo>
                  <a:pt x="224" y="5188"/>
                  <a:pt x="0" y="5530"/>
                  <a:pt x="0" y="5906"/>
                </a:cubicBezTo>
                <a:lnTo>
                  <a:pt x="0" y="15596"/>
                </a:lnTo>
                <a:cubicBezTo>
                  <a:pt x="0" y="15972"/>
                  <a:pt x="224" y="16314"/>
                  <a:pt x="596" y="16510"/>
                </a:cubicBezTo>
                <a:lnTo>
                  <a:pt x="10194" y="21355"/>
                </a:lnTo>
                <a:cubicBezTo>
                  <a:pt x="10567" y="21551"/>
                  <a:pt x="11033" y="21551"/>
                  <a:pt x="11406" y="21355"/>
                </a:cubicBezTo>
                <a:lnTo>
                  <a:pt x="21004" y="16510"/>
                </a:lnTo>
                <a:cubicBezTo>
                  <a:pt x="21376" y="16330"/>
                  <a:pt x="21600" y="15972"/>
                  <a:pt x="21600" y="15596"/>
                </a:cubicBezTo>
                <a:close/>
              </a:path>
            </a:pathLst>
          </a:custGeom>
          <a:ln/>
        </p:spPr>
        <p:style>
          <a:lnRef idx="0">
            <a:schemeClr val="accent4"/>
          </a:lnRef>
          <a:fillRef idx="3">
            <a:schemeClr val="accent4"/>
          </a:fillRef>
          <a:effectRef idx="3">
            <a:schemeClr val="accent4"/>
          </a:effectRef>
          <a:fontRef idx="minor">
            <a:schemeClr val="lt1"/>
          </a:fontRef>
        </p:style>
        <p:txBody>
          <a:bodyPr lIns="38100" tIns="38100" rIns="38100" bIns="38100" anchor="ctr"/>
          <a:lstStyle/>
          <a:p>
            <a:pPr algn="ctr">
              <a:defRPr sz="3000">
                <a:solidFill>
                  <a:srgbClr val="FFFFFF"/>
                </a:solidFill>
              </a:defRPr>
            </a:pPr>
            <a:r>
              <a:rPr lang="en-US" b="1">
                <a:solidFill>
                  <a:schemeClr val="bg1"/>
                </a:solidFill>
              </a:rPr>
              <a:t>Chi-Sq</a:t>
            </a:r>
            <a:endParaRPr b="1">
              <a:solidFill>
                <a:schemeClr val="bg1"/>
              </a:solidFill>
            </a:endParaRPr>
          </a:p>
        </p:txBody>
      </p:sp>
      <p:sp>
        <p:nvSpPr>
          <p:cNvPr id="5" name="Shape">
            <a:extLst>
              <a:ext uri="{FF2B5EF4-FFF2-40B4-BE49-F238E27FC236}">
                <a16:creationId xmlns:a16="http://schemas.microsoft.com/office/drawing/2014/main" id="{53D9A444-F84E-5675-9528-3C58DCB41082}"/>
              </a:ext>
            </a:extLst>
          </p:cNvPr>
          <p:cNvSpPr/>
          <p:nvPr/>
        </p:nvSpPr>
        <p:spPr>
          <a:xfrm>
            <a:off x="7265463" y="1311497"/>
            <a:ext cx="3875684" cy="4399688"/>
          </a:xfrm>
          <a:custGeom>
            <a:avLst/>
            <a:gdLst/>
            <a:ahLst/>
            <a:cxnLst>
              <a:cxn ang="0">
                <a:pos x="wd2" y="hd2"/>
              </a:cxn>
              <a:cxn ang="5400000">
                <a:pos x="wd2" y="hd2"/>
              </a:cxn>
              <a:cxn ang="10800000">
                <a:pos x="wd2" y="hd2"/>
              </a:cxn>
              <a:cxn ang="16200000">
                <a:pos x="wd2" y="hd2"/>
              </a:cxn>
            </a:cxnLst>
            <a:rect l="0" t="0" r="r" b="b"/>
            <a:pathLst>
              <a:path w="21600" h="21494" extrusionOk="0">
                <a:moveTo>
                  <a:pt x="0" y="5968"/>
                </a:moveTo>
                <a:lnTo>
                  <a:pt x="0" y="15526"/>
                </a:lnTo>
                <a:cubicBezTo>
                  <a:pt x="0" y="15951"/>
                  <a:pt x="259" y="16347"/>
                  <a:pt x="677" y="16559"/>
                </a:cubicBezTo>
                <a:lnTo>
                  <a:pt x="10119" y="21335"/>
                </a:lnTo>
                <a:cubicBezTo>
                  <a:pt x="10537" y="21547"/>
                  <a:pt x="11055" y="21547"/>
                  <a:pt x="11481" y="21335"/>
                </a:cubicBezTo>
                <a:lnTo>
                  <a:pt x="20923" y="16559"/>
                </a:lnTo>
                <a:cubicBezTo>
                  <a:pt x="21341" y="16347"/>
                  <a:pt x="21600" y="15951"/>
                  <a:pt x="21600" y="15526"/>
                </a:cubicBezTo>
                <a:lnTo>
                  <a:pt x="21600" y="5968"/>
                </a:lnTo>
                <a:cubicBezTo>
                  <a:pt x="21600" y="5543"/>
                  <a:pt x="21341" y="5147"/>
                  <a:pt x="20923" y="4935"/>
                </a:cubicBezTo>
                <a:lnTo>
                  <a:pt x="11481" y="159"/>
                </a:lnTo>
                <a:cubicBezTo>
                  <a:pt x="11063" y="-53"/>
                  <a:pt x="10545" y="-53"/>
                  <a:pt x="10119" y="159"/>
                </a:cubicBezTo>
                <a:lnTo>
                  <a:pt x="677" y="4935"/>
                </a:lnTo>
                <a:cubicBezTo>
                  <a:pt x="259" y="5147"/>
                  <a:pt x="0" y="5543"/>
                  <a:pt x="0" y="5968"/>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endParaRPr/>
          </a:p>
        </p:txBody>
      </p:sp>
      <p:sp>
        <p:nvSpPr>
          <p:cNvPr id="6" name="Shape">
            <a:extLst>
              <a:ext uri="{FF2B5EF4-FFF2-40B4-BE49-F238E27FC236}">
                <a16:creationId xmlns:a16="http://schemas.microsoft.com/office/drawing/2014/main" id="{7291887F-932B-4130-0466-D83703FE58EF}"/>
              </a:ext>
            </a:extLst>
          </p:cNvPr>
          <p:cNvSpPr/>
          <p:nvPr/>
        </p:nvSpPr>
        <p:spPr>
          <a:xfrm>
            <a:off x="8648382" y="1408900"/>
            <a:ext cx="1109982" cy="1321557"/>
          </a:xfrm>
          <a:custGeom>
            <a:avLst/>
            <a:gdLst/>
            <a:ahLst/>
            <a:cxnLst>
              <a:cxn ang="0">
                <a:pos x="wd2" y="hd2"/>
              </a:cxn>
              <a:cxn ang="5400000">
                <a:pos x="wd2" y="hd2"/>
              </a:cxn>
              <a:cxn ang="10800000">
                <a:pos x="wd2" y="hd2"/>
              </a:cxn>
              <a:cxn ang="16200000">
                <a:pos x="wd2" y="hd2"/>
              </a:cxn>
            </a:cxnLst>
            <a:rect l="0" t="0" r="r" b="b"/>
            <a:pathLst>
              <a:path w="21600" h="21502" extrusionOk="0">
                <a:moveTo>
                  <a:pt x="0" y="5906"/>
                </a:moveTo>
                <a:lnTo>
                  <a:pt x="0" y="15596"/>
                </a:lnTo>
                <a:cubicBezTo>
                  <a:pt x="0" y="15972"/>
                  <a:pt x="224" y="16314"/>
                  <a:pt x="596" y="16510"/>
                </a:cubicBezTo>
                <a:lnTo>
                  <a:pt x="10194" y="21355"/>
                </a:lnTo>
                <a:cubicBezTo>
                  <a:pt x="10567" y="21551"/>
                  <a:pt x="11033" y="21551"/>
                  <a:pt x="11406" y="21355"/>
                </a:cubicBezTo>
                <a:lnTo>
                  <a:pt x="21004" y="16510"/>
                </a:lnTo>
                <a:cubicBezTo>
                  <a:pt x="21376" y="16314"/>
                  <a:pt x="21600" y="15972"/>
                  <a:pt x="21600" y="15596"/>
                </a:cubicBezTo>
                <a:lnTo>
                  <a:pt x="21600" y="5906"/>
                </a:lnTo>
                <a:cubicBezTo>
                  <a:pt x="21600" y="5530"/>
                  <a:pt x="21376" y="5188"/>
                  <a:pt x="21004" y="4992"/>
                </a:cubicBezTo>
                <a:lnTo>
                  <a:pt x="11406" y="147"/>
                </a:lnTo>
                <a:cubicBezTo>
                  <a:pt x="11033" y="-49"/>
                  <a:pt x="10567" y="-49"/>
                  <a:pt x="10194" y="147"/>
                </a:cubicBezTo>
                <a:lnTo>
                  <a:pt x="596" y="4992"/>
                </a:lnTo>
                <a:cubicBezTo>
                  <a:pt x="224" y="5172"/>
                  <a:pt x="0" y="5530"/>
                  <a:pt x="0" y="5906"/>
                </a:cubicBezTo>
                <a:close/>
              </a:path>
            </a:pathLst>
          </a:custGeom>
          <a:ln/>
        </p:spPr>
        <p:style>
          <a:lnRef idx="0">
            <a:schemeClr val="accent3"/>
          </a:lnRef>
          <a:fillRef idx="3">
            <a:schemeClr val="accent3"/>
          </a:fillRef>
          <a:effectRef idx="3">
            <a:schemeClr val="accent3"/>
          </a:effectRef>
          <a:fontRef idx="minor">
            <a:schemeClr val="lt1"/>
          </a:fontRef>
        </p:style>
        <p:txBody>
          <a:bodyPr lIns="38100" tIns="38100" rIns="38100" bIns="38100" anchor="ctr"/>
          <a:lstStyle/>
          <a:p>
            <a:pPr algn="ctr">
              <a:defRPr sz="3000">
                <a:solidFill>
                  <a:srgbClr val="FFFFFF"/>
                </a:solidFill>
              </a:defRPr>
            </a:pPr>
            <a:r>
              <a:rPr lang="en-US" b="1"/>
              <a:t>KCI</a:t>
            </a:r>
            <a:endParaRPr b="1"/>
          </a:p>
        </p:txBody>
      </p:sp>
      <p:sp>
        <p:nvSpPr>
          <p:cNvPr id="14" name="TextBox 13">
            <a:extLst>
              <a:ext uri="{FF2B5EF4-FFF2-40B4-BE49-F238E27FC236}">
                <a16:creationId xmlns:a16="http://schemas.microsoft.com/office/drawing/2014/main" id="{DD86C5AE-72C6-E81F-7FD2-E0916F0F174E}"/>
              </a:ext>
            </a:extLst>
          </p:cNvPr>
          <p:cNvSpPr txBox="1"/>
          <p:nvPr/>
        </p:nvSpPr>
        <p:spPr>
          <a:xfrm>
            <a:off x="7796981" y="2730456"/>
            <a:ext cx="2889427" cy="461665"/>
          </a:xfrm>
          <a:prstGeom prst="rect">
            <a:avLst/>
          </a:prstGeom>
          <a:noFill/>
        </p:spPr>
        <p:txBody>
          <a:bodyPr wrap="square" lIns="0" rIns="0" rtlCol="0" anchor="b">
            <a:spAutoFit/>
          </a:bodyPr>
          <a:lstStyle/>
          <a:p>
            <a:pPr algn="ctr"/>
            <a:r>
              <a:rPr lang="en-US" sz="2400" b="1" noProof="1">
                <a:solidFill>
                  <a:schemeClr val="bg1"/>
                </a:solidFill>
              </a:rPr>
              <a:t>FCI + KCI</a:t>
            </a:r>
          </a:p>
        </p:txBody>
      </p:sp>
      <p:sp>
        <p:nvSpPr>
          <p:cNvPr id="17" name="TextBox 16">
            <a:extLst>
              <a:ext uri="{FF2B5EF4-FFF2-40B4-BE49-F238E27FC236}">
                <a16:creationId xmlns:a16="http://schemas.microsoft.com/office/drawing/2014/main" id="{C326C609-4400-B26B-2141-2B3D7EA1610E}"/>
              </a:ext>
            </a:extLst>
          </p:cNvPr>
          <p:cNvSpPr txBox="1"/>
          <p:nvPr/>
        </p:nvSpPr>
        <p:spPr>
          <a:xfrm>
            <a:off x="1932764" y="2760174"/>
            <a:ext cx="3273941" cy="461665"/>
          </a:xfrm>
          <a:prstGeom prst="rect">
            <a:avLst/>
          </a:prstGeom>
          <a:noFill/>
        </p:spPr>
        <p:txBody>
          <a:bodyPr wrap="square" lIns="0" rIns="0" rtlCol="0" anchor="b">
            <a:spAutoFit/>
          </a:bodyPr>
          <a:lstStyle/>
          <a:p>
            <a:r>
              <a:rPr lang="en-US" sz="2400" b="1" noProof="1">
                <a:solidFill>
                  <a:schemeClr val="bg1"/>
                </a:solidFill>
              </a:rPr>
              <a:t>FCI + Chi-Square Test</a:t>
            </a:r>
          </a:p>
        </p:txBody>
      </p:sp>
      <p:sp>
        <p:nvSpPr>
          <p:cNvPr id="25" name="TextBox 24">
            <a:extLst>
              <a:ext uri="{FF2B5EF4-FFF2-40B4-BE49-F238E27FC236}">
                <a16:creationId xmlns:a16="http://schemas.microsoft.com/office/drawing/2014/main" id="{11655A96-908C-6F72-542D-ED73B568FAD1}"/>
              </a:ext>
            </a:extLst>
          </p:cNvPr>
          <p:cNvSpPr txBox="1"/>
          <p:nvPr/>
        </p:nvSpPr>
        <p:spPr>
          <a:xfrm>
            <a:off x="2160308" y="3200909"/>
            <a:ext cx="2818852" cy="1169551"/>
          </a:xfrm>
          <a:prstGeom prst="rect">
            <a:avLst/>
          </a:prstGeom>
          <a:noFill/>
        </p:spPr>
        <p:txBody>
          <a:bodyPr wrap="square">
            <a:spAutoFit/>
          </a:bodyPr>
          <a:lstStyle/>
          <a:p>
            <a:pPr marL="285750" indent="-285750">
              <a:buClr>
                <a:schemeClr val="bg1"/>
              </a:buClr>
              <a:buFont typeface="Arial" panose="020B0604020202020204" pitchFamily="34" charset="0"/>
              <a:buChar char="•"/>
            </a:pPr>
            <a:r>
              <a:rPr lang="en-US">
                <a:solidFill>
                  <a:schemeClr val="bg1"/>
                </a:solidFill>
              </a:rPr>
              <a:t>Found PAG</a:t>
            </a:r>
          </a:p>
          <a:p>
            <a:pPr marL="285750" indent="-285750">
              <a:buClr>
                <a:schemeClr val="bg1"/>
              </a:buClr>
              <a:buFont typeface="Arial" panose="020B0604020202020204" pitchFamily="34" charset="0"/>
              <a:buChar char="•"/>
            </a:pPr>
            <a:r>
              <a:rPr lang="en-US">
                <a:solidFill>
                  <a:schemeClr val="bg1"/>
                </a:solidFill>
              </a:rPr>
              <a:t>Works with binary variables</a:t>
            </a:r>
          </a:p>
          <a:p>
            <a:pPr marL="285750" indent="-285750">
              <a:buClr>
                <a:schemeClr val="bg1"/>
              </a:buClr>
              <a:buFont typeface="Arial" panose="020B0604020202020204" pitchFamily="34" charset="0"/>
              <a:buChar char="•"/>
            </a:pPr>
            <a:r>
              <a:rPr lang="en-US">
                <a:solidFill>
                  <a:schemeClr val="bg1"/>
                </a:solidFill>
              </a:rPr>
              <a:t>Efficient for large datasets</a:t>
            </a:r>
          </a:p>
          <a:p>
            <a:pPr marL="285750" indent="-285750">
              <a:buClr>
                <a:schemeClr val="bg1"/>
              </a:buClr>
              <a:buFont typeface="Arial" panose="020B0604020202020204" pitchFamily="34" charset="0"/>
              <a:buChar char="•"/>
            </a:pPr>
            <a:r>
              <a:rPr lang="en-US">
                <a:solidFill>
                  <a:schemeClr val="bg1"/>
                </a:solidFill>
              </a:rPr>
              <a:t>Complexity: O(</a:t>
            </a:r>
            <a:r>
              <a:rPr lang="en-US" err="1">
                <a:solidFill>
                  <a:schemeClr val="bg1"/>
                </a:solidFill>
              </a:rPr>
              <a:t>n·k</a:t>
            </a:r>
            <a:r>
              <a:rPr lang="en-US">
                <a:solidFill>
                  <a:schemeClr val="bg1"/>
                </a:solidFill>
              </a:rPr>
              <a:t>)</a:t>
            </a:r>
          </a:p>
          <a:p>
            <a:pPr marL="285750" indent="-285750">
              <a:buClr>
                <a:schemeClr val="bg1"/>
              </a:buClr>
              <a:buFont typeface="Arial" panose="020B0604020202020204" pitchFamily="34" charset="0"/>
              <a:buChar char="•"/>
            </a:pPr>
            <a:r>
              <a:rPr lang="en-US">
                <a:solidFill>
                  <a:schemeClr val="bg1"/>
                </a:solidFill>
              </a:rPr>
              <a:t>Handles hidden variable</a:t>
            </a:r>
          </a:p>
        </p:txBody>
      </p:sp>
      <p:sp>
        <p:nvSpPr>
          <p:cNvPr id="27" name="TextBox 26">
            <a:extLst>
              <a:ext uri="{FF2B5EF4-FFF2-40B4-BE49-F238E27FC236}">
                <a16:creationId xmlns:a16="http://schemas.microsoft.com/office/drawing/2014/main" id="{D186721A-CE64-0CD2-667B-FE84E7EFE2C7}"/>
              </a:ext>
            </a:extLst>
          </p:cNvPr>
          <p:cNvSpPr txBox="1"/>
          <p:nvPr/>
        </p:nvSpPr>
        <p:spPr>
          <a:xfrm>
            <a:off x="7867556" y="3168498"/>
            <a:ext cx="2818852" cy="1169551"/>
          </a:xfrm>
          <a:prstGeom prst="rect">
            <a:avLst/>
          </a:prstGeom>
          <a:noFill/>
        </p:spPr>
        <p:txBody>
          <a:bodyPr wrap="square">
            <a:spAutoFit/>
          </a:bodyPr>
          <a:lstStyle/>
          <a:p>
            <a:pPr marL="285750" indent="-285750">
              <a:buClr>
                <a:schemeClr val="bg1"/>
              </a:buClr>
              <a:buFont typeface="Arial" panose="020B0604020202020204" pitchFamily="34" charset="0"/>
              <a:buChar char="•"/>
            </a:pPr>
            <a:r>
              <a:rPr lang="en-US">
                <a:solidFill>
                  <a:schemeClr val="bg1"/>
                </a:solidFill>
              </a:rPr>
              <a:t>Supports non-binary data</a:t>
            </a:r>
          </a:p>
          <a:p>
            <a:pPr marL="285750" indent="-285750">
              <a:buClr>
                <a:schemeClr val="bg1"/>
              </a:buClr>
              <a:buFont typeface="Arial" panose="020B0604020202020204" pitchFamily="34" charset="0"/>
              <a:buChar char="•"/>
            </a:pPr>
            <a:r>
              <a:rPr lang="en-US">
                <a:solidFill>
                  <a:schemeClr val="bg1"/>
                </a:solidFill>
              </a:rPr>
              <a:t>Much more computationally expensive</a:t>
            </a:r>
          </a:p>
          <a:p>
            <a:pPr marL="285750" indent="-285750">
              <a:buClr>
                <a:schemeClr val="bg1"/>
              </a:buClr>
              <a:buFont typeface="Arial" panose="020B0604020202020204" pitchFamily="34" charset="0"/>
              <a:buChar char="•"/>
            </a:pPr>
            <a:r>
              <a:rPr lang="en-US">
                <a:solidFill>
                  <a:schemeClr val="bg1"/>
                </a:solidFill>
              </a:rPr>
              <a:t>Complexity: O(n³)</a:t>
            </a:r>
          </a:p>
          <a:p>
            <a:pPr marL="285750" indent="-285750">
              <a:buClr>
                <a:schemeClr val="bg1"/>
              </a:buClr>
              <a:buFont typeface="Arial" panose="020B0604020202020204" pitchFamily="34" charset="0"/>
              <a:buChar char="•"/>
            </a:pPr>
            <a:r>
              <a:rPr lang="en-US">
                <a:solidFill>
                  <a:schemeClr val="bg1"/>
                </a:solidFill>
              </a:rPr>
              <a:t>Not scalable for this dataset</a:t>
            </a:r>
          </a:p>
        </p:txBody>
      </p:sp>
      <p:sp>
        <p:nvSpPr>
          <p:cNvPr id="29" name="Shape">
            <a:extLst>
              <a:ext uri="{FF2B5EF4-FFF2-40B4-BE49-F238E27FC236}">
                <a16:creationId xmlns:a16="http://schemas.microsoft.com/office/drawing/2014/main" id="{F79C2DFF-A68E-246C-A666-02DC0033F9E3}"/>
              </a:ext>
            </a:extLst>
          </p:cNvPr>
          <p:cNvSpPr/>
          <p:nvPr/>
        </p:nvSpPr>
        <p:spPr>
          <a:xfrm>
            <a:off x="5708521" y="2881745"/>
            <a:ext cx="1244069" cy="1274619"/>
          </a:xfrm>
          <a:custGeom>
            <a:avLst/>
            <a:gdLst/>
            <a:ahLst/>
            <a:cxnLst>
              <a:cxn ang="0">
                <a:pos x="wd2" y="hd2"/>
              </a:cxn>
              <a:cxn ang="5400000">
                <a:pos x="wd2" y="hd2"/>
              </a:cxn>
              <a:cxn ang="10800000">
                <a:pos x="wd2" y="hd2"/>
              </a:cxn>
              <a:cxn ang="16200000">
                <a:pos x="wd2" y="hd2"/>
              </a:cxn>
            </a:cxnLst>
            <a:rect l="0" t="0" r="r" b="b"/>
            <a:pathLst>
              <a:path w="21600" h="21494" extrusionOk="0">
                <a:moveTo>
                  <a:pt x="21600" y="15519"/>
                </a:moveTo>
                <a:lnTo>
                  <a:pt x="21600" y="5968"/>
                </a:lnTo>
                <a:cubicBezTo>
                  <a:pt x="21600" y="5543"/>
                  <a:pt x="21341" y="5147"/>
                  <a:pt x="20923" y="4935"/>
                </a:cubicBezTo>
                <a:lnTo>
                  <a:pt x="11481" y="159"/>
                </a:lnTo>
                <a:cubicBezTo>
                  <a:pt x="11063" y="-53"/>
                  <a:pt x="10545" y="-53"/>
                  <a:pt x="10119" y="159"/>
                </a:cubicBezTo>
                <a:lnTo>
                  <a:pt x="677" y="4935"/>
                </a:lnTo>
                <a:cubicBezTo>
                  <a:pt x="259" y="5147"/>
                  <a:pt x="0" y="5543"/>
                  <a:pt x="0" y="5968"/>
                </a:cubicBezTo>
                <a:lnTo>
                  <a:pt x="0" y="15526"/>
                </a:lnTo>
                <a:cubicBezTo>
                  <a:pt x="0" y="15951"/>
                  <a:pt x="259" y="16347"/>
                  <a:pt x="677" y="16559"/>
                </a:cubicBezTo>
                <a:lnTo>
                  <a:pt x="10119" y="21335"/>
                </a:lnTo>
                <a:cubicBezTo>
                  <a:pt x="10537" y="21547"/>
                  <a:pt x="11055" y="21547"/>
                  <a:pt x="11481" y="21335"/>
                </a:cubicBezTo>
                <a:lnTo>
                  <a:pt x="20923" y="16559"/>
                </a:lnTo>
                <a:cubicBezTo>
                  <a:pt x="21341" y="16339"/>
                  <a:pt x="21600" y="15944"/>
                  <a:pt x="21600" y="15519"/>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endParaRPr/>
          </a:p>
        </p:txBody>
      </p:sp>
      <p:sp>
        <p:nvSpPr>
          <p:cNvPr id="30" name="Shape">
            <a:extLst>
              <a:ext uri="{FF2B5EF4-FFF2-40B4-BE49-F238E27FC236}">
                <a16:creationId xmlns:a16="http://schemas.microsoft.com/office/drawing/2014/main" id="{79D02D67-4E17-D64A-E46A-FB40E3849120}"/>
              </a:ext>
            </a:extLst>
          </p:cNvPr>
          <p:cNvSpPr/>
          <p:nvPr/>
        </p:nvSpPr>
        <p:spPr>
          <a:xfrm>
            <a:off x="5757754" y="3015326"/>
            <a:ext cx="1145603" cy="1037288"/>
          </a:xfrm>
          <a:custGeom>
            <a:avLst/>
            <a:gdLst/>
            <a:ahLst/>
            <a:cxnLst>
              <a:cxn ang="0">
                <a:pos x="wd2" y="hd2"/>
              </a:cxn>
              <a:cxn ang="5400000">
                <a:pos x="wd2" y="hd2"/>
              </a:cxn>
              <a:cxn ang="10800000">
                <a:pos x="wd2" y="hd2"/>
              </a:cxn>
              <a:cxn ang="16200000">
                <a:pos x="wd2" y="hd2"/>
              </a:cxn>
            </a:cxnLst>
            <a:rect l="0" t="0" r="r" b="b"/>
            <a:pathLst>
              <a:path w="21600" h="21502" extrusionOk="0">
                <a:moveTo>
                  <a:pt x="21600" y="15596"/>
                </a:moveTo>
                <a:lnTo>
                  <a:pt x="21600" y="5906"/>
                </a:lnTo>
                <a:cubicBezTo>
                  <a:pt x="21600" y="5530"/>
                  <a:pt x="21376" y="5188"/>
                  <a:pt x="21004" y="4992"/>
                </a:cubicBezTo>
                <a:lnTo>
                  <a:pt x="11406" y="147"/>
                </a:lnTo>
                <a:cubicBezTo>
                  <a:pt x="11033" y="-49"/>
                  <a:pt x="10567" y="-49"/>
                  <a:pt x="10194" y="147"/>
                </a:cubicBezTo>
                <a:lnTo>
                  <a:pt x="596" y="4992"/>
                </a:lnTo>
                <a:cubicBezTo>
                  <a:pt x="224" y="5188"/>
                  <a:pt x="0" y="5530"/>
                  <a:pt x="0" y="5906"/>
                </a:cubicBezTo>
                <a:lnTo>
                  <a:pt x="0" y="15596"/>
                </a:lnTo>
                <a:cubicBezTo>
                  <a:pt x="0" y="15972"/>
                  <a:pt x="224" y="16314"/>
                  <a:pt x="596" y="16510"/>
                </a:cubicBezTo>
                <a:lnTo>
                  <a:pt x="10194" y="21355"/>
                </a:lnTo>
                <a:cubicBezTo>
                  <a:pt x="10567" y="21551"/>
                  <a:pt x="11033" y="21551"/>
                  <a:pt x="11406" y="21355"/>
                </a:cubicBezTo>
                <a:lnTo>
                  <a:pt x="21004" y="16510"/>
                </a:lnTo>
                <a:cubicBezTo>
                  <a:pt x="21376" y="16330"/>
                  <a:pt x="21600" y="15972"/>
                  <a:pt x="21600" y="15596"/>
                </a:cubicBezTo>
                <a:close/>
              </a:path>
            </a:pathLst>
          </a:custGeom>
          <a:ln/>
        </p:spPr>
        <p:style>
          <a:lnRef idx="0">
            <a:schemeClr val="accent2"/>
          </a:lnRef>
          <a:fillRef idx="3">
            <a:schemeClr val="accent2"/>
          </a:fillRef>
          <a:effectRef idx="3">
            <a:schemeClr val="accent2"/>
          </a:effectRef>
          <a:fontRef idx="minor">
            <a:schemeClr val="lt1"/>
          </a:fontRef>
        </p:style>
        <p:txBody>
          <a:bodyPr lIns="38100" tIns="38100" rIns="38100" bIns="38100" anchor="ctr"/>
          <a:lstStyle/>
          <a:p>
            <a:pPr algn="ctr">
              <a:defRPr sz="3000">
                <a:solidFill>
                  <a:srgbClr val="FFFFFF"/>
                </a:solidFill>
              </a:defRPr>
            </a:pPr>
            <a:r>
              <a:rPr lang="en-US" sz="3600" b="1">
                <a:solidFill>
                  <a:schemeClr val="bg1"/>
                </a:solidFill>
              </a:rPr>
              <a:t>VS</a:t>
            </a:r>
            <a:endParaRPr sz="3600" b="1">
              <a:solidFill>
                <a:schemeClr val="bg1"/>
              </a:solidFill>
            </a:endParaRPr>
          </a:p>
        </p:txBody>
      </p:sp>
      <p:sp>
        <p:nvSpPr>
          <p:cNvPr id="7" name="TextBox 6">
            <a:extLst>
              <a:ext uri="{FF2B5EF4-FFF2-40B4-BE49-F238E27FC236}">
                <a16:creationId xmlns:a16="http://schemas.microsoft.com/office/drawing/2014/main" id="{630C8A04-8AD9-5EB1-EA79-76B638114D4B}"/>
              </a:ext>
            </a:extLst>
          </p:cNvPr>
          <p:cNvSpPr txBox="1"/>
          <p:nvPr/>
        </p:nvSpPr>
        <p:spPr>
          <a:xfrm>
            <a:off x="10817817" y="6426631"/>
            <a:ext cx="857573" cy="307777"/>
          </a:xfrm>
          <a:prstGeom prst="rect">
            <a:avLst/>
          </a:prstGeom>
          <a:noFill/>
        </p:spPr>
        <p:txBody>
          <a:bodyPr wrap="square" rtlCol="0">
            <a:spAutoFit/>
          </a:bodyPr>
          <a:lstStyle/>
          <a:p>
            <a:r>
              <a:rPr lang="en-US"/>
              <a:t>Timothy</a:t>
            </a:r>
          </a:p>
        </p:txBody>
      </p:sp>
    </p:spTree>
    <p:extLst>
      <p:ext uri="{BB962C8B-B14F-4D97-AF65-F5344CB8AC3E}">
        <p14:creationId xmlns:p14="http://schemas.microsoft.com/office/powerpoint/2010/main" val="4153564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33F75-0818-EEA6-DAE8-BD710CB65ADF}"/>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5634FA4-080D-9E4D-F179-8480B1F55EF9}"/>
              </a:ext>
            </a:extLst>
          </p:cNvPr>
          <p:cNvSpPr/>
          <p:nvPr/>
        </p:nvSpPr>
        <p:spPr>
          <a:xfrm>
            <a:off x="814852" y="5093876"/>
            <a:ext cx="5257798" cy="898206"/>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 name="Group 11">
            <a:extLst>
              <a:ext uri="{FF2B5EF4-FFF2-40B4-BE49-F238E27FC236}">
                <a16:creationId xmlns:a16="http://schemas.microsoft.com/office/drawing/2014/main" id="{5EA7986F-4260-8871-A1D7-BA73532F7946}"/>
              </a:ext>
            </a:extLst>
          </p:cNvPr>
          <p:cNvGrpSpPr/>
          <p:nvPr/>
        </p:nvGrpSpPr>
        <p:grpSpPr>
          <a:xfrm>
            <a:off x="838199" y="3025897"/>
            <a:ext cx="5257798" cy="988913"/>
            <a:chOff x="838201" y="3315041"/>
            <a:chExt cx="5257798" cy="988913"/>
          </a:xfrm>
        </p:grpSpPr>
        <p:sp>
          <p:nvSpPr>
            <p:cNvPr id="6" name="Rectangle: Rounded Corners 5">
              <a:extLst>
                <a:ext uri="{FF2B5EF4-FFF2-40B4-BE49-F238E27FC236}">
                  <a16:creationId xmlns:a16="http://schemas.microsoft.com/office/drawing/2014/main" id="{3D74FE1F-C53D-C2B5-DC19-1693CDB8F632}"/>
                </a:ext>
              </a:extLst>
            </p:cNvPr>
            <p:cNvSpPr/>
            <p:nvPr/>
          </p:nvSpPr>
          <p:spPr>
            <a:xfrm>
              <a:off x="838201" y="3315041"/>
              <a:ext cx="5257798" cy="988913"/>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5" name="TextBox 34">
              <a:extLst>
                <a:ext uri="{FF2B5EF4-FFF2-40B4-BE49-F238E27FC236}">
                  <a16:creationId xmlns:a16="http://schemas.microsoft.com/office/drawing/2014/main" id="{3F7473A7-3D82-B45A-3E36-486E435246F4}"/>
                </a:ext>
              </a:extLst>
            </p:cNvPr>
            <p:cNvSpPr txBox="1"/>
            <p:nvPr/>
          </p:nvSpPr>
          <p:spPr>
            <a:xfrm>
              <a:off x="1238492" y="3340787"/>
              <a:ext cx="3703321" cy="461664"/>
            </a:xfrm>
            <a:prstGeom prst="rect">
              <a:avLst/>
            </a:prstGeom>
            <a:noFill/>
          </p:spPr>
          <p:txBody>
            <a:bodyPr wrap="square" lIns="0" rIns="0" rtlCol="0" anchor="b">
              <a:spAutoFit/>
            </a:bodyPr>
            <a:lstStyle/>
            <a:p>
              <a:pPr algn="ctr"/>
              <a:r>
                <a:rPr lang="en-US" sz="2400" b="1" noProof="1">
                  <a:solidFill>
                    <a:schemeClr val="bg1"/>
                  </a:solidFill>
                </a:rPr>
                <a:t>High Lethality Target</a:t>
              </a:r>
            </a:p>
          </p:txBody>
        </p:sp>
        <p:sp>
          <p:nvSpPr>
            <p:cNvPr id="10" name="TextBox 9">
              <a:extLst>
                <a:ext uri="{FF2B5EF4-FFF2-40B4-BE49-F238E27FC236}">
                  <a16:creationId xmlns:a16="http://schemas.microsoft.com/office/drawing/2014/main" id="{AD882CD3-D637-1E6D-6DC5-2C9770CA89A0}"/>
                </a:ext>
              </a:extLst>
            </p:cNvPr>
            <p:cNvSpPr txBox="1"/>
            <p:nvPr/>
          </p:nvSpPr>
          <p:spPr>
            <a:xfrm>
              <a:off x="1973180" y="3828197"/>
              <a:ext cx="2233944" cy="400110"/>
            </a:xfrm>
            <a:prstGeom prst="rect">
              <a:avLst/>
            </a:prstGeom>
            <a:noFill/>
          </p:spPr>
          <p:txBody>
            <a:bodyPr wrap="square" lIns="0" rIns="0" rtlCol="0" anchor="t">
              <a:spAutoFit/>
            </a:bodyPr>
            <a:lstStyle/>
            <a:p>
              <a:pPr lvl="0">
                <a:buNone/>
              </a:pPr>
              <a:r>
                <a:rPr lang="en-US" sz="2000">
                  <a:solidFill>
                    <a:schemeClr val="bg1"/>
                  </a:solidFill>
                </a:rPr>
                <a:t>&gt;50% Fatality Rate</a:t>
              </a:r>
            </a:p>
          </p:txBody>
        </p:sp>
      </p:grpSp>
      <p:sp>
        <p:nvSpPr>
          <p:cNvPr id="2" name="Title 1">
            <a:extLst>
              <a:ext uri="{FF2B5EF4-FFF2-40B4-BE49-F238E27FC236}">
                <a16:creationId xmlns:a16="http://schemas.microsoft.com/office/drawing/2014/main" id="{FFE95C07-448E-2E39-7296-73E3E19467FF}"/>
              </a:ext>
            </a:extLst>
          </p:cNvPr>
          <p:cNvSpPr>
            <a:spLocks noGrp="1"/>
          </p:cNvSpPr>
          <p:nvPr>
            <p:ph type="title"/>
          </p:nvPr>
        </p:nvSpPr>
        <p:spPr/>
        <p:txBody>
          <a:bodyPr/>
          <a:lstStyle/>
          <a:p>
            <a:r>
              <a:rPr lang="en-US"/>
              <a:t>Assumptions</a:t>
            </a:r>
          </a:p>
        </p:txBody>
      </p:sp>
      <p:sp>
        <p:nvSpPr>
          <p:cNvPr id="3" name="Rectangle: Rounded Corners 2">
            <a:extLst>
              <a:ext uri="{FF2B5EF4-FFF2-40B4-BE49-F238E27FC236}">
                <a16:creationId xmlns:a16="http://schemas.microsoft.com/office/drawing/2014/main" id="{3E01E9E7-0B47-9DD2-6D30-9C887D164921}"/>
              </a:ext>
            </a:extLst>
          </p:cNvPr>
          <p:cNvSpPr/>
          <p:nvPr/>
        </p:nvSpPr>
        <p:spPr>
          <a:xfrm>
            <a:off x="838200" y="1329077"/>
            <a:ext cx="5257798" cy="533114"/>
          </a:xfrm>
          <a:prstGeom prst="roundRect">
            <a:avLst>
              <a:gd name="adj" fmla="val 23966"/>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183B84C5-80C7-B9FC-1592-3ED685EB6B07}"/>
              </a:ext>
            </a:extLst>
          </p:cNvPr>
          <p:cNvSpPr/>
          <p:nvPr/>
        </p:nvSpPr>
        <p:spPr>
          <a:xfrm>
            <a:off x="6095998" y="1329077"/>
            <a:ext cx="5257798" cy="533114"/>
          </a:xfrm>
          <a:prstGeom prst="roundRect">
            <a:avLst>
              <a:gd name="adj" fmla="val 23966"/>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D3FF43A-D34C-D2E1-0E8B-8EB15FAED288}"/>
              </a:ext>
            </a:extLst>
          </p:cNvPr>
          <p:cNvSpPr/>
          <p:nvPr/>
        </p:nvSpPr>
        <p:spPr>
          <a:xfrm>
            <a:off x="814852" y="4142656"/>
            <a:ext cx="5257798" cy="898206"/>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23580048-76F4-6938-4AF7-7CEA5AB255A8}"/>
              </a:ext>
            </a:extLst>
          </p:cNvPr>
          <p:cNvGrpSpPr/>
          <p:nvPr/>
        </p:nvGrpSpPr>
        <p:grpSpPr>
          <a:xfrm>
            <a:off x="838202" y="2018446"/>
            <a:ext cx="5257798" cy="924259"/>
            <a:chOff x="838202" y="2018446"/>
            <a:chExt cx="5257798" cy="924259"/>
          </a:xfrm>
          <a:solidFill>
            <a:schemeClr val="accent5">
              <a:lumMod val="40000"/>
              <a:lumOff val="60000"/>
            </a:schemeClr>
          </a:solidFill>
        </p:grpSpPr>
        <p:sp>
          <p:nvSpPr>
            <p:cNvPr id="5" name="Rectangle: Rounded Corners 4">
              <a:extLst>
                <a:ext uri="{FF2B5EF4-FFF2-40B4-BE49-F238E27FC236}">
                  <a16:creationId xmlns:a16="http://schemas.microsoft.com/office/drawing/2014/main" id="{2EB27C08-09C3-5EAA-AE97-31EFE3EB236A}"/>
                </a:ext>
              </a:extLst>
            </p:cNvPr>
            <p:cNvSpPr/>
            <p:nvPr/>
          </p:nvSpPr>
          <p:spPr>
            <a:xfrm>
              <a:off x="838202" y="2018446"/>
              <a:ext cx="5257798" cy="924259"/>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 name="TextBox 31">
              <a:extLst>
                <a:ext uri="{FF2B5EF4-FFF2-40B4-BE49-F238E27FC236}">
                  <a16:creationId xmlns:a16="http://schemas.microsoft.com/office/drawing/2014/main" id="{C985964B-1DED-B840-33A8-A5C9B5ED9BF6}"/>
                </a:ext>
              </a:extLst>
            </p:cNvPr>
            <p:cNvSpPr txBox="1"/>
            <p:nvPr/>
          </p:nvSpPr>
          <p:spPr>
            <a:xfrm>
              <a:off x="1238493" y="2040100"/>
              <a:ext cx="3533012" cy="461665"/>
            </a:xfrm>
            <a:prstGeom prst="rect">
              <a:avLst/>
            </a:prstGeom>
            <a:grpFill/>
          </p:spPr>
          <p:txBody>
            <a:bodyPr wrap="square" lIns="0" rIns="0" rtlCol="0" anchor="b">
              <a:spAutoFit/>
            </a:bodyPr>
            <a:lstStyle/>
            <a:p>
              <a:pPr algn="ctr"/>
              <a:r>
                <a:rPr lang="en-US" sz="2400" b="1" noProof="1">
                  <a:solidFill>
                    <a:schemeClr val="bg1"/>
                  </a:solidFill>
                </a:rPr>
                <a:t>Major Crashes Only</a:t>
              </a:r>
            </a:p>
          </p:txBody>
        </p:sp>
        <p:sp>
          <p:nvSpPr>
            <p:cNvPr id="33" name="TextBox 32">
              <a:extLst>
                <a:ext uri="{FF2B5EF4-FFF2-40B4-BE49-F238E27FC236}">
                  <a16:creationId xmlns:a16="http://schemas.microsoft.com/office/drawing/2014/main" id="{D7C270AF-4A86-E52F-954B-3720ABD8334E}"/>
                </a:ext>
              </a:extLst>
            </p:cNvPr>
            <p:cNvSpPr txBox="1"/>
            <p:nvPr/>
          </p:nvSpPr>
          <p:spPr>
            <a:xfrm>
              <a:off x="1193453" y="2457965"/>
              <a:ext cx="3863685" cy="400110"/>
            </a:xfrm>
            <a:prstGeom prst="rect">
              <a:avLst/>
            </a:prstGeom>
            <a:grpFill/>
          </p:spPr>
          <p:txBody>
            <a:bodyPr wrap="square" lIns="0" rIns="0" rtlCol="0" anchor="t">
              <a:spAutoFit/>
            </a:bodyPr>
            <a:lstStyle/>
            <a:p>
              <a:pPr lvl="0">
                <a:buNone/>
              </a:pPr>
              <a:r>
                <a:rPr lang="en-US" sz="2000">
                  <a:solidFill>
                    <a:schemeClr val="bg1"/>
                  </a:solidFill>
                </a:rPr>
                <a:t>Exclude 1 aboard, 1 death cases</a:t>
              </a:r>
            </a:p>
          </p:txBody>
        </p:sp>
      </p:grpSp>
      <p:sp>
        <p:nvSpPr>
          <p:cNvPr id="50" name="TextBox 49">
            <a:extLst>
              <a:ext uri="{FF2B5EF4-FFF2-40B4-BE49-F238E27FC236}">
                <a16:creationId xmlns:a16="http://schemas.microsoft.com/office/drawing/2014/main" id="{07386157-4F34-4475-2668-7847ECD90B34}"/>
              </a:ext>
            </a:extLst>
          </p:cNvPr>
          <p:cNvSpPr txBox="1"/>
          <p:nvPr/>
        </p:nvSpPr>
        <p:spPr>
          <a:xfrm>
            <a:off x="1238492" y="1334024"/>
            <a:ext cx="3703321" cy="523220"/>
          </a:xfrm>
          <a:prstGeom prst="rect">
            <a:avLst/>
          </a:prstGeom>
          <a:noFill/>
        </p:spPr>
        <p:txBody>
          <a:bodyPr wrap="square" lIns="0" rIns="0" rtlCol="0" anchor="ctr">
            <a:spAutoFit/>
          </a:bodyPr>
          <a:lstStyle/>
          <a:p>
            <a:pPr algn="ctr"/>
            <a:r>
              <a:rPr lang="en-US" sz="2800" b="1" cap="all" noProof="1">
                <a:solidFill>
                  <a:schemeClr val="bg1"/>
                </a:solidFill>
              </a:rPr>
              <a:t>Data &amp; Filtering</a:t>
            </a:r>
          </a:p>
        </p:txBody>
      </p:sp>
      <p:sp>
        <p:nvSpPr>
          <p:cNvPr id="51" name="TextBox 50">
            <a:extLst>
              <a:ext uri="{FF2B5EF4-FFF2-40B4-BE49-F238E27FC236}">
                <a16:creationId xmlns:a16="http://schemas.microsoft.com/office/drawing/2014/main" id="{8DA218CF-17CF-3810-EF6B-E8AD914E82D3}"/>
              </a:ext>
            </a:extLst>
          </p:cNvPr>
          <p:cNvSpPr txBox="1"/>
          <p:nvPr/>
        </p:nvSpPr>
        <p:spPr>
          <a:xfrm>
            <a:off x="7170995" y="1334024"/>
            <a:ext cx="3703321" cy="523220"/>
          </a:xfrm>
          <a:prstGeom prst="rect">
            <a:avLst/>
          </a:prstGeom>
          <a:noFill/>
        </p:spPr>
        <p:txBody>
          <a:bodyPr wrap="square" lIns="0" rIns="0" rtlCol="0" anchor="ctr">
            <a:spAutoFit/>
          </a:bodyPr>
          <a:lstStyle/>
          <a:p>
            <a:pPr algn="ctr"/>
            <a:r>
              <a:rPr lang="en-US" sz="2800" b="1" cap="all" noProof="1">
                <a:solidFill>
                  <a:schemeClr val="bg1"/>
                </a:solidFill>
              </a:rPr>
              <a:t>Causal</a:t>
            </a:r>
          </a:p>
        </p:txBody>
      </p:sp>
      <p:sp>
        <p:nvSpPr>
          <p:cNvPr id="15" name="TextBox 14">
            <a:extLst>
              <a:ext uri="{FF2B5EF4-FFF2-40B4-BE49-F238E27FC236}">
                <a16:creationId xmlns:a16="http://schemas.microsoft.com/office/drawing/2014/main" id="{B60111D3-4F52-5FE2-DB9F-06EA99835365}"/>
              </a:ext>
            </a:extLst>
          </p:cNvPr>
          <p:cNvSpPr txBox="1"/>
          <p:nvPr/>
        </p:nvSpPr>
        <p:spPr>
          <a:xfrm>
            <a:off x="1325752" y="4106834"/>
            <a:ext cx="3703321" cy="461664"/>
          </a:xfrm>
          <a:prstGeom prst="rect">
            <a:avLst/>
          </a:prstGeom>
          <a:noFill/>
        </p:spPr>
        <p:txBody>
          <a:bodyPr wrap="square" lIns="0" rIns="0" rtlCol="0" anchor="b">
            <a:spAutoFit/>
          </a:bodyPr>
          <a:lstStyle/>
          <a:p>
            <a:pPr algn="ctr"/>
            <a:r>
              <a:rPr lang="en-US" sz="2400" b="1" noProof="1">
                <a:solidFill>
                  <a:schemeClr val="bg1"/>
                </a:solidFill>
              </a:rPr>
              <a:t>Clean Data Only</a:t>
            </a:r>
          </a:p>
        </p:txBody>
      </p:sp>
      <p:sp>
        <p:nvSpPr>
          <p:cNvPr id="16" name="TextBox 15">
            <a:extLst>
              <a:ext uri="{FF2B5EF4-FFF2-40B4-BE49-F238E27FC236}">
                <a16:creationId xmlns:a16="http://schemas.microsoft.com/office/drawing/2014/main" id="{8351CF1C-E332-50A3-9557-F6F02EB88D1D}"/>
              </a:ext>
            </a:extLst>
          </p:cNvPr>
          <p:cNvSpPr txBox="1"/>
          <p:nvPr/>
        </p:nvSpPr>
        <p:spPr>
          <a:xfrm>
            <a:off x="1134345" y="4587501"/>
            <a:ext cx="3981903" cy="323165"/>
          </a:xfrm>
          <a:prstGeom prst="rect">
            <a:avLst/>
          </a:prstGeom>
          <a:noFill/>
        </p:spPr>
        <p:txBody>
          <a:bodyPr wrap="square" lIns="0" rIns="0" rtlCol="0" anchor="t">
            <a:spAutoFit/>
          </a:bodyPr>
          <a:lstStyle/>
          <a:p>
            <a:pPr lvl="0">
              <a:buNone/>
            </a:pPr>
            <a:r>
              <a:rPr lang="en-US" sz="1500">
                <a:solidFill>
                  <a:schemeClr val="bg1"/>
                </a:solidFill>
              </a:rPr>
              <a:t>Removed unknown/undetermined summaries</a:t>
            </a:r>
          </a:p>
        </p:txBody>
      </p:sp>
      <p:sp>
        <p:nvSpPr>
          <p:cNvPr id="18" name="TextBox 17">
            <a:extLst>
              <a:ext uri="{FF2B5EF4-FFF2-40B4-BE49-F238E27FC236}">
                <a16:creationId xmlns:a16="http://schemas.microsoft.com/office/drawing/2014/main" id="{8BA2193D-229E-EA8B-D888-28DD6F2F82AC}"/>
              </a:ext>
            </a:extLst>
          </p:cNvPr>
          <p:cNvSpPr txBox="1"/>
          <p:nvPr/>
        </p:nvSpPr>
        <p:spPr>
          <a:xfrm>
            <a:off x="1400514" y="5120021"/>
            <a:ext cx="3703321" cy="461664"/>
          </a:xfrm>
          <a:prstGeom prst="rect">
            <a:avLst/>
          </a:prstGeom>
          <a:noFill/>
        </p:spPr>
        <p:txBody>
          <a:bodyPr wrap="square" lIns="0" rIns="0" rtlCol="0" anchor="b">
            <a:spAutoFit/>
          </a:bodyPr>
          <a:lstStyle/>
          <a:p>
            <a:pPr algn="ctr"/>
            <a:r>
              <a:rPr lang="en-US" sz="2400" b="1" noProof="1">
                <a:solidFill>
                  <a:schemeClr val="bg1"/>
                </a:solidFill>
              </a:rPr>
              <a:t>Bias Dataset Note</a:t>
            </a:r>
          </a:p>
        </p:txBody>
      </p:sp>
      <p:sp>
        <p:nvSpPr>
          <p:cNvPr id="19" name="TextBox 18">
            <a:extLst>
              <a:ext uri="{FF2B5EF4-FFF2-40B4-BE49-F238E27FC236}">
                <a16:creationId xmlns:a16="http://schemas.microsoft.com/office/drawing/2014/main" id="{DA937EAB-F462-0D7E-3138-647E79F7820C}"/>
              </a:ext>
            </a:extLst>
          </p:cNvPr>
          <p:cNvSpPr txBox="1"/>
          <p:nvPr/>
        </p:nvSpPr>
        <p:spPr>
          <a:xfrm>
            <a:off x="1350556" y="5577986"/>
            <a:ext cx="3678517" cy="338554"/>
          </a:xfrm>
          <a:prstGeom prst="rect">
            <a:avLst/>
          </a:prstGeom>
          <a:noFill/>
        </p:spPr>
        <p:txBody>
          <a:bodyPr wrap="square" lIns="0" rIns="0" rtlCol="0" anchor="t">
            <a:spAutoFit/>
          </a:bodyPr>
          <a:lstStyle/>
          <a:p>
            <a:pPr lvl="0">
              <a:buNone/>
            </a:pPr>
            <a:r>
              <a:rPr lang="en-US" sz="1600">
                <a:solidFill>
                  <a:schemeClr val="bg1"/>
                </a:solidFill>
              </a:rPr>
              <a:t>Dataset Only Includes Lethal Crashes</a:t>
            </a:r>
            <a:endParaRPr lang="en-US" sz="1500">
              <a:solidFill>
                <a:schemeClr val="bg1"/>
              </a:solidFill>
            </a:endParaRPr>
          </a:p>
        </p:txBody>
      </p:sp>
      <p:sp>
        <p:nvSpPr>
          <p:cNvPr id="59" name="Rectangle: Rounded Corners 58">
            <a:extLst>
              <a:ext uri="{FF2B5EF4-FFF2-40B4-BE49-F238E27FC236}">
                <a16:creationId xmlns:a16="http://schemas.microsoft.com/office/drawing/2014/main" id="{8861EC21-50A4-6ECD-52C5-59361949F66A}"/>
              </a:ext>
            </a:extLst>
          </p:cNvPr>
          <p:cNvSpPr/>
          <p:nvPr/>
        </p:nvSpPr>
        <p:spPr>
          <a:xfrm>
            <a:off x="6048238" y="5074873"/>
            <a:ext cx="5257798" cy="898206"/>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1" name="Rectangle: Rounded Corners 60">
            <a:extLst>
              <a:ext uri="{FF2B5EF4-FFF2-40B4-BE49-F238E27FC236}">
                <a16:creationId xmlns:a16="http://schemas.microsoft.com/office/drawing/2014/main" id="{7F1332B7-14A4-E384-D1AC-BA84ED927116}"/>
              </a:ext>
            </a:extLst>
          </p:cNvPr>
          <p:cNvSpPr/>
          <p:nvPr/>
        </p:nvSpPr>
        <p:spPr>
          <a:xfrm>
            <a:off x="6071585" y="3006894"/>
            <a:ext cx="5257798" cy="98891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2" name="TextBox 61">
            <a:extLst>
              <a:ext uri="{FF2B5EF4-FFF2-40B4-BE49-F238E27FC236}">
                <a16:creationId xmlns:a16="http://schemas.microsoft.com/office/drawing/2014/main" id="{CD503D1E-E2E9-764C-6840-BF3A5915D769}"/>
              </a:ext>
            </a:extLst>
          </p:cNvPr>
          <p:cNvSpPr txBox="1"/>
          <p:nvPr/>
        </p:nvSpPr>
        <p:spPr>
          <a:xfrm>
            <a:off x="7028984" y="2939598"/>
            <a:ext cx="3987342" cy="461665"/>
          </a:xfrm>
          <a:prstGeom prst="rect">
            <a:avLst/>
          </a:prstGeom>
          <a:noFill/>
        </p:spPr>
        <p:txBody>
          <a:bodyPr wrap="square" lIns="0" rIns="0" rtlCol="0" anchor="b">
            <a:spAutoFit/>
          </a:bodyPr>
          <a:lstStyle/>
          <a:p>
            <a:pPr algn="ctr"/>
            <a:r>
              <a:rPr lang="en-US" sz="2300" b="1" noProof="1">
                <a:solidFill>
                  <a:schemeClr val="bg1"/>
                </a:solidFill>
              </a:rPr>
              <a:t>Required/Forbidden Edges</a:t>
            </a:r>
          </a:p>
        </p:txBody>
      </p:sp>
      <p:sp>
        <p:nvSpPr>
          <p:cNvPr id="63" name="TextBox 62">
            <a:extLst>
              <a:ext uri="{FF2B5EF4-FFF2-40B4-BE49-F238E27FC236}">
                <a16:creationId xmlns:a16="http://schemas.microsoft.com/office/drawing/2014/main" id="{FB7DB0C4-55A9-47E7-4BAD-ADF7CE20667B}"/>
              </a:ext>
            </a:extLst>
          </p:cNvPr>
          <p:cNvSpPr txBox="1"/>
          <p:nvPr/>
        </p:nvSpPr>
        <p:spPr>
          <a:xfrm>
            <a:off x="7427926" y="3294464"/>
            <a:ext cx="3198567" cy="646331"/>
          </a:xfrm>
          <a:prstGeom prst="rect">
            <a:avLst/>
          </a:prstGeom>
          <a:noFill/>
        </p:spPr>
        <p:txBody>
          <a:bodyPr wrap="square" lIns="0" rIns="0" rtlCol="0" anchor="t">
            <a:spAutoFit/>
          </a:bodyPr>
          <a:lstStyle/>
          <a:p>
            <a:pPr lvl="0" indent="-182880">
              <a:buClr>
                <a:schemeClr val="bg1"/>
              </a:buClr>
              <a:buFont typeface="Arial" panose="020B0604020202020204" pitchFamily="34" charset="0"/>
              <a:buChar char="•"/>
            </a:pPr>
            <a:r>
              <a:rPr lang="en-US" sz="1800" err="1">
                <a:solidFill>
                  <a:schemeClr val="bg1"/>
                </a:solidFill>
              </a:rPr>
              <a:t>pilot_error</a:t>
            </a:r>
            <a:r>
              <a:rPr lang="en-US" sz="1800">
                <a:solidFill>
                  <a:schemeClr val="bg1"/>
                </a:solidFill>
              </a:rPr>
              <a:t> → </a:t>
            </a:r>
            <a:r>
              <a:rPr lang="en-US" sz="1800" err="1">
                <a:solidFill>
                  <a:schemeClr val="bg1"/>
                </a:solidFill>
              </a:rPr>
              <a:t>cfit</a:t>
            </a:r>
            <a:r>
              <a:rPr lang="en-US" sz="1800">
                <a:solidFill>
                  <a:schemeClr val="bg1"/>
                </a:solidFill>
              </a:rPr>
              <a:t> (required)</a:t>
            </a:r>
          </a:p>
          <a:p>
            <a:pPr lvl="0" indent="-182880">
              <a:buClr>
                <a:schemeClr val="bg1"/>
              </a:buClr>
              <a:buFont typeface="Arial" panose="020B0604020202020204" pitchFamily="34" charset="0"/>
              <a:buChar char="•"/>
            </a:pPr>
            <a:r>
              <a:rPr lang="en-US" sz="1800" err="1">
                <a:solidFill>
                  <a:schemeClr val="bg1"/>
                </a:solidFill>
              </a:rPr>
              <a:t>cfit</a:t>
            </a:r>
            <a:r>
              <a:rPr lang="en-US" sz="1800">
                <a:solidFill>
                  <a:schemeClr val="bg1"/>
                </a:solidFill>
              </a:rPr>
              <a:t> → </a:t>
            </a:r>
            <a:r>
              <a:rPr lang="en-US" sz="1800" err="1">
                <a:solidFill>
                  <a:schemeClr val="bg1"/>
                </a:solidFill>
              </a:rPr>
              <a:t>pilot_error</a:t>
            </a:r>
            <a:r>
              <a:rPr lang="en-US" sz="1800">
                <a:solidFill>
                  <a:schemeClr val="bg1"/>
                </a:solidFill>
              </a:rPr>
              <a:t> (forbidden)</a:t>
            </a:r>
          </a:p>
        </p:txBody>
      </p:sp>
      <p:sp>
        <p:nvSpPr>
          <p:cNvPr id="64" name="Rectangle: Rounded Corners 63">
            <a:extLst>
              <a:ext uri="{FF2B5EF4-FFF2-40B4-BE49-F238E27FC236}">
                <a16:creationId xmlns:a16="http://schemas.microsoft.com/office/drawing/2014/main" id="{3E9BF1E3-8AEE-939E-8B7C-7F8A27F6C9B5}"/>
              </a:ext>
            </a:extLst>
          </p:cNvPr>
          <p:cNvSpPr/>
          <p:nvPr/>
        </p:nvSpPr>
        <p:spPr>
          <a:xfrm>
            <a:off x="6048238" y="4123653"/>
            <a:ext cx="5257798" cy="89820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6" name="Rectangle: Rounded Corners 65">
            <a:extLst>
              <a:ext uri="{FF2B5EF4-FFF2-40B4-BE49-F238E27FC236}">
                <a16:creationId xmlns:a16="http://schemas.microsoft.com/office/drawing/2014/main" id="{0C80B4B1-7308-7D8D-A54C-DF032DF132EF}"/>
              </a:ext>
            </a:extLst>
          </p:cNvPr>
          <p:cNvSpPr/>
          <p:nvPr/>
        </p:nvSpPr>
        <p:spPr>
          <a:xfrm>
            <a:off x="6071588" y="1999443"/>
            <a:ext cx="5257798" cy="924259"/>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7" name="TextBox 66">
            <a:extLst>
              <a:ext uri="{FF2B5EF4-FFF2-40B4-BE49-F238E27FC236}">
                <a16:creationId xmlns:a16="http://schemas.microsoft.com/office/drawing/2014/main" id="{212797B9-70E3-B691-F242-14AE58E77954}"/>
              </a:ext>
            </a:extLst>
          </p:cNvPr>
          <p:cNvSpPr txBox="1"/>
          <p:nvPr/>
        </p:nvSpPr>
        <p:spPr>
          <a:xfrm>
            <a:off x="7166507" y="1956154"/>
            <a:ext cx="3712297" cy="369332"/>
          </a:xfrm>
          <a:prstGeom prst="rect">
            <a:avLst/>
          </a:prstGeom>
          <a:noFill/>
        </p:spPr>
        <p:txBody>
          <a:bodyPr wrap="square" lIns="0" rIns="0" rtlCol="0" anchor="b">
            <a:spAutoFit/>
          </a:bodyPr>
          <a:lstStyle/>
          <a:p>
            <a:pPr algn="ctr"/>
            <a:r>
              <a:rPr lang="en-US" sz="1800" b="1" noProof="1">
                <a:solidFill>
                  <a:schemeClr val="bg1"/>
                </a:solidFill>
              </a:rPr>
              <a:t>Exogenous Variables</a:t>
            </a:r>
          </a:p>
        </p:txBody>
      </p:sp>
      <p:sp>
        <p:nvSpPr>
          <p:cNvPr id="69" name="TextBox 68">
            <a:extLst>
              <a:ext uri="{FF2B5EF4-FFF2-40B4-BE49-F238E27FC236}">
                <a16:creationId xmlns:a16="http://schemas.microsoft.com/office/drawing/2014/main" id="{3BD39DF3-7B80-C34E-9C16-4BF1117756E0}"/>
              </a:ext>
            </a:extLst>
          </p:cNvPr>
          <p:cNvSpPr txBox="1"/>
          <p:nvPr/>
        </p:nvSpPr>
        <p:spPr>
          <a:xfrm>
            <a:off x="7500673" y="4059996"/>
            <a:ext cx="3043963" cy="461664"/>
          </a:xfrm>
          <a:prstGeom prst="rect">
            <a:avLst/>
          </a:prstGeom>
          <a:noFill/>
        </p:spPr>
        <p:txBody>
          <a:bodyPr wrap="square" lIns="0" rIns="0" rtlCol="0" anchor="b">
            <a:spAutoFit/>
          </a:bodyPr>
          <a:lstStyle/>
          <a:p>
            <a:pPr algn="ctr"/>
            <a:r>
              <a:rPr lang="en-US" sz="2400" b="1" noProof="1">
                <a:solidFill>
                  <a:schemeClr val="bg1"/>
                </a:solidFill>
              </a:rPr>
              <a:t>Outcome Constraint</a:t>
            </a:r>
          </a:p>
        </p:txBody>
      </p:sp>
      <p:sp>
        <p:nvSpPr>
          <p:cNvPr id="70" name="TextBox 69">
            <a:extLst>
              <a:ext uri="{FF2B5EF4-FFF2-40B4-BE49-F238E27FC236}">
                <a16:creationId xmlns:a16="http://schemas.microsoft.com/office/drawing/2014/main" id="{759AAEA4-E08B-2A31-D54C-DD0D018947B4}"/>
              </a:ext>
            </a:extLst>
          </p:cNvPr>
          <p:cNvSpPr txBox="1"/>
          <p:nvPr/>
        </p:nvSpPr>
        <p:spPr>
          <a:xfrm>
            <a:off x="7323460" y="5092020"/>
            <a:ext cx="3703321" cy="446276"/>
          </a:xfrm>
          <a:prstGeom prst="rect">
            <a:avLst/>
          </a:prstGeom>
          <a:noFill/>
        </p:spPr>
        <p:txBody>
          <a:bodyPr wrap="square" lIns="0" rIns="0" rtlCol="0" anchor="b">
            <a:spAutoFit/>
          </a:bodyPr>
          <a:lstStyle/>
          <a:p>
            <a:pPr algn="ctr"/>
            <a:r>
              <a:rPr lang="en-US" sz="2300" b="1" noProof="1">
                <a:solidFill>
                  <a:schemeClr val="bg1"/>
                </a:solidFill>
              </a:rPr>
              <a:t>Directed by Logic</a:t>
            </a:r>
          </a:p>
        </p:txBody>
      </p:sp>
      <p:grpSp>
        <p:nvGrpSpPr>
          <p:cNvPr id="72" name="Group 71">
            <a:extLst>
              <a:ext uri="{FF2B5EF4-FFF2-40B4-BE49-F238E27FC236}">
                <a16:creationId xmlns:a16="http://schemas.microsoft.com/office/drawing/2014/main" id="{303156E3-2667-E756-7995-FCA72972607B}"/>
              </a:ext>
            </a:extLst>
          </p:cNvPr>
          <p:cNvGrpSpPr/>
          <p:nvPr/>
        </p:nvGrpSpPr>
        <p:grpSpPr>
          <a:xfrm>
            <a:off x="5178598" y="1121854"/>
            <a:ext cx="1507787" cy="5002832"/>
            <a:chOff x="4090025" y="999934"/>
            <a:chExt cx="1507787" cy="5002832"/>
          </a:xfrm>
        </p:grpSpPr>
        <p:sp>
          <p:nvSpPr>
            <p:cNvPr id="27" name="Rectangle: Rounded Corners 26">
              <a:extLst>
                <a:ext uri="{FF2B5EF4-FFF2-40B4-BE49-F238E27FC236}">
                  <a16:creationId xmlns:a16="http://schemas.microsoft.com/office/drawing/2014/main" id="{4A1B7CCC-754E-67D9-4F3C-015D99280F85}"/>
                </a:ext>
              </a:extLst>
            </p:cNvPr>
            <p:cNvSpPr/>
            <p:nvPr/>
          </p:nvSpPr>
          <p:spPr>
            <a:xfrm>
              <a:off x="4090025" y="999934"/>
              <a:ext cx="1507787" cy="5002832"/>
            </a:xfrm>
            <a:prstGeom prst="roundRect">
              <a:avLst>
                <a:gd name="adj" fmla="val 10215"/>
              </a:avLst>
            </a:prstGeom>
            <a:solidFill>
              <a:schemeClr val="bg1"/>
            </a:solidFill>
            <a:ln>
              <a:noFill/>
            </a:ln>
            <a:effectLst>
              <a:outerShdw blurRad="114300" dist="63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8E0FBBD5-0F60-20A9-9DF1-6CFAAAC19ED1}"/>
                </a:ext>
              </a:extLst>
            </p:cNvPr>
            <p:cNvSpPr txBox="1"/>
            <p:nvPr/>
          </p:nvSpPr>
          <p:spPr>
            <a:xfrm>
              <a:off x="4500715" y="3172544"/>
              <a:ext cx="686406" cy="584775"/>
            </a:xfrm>
            <a:prstGeom prst="rect">
              <a:avLst/>
            </a:prstGeom>
            <a:noFill/>
          </p:spPr>
          <p:txBody>
            <a:bodyPr wrap="none" rtlCol="0" anchor="ctr">
              <a:spAutoFit/>
            </a:bodyPr>
            <a:lstStyle/>
            <a:p>
              <a:pPr algn="ctr"/>
              <a:r>
                <a:rPr lang="en-US" sz="3200" b="1">
                  <a:solidFill>
                    <a:schemeClr val="tx1"/>
                  </a:solidFill>
                </a:rPr>
                <a:t>Vs</a:t>
              </a:r>
            </a:p>
          </p:txBody>
        </p:sp>
      </p:grpSp>
      <p:sp>
        <p:nvSpPr>
          <p:cNvPr id="76" name="TextBox 75">
            <a:extLst>
              <a:ext uri="{FF2B5EF4-FFF2-40B4-BE49-F238E27FC236}">
                <a16:creationId xmlns:a16="http://schemas.microsoft.com/office/drawing/2014/main" id="{FE06DE20-1947-2314-5B66-AC96CF79FF1C}"/>
              </a:ext>
            </a:extLst>
          </p:cNvPr>
          <p:cNvSpPr txBox="1"/>
          <p:nvPr/>
        </p:nvSpPr>
        <p:spPr>
          <a:xfrm>
            <a:off x="6878547" y="2211365"/>
            <a:ext cx="4659518" cy="738664"/>
          </a:xfrm>
          <a:prstGeom prst="rect">
            <a:avLst/>
          </a:prstGeom>
          <a:noFill/>
        </p:spPr>
        <p:txBody>
          <a:bodyPr wrap="square">
            <a:spAutoFit/>
          </a:bodyPr>
          <a:lstStyle/>
          <a:p>
            <a:pPr marL="182880" indent="-182880">
              <a:buClr>
                <a:schemeClr val="bg1"/>
              </a:buClr>
              <a:buFont typeface="Arial" panose="020B0604020202020204" pitchFamily="34" charset="0"/>
              <a:buChar char="•"/>
            </a:pPr>
            <a:r>
              <a:rPr lang="en-US">
                <a:solidFill>
                  <a:schemeClr val="bg1"/>
                </a:solidFill>
              </a:rPr>
              <a:t>Subregion → root node</a:t>
            </a:r>
          </a:p>
          <a:p>
            <a:pPr indent="-182880">
              <a:buClr>
                <a:schemeClr val="bg1"/>
              </a:buClr>
              <a:buFont typeface="Arial" panose="020B0604020202020204" pitchFamily="34" charset="0"/>
              <a:buChar char="•"/>
            </a:pPr>
            <a:r>
              <a:rPr lang="en-US" err="1">
                <a:solidFill>
                  <a:schemeClr val="bg1"/>
                </a:solidFill>
              </a:rPr>
              <a:t>is_military</a:t>
            </a:r>
            <a:r>
              <a:rPr lang="en-US">
                <a:solidFill>
                  <a:schemeClr val="bg1"/>
                </a:solidFill>
              </a:rPr>
              <a:t> → fully exogenous</a:t>
            </a:r>
          </a:p>
          <a:p>
            <a:pPr indent="-182880">
              <a:buClr>
                <a:schemeClr val="bg1"/>
              </a:buClr>
              <a:buFont typeface="Arial" panose="020B0604020202020204" pitchFamily="34" charset="0"/>
              <a:buChar char="•"/>
            </a:pPr>
            <a:r>
              <a:rPr lang="en-US">
                <a:solidFill>
                  <a:schemeClr val="bg1"/>
                </a:solidFill>
              </a:rPr>
              <a:t>Weather → exogenous (except subregion influence)</a:t>
            </a:r>
          </a:p>
        </p:txBody>
      </p:sp>
      <p:sp>
        <p:nvSpPr>
          <p:cNvPr id="78" name="TextBox 77">
            <a:extLst>
              <a:ext uri="{FF2B5EF4-FFF2-40B4-BE49-F238E27FC236}">
                <a16:creationId xmlns:a16="http://schemas.microsoft.com/office/drawing/2014/main" id="{E062BE1F-6B08-46FD-7199-B50985FD8F17}"/>
              </a:ext>
            </a:extLst>
          </p:cNvPr>
          <p:cNvSpPr txBox="1"/>
          <p:nvPr/>
        </p:nvSpPr>
        <p:spPr>
          <a:xfrm>
            <a:off x="7334089" y="4437084"/>
            <a:ext cx="4070760" cy="584775"/>
          </a:xfrm>
          <a:prstGeom prst="rect">
            <a:avLst/>
          </a:prstGeom>
          <a:noFill/>
        </p:spPr>
        <p:txBody>
          <a:bodyPr wrap="square" lIns="0" rIns="0" rtlCol="0" anchor="t">
            <a:spAutoFit/>
          </a:bodyPr>
          <a:lstStyle/>
          <a:p>
            <a:pPr lvl="0" indent="-182880">
              <a:buClr>
                <a:schemeClr val="bg1"/>
              </a:buClr>
              <a:buFont typeface="Arial" panose="020B0604020202020204" pitchFamily="34" charset="0"/>
              <a:buChar char="•"/>
            </a:pPr>
            <a:r>
              <a:rPr lang="en-US" sz="1600" err="1">
                <a:solidFill>
                  <a:schemeClr val="bg1"/>
                </a:solidFill>
              </a:rPr>
              <a:t>high_lethality</a:t>
            </a:r>
            <a:r>
              <a:rPr lang="en-US" sz="1600">
                <a:solidFill>
                  <a:schemeClr val="bg1"/>
                </a:solidFill>
              </a:rPr>
              <a:t> = sink</a:t>
            </a:r>
          </a:p>
          <a:p>
            <a:pPr lvl="0" indent="-182880">
              <a:buClr>
                <a:schemeClr val="bg1"/>
              </a:buClr>
              <a:buFont typeface="Arial" panose="020B0604020202020204" pitchFamily="34" charset="0"/>
              <a:buChar char="•"/>
            </a:pPr>
            <a:r>
              <a:rPr lang="en-US" sz="1600" err="1">
                <a:solidFill>
                  <a:schemeClr val="bg1"/>
                </a:solidFill>
              </a:rPr>
              <a:t>nodeCannot</a:t>
            </a:r>
            <a:r>
              <a:rPr lang="en-US" sz="1600">
                <a:solidFill>
                  <a:schemeClr val="bg1"/>
                </a:solidFill>
              </a:rPr>
              <a:t> cause any other variable</a:t>
            </a:r>
          </a:p>
        </p:txBody>
      </p:sp>
      <p:sp>
        <p:nvSpPr>
          <p:cNvPr id="80" name="TextBox 79">
            <a:extLst>
              <a:ext uri="{FF2B5EF4-FFF2-40B4-BE49-F238E27FC236}">
                <a16:creationId xmlns:a16="http://schemas.microsoft.com/office/drawing/2014/main" id="{EE58C923-F757-4D97-E9BA-99FBD7B0030F}"/>
              </a:ext>
            </a:extLst>
          </p:cNvPr>
          <p:cNvSpPr txBox="1"/>
          <p:nvPr/>
        </p:nvSpPr>
        <p:spPr>
          <a:xfrm>
            <a:off x="7427926" y="5379762"/>
            <a:ext cx="4070760" cy="584775"/>
          </a:xfrm>
          <a:prstGeom prst="rect">
            <a:avLst/>
          </a:prstGeom>
          <a:noFill/>
        </p:spPr>
        <p:txBody>
          <a:bodyPr wrap="square" lIns="0" rIns="0" rtlCol="0" anchor="t">
            <a:spAutoFit/>
          </a:bodyPr>
          <a:lstStyle/>
          <a:p>
            <a:pPr lvl="0" indent="-182880">
              <a:buClr>
                <a:schemeClr val="bg1"/>
              </a:buClr>
              <a:buFont typeface="Arial" panose="020B0604020202020204" pitchFamily="34" charset="0"/>
              <a:buChar char="•"/>
            </a:pPr>
            <a:r>
              <a:rPr lang="en-US" sz="1600">
                <a:solidFill>
                  <a:schemeClr val="bg1"/>
                </a:solidFill>
              </a:rPr>
              <a:t>mechanical → </a:t>
            </a:r>
            <a:r>
              <a:rPr lang="en-US" sz="1600" err="1">
                <a:solidFill>
                  <a:schemeClr val="bg1"/>
                </a:solidFill>
              </a:rPr>
              <a:t>high_lethality</a:t>
            </a:r>
            <a:endParaRPr lang="en-US" sz="1600">
              <a:solidFill>
                <a:schemeClr val="bg1"/>
              </a:solidFill>
            </a:endParaRPr>
          </a:p>
          <a:p>
            <a:pPr lvl="0" indent="-182880">
              <a:buClr>
                <a:schemeClr val="bg1"/>
              </a:buClr>
              <a:buFont typeface="Arial" panose="020B0604020202020204" pitchFamily="34" charset="0"/>
              <a:buChar char="•"/>
            </a:pPr>
            <a:r>
              <a:rPr lang="en-US" sz="1600">
                <a:solidFill>
                  <a:schemeClr val="bg1"/>
                </a:solidFill>
              </a:rPr>
              <a:t>Reverse direction forbidden</a:t>
            </a:r>
          </a:p>
        </p:txBody>
      </p:sp>
      <p:sp>
        <p:nvSpPr>
          <p:cNvPr id="8" name="TextBox 7">
            <a:extLst>
              <a:ext uri="{FF2B5EF4-FFF2-40B4-BE49-F238E27FC236}">
                <a16:creationId xmlns:a16="http://schemas.microsoft.com/office/drawing/2014/main" id="{B65DCE76-C54C-AEA4-E1FA-162B3DF7B3BA}"/>
              </a:ext>
            </a:extLst>
          </p:cNvPr>
          <p:cNvSpPr txBox="1"/>
          <p:nvPr/>
        </p:nvSpPr>
        <p:spPr>
          <a:xfrm>
            <a:off x="10817817" y="6426631"/>
            <a:ext cx="857573" cy="307777"/>
          </a:xfrm>
          <a:prstGeom prst="rect">
            <a:avLst/>
          </a:prstGeom>
          <a:noFill/>
        </p:spPr>
        <p:txBody>
          <a:bodyPr wrap="square" rtlCol="0">
            <a:spAutoFit/>
          </a:bodyPr>
          <a:lstStyle/>
          <a:p>
            <a:r>
              <a:rPr lang="en-US"/>
              <a:t>Timothy</a:t>
            </a:r>
          </a:p>
        </p:txBody>
      </p:sp>
    </p:spTree>
    <p:extLst>
      <p:ext uri="{BB962C8B-B14F-4D97-AF65-F5344CB8AC3E}">
        <p14:creationId xmlns:p14="http://schemas.microsoft.com/office/powerpoint/2010/main" val="733734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44827-45C3-C31B-32D9-6DA405F6A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07174-351E-DF15-CE0D-28C71689519E}"/>
              </a:ext>
            </a:extLst>
          </p:cNvPr>
          <p:cNvSpPr>
            <a:spLocks noGrp="1"/>
          </p:cNvSpPr>
          <p:nvPr>
            <p:ph type="title"/>
          </p:nvPr>
        </p:nvSpPr>
        <p:spPr/>
        <p:txBody>
          <a:bodyPr>
            <a:normAutofit/>
          </a:bodyPr>
          <a:lstStyle/>
          <a:p>
            <a:r>
              <a:rPr lang="en-US" b="1">
                <a:ea typeface="+mj-lt"/>
                <a:cs typeface="+mj-lt"/>
              </a:rPr>
              <a:t>Quantifying Causal Effects</a:t>
            </a:r>
            <a:endParaRPr lang="en-US"/>
          </a:p>
          <a:p>
            <a:endParaRPr lang="en-US"/>
          </a:p>
        </p:txBody>
      </p:sp>
      <p:grpSp>
        <p:nvGrpSpPr>
          <p:cNvPr id="68" name="Group 67">
            <a:extLst>
              <a:ext uri="{FF2B5EF4-FFF2-40B4-BE49-F238E27FC236}">
                <a16:creationId xmlns:a16="http://schemas.microsoft.com/office/drawing/2014/main" id="{3485C899-C039-D071-BED7-27A98707894C}"/>
              </a:ext>
            </a:extLst>
          </p:cNvPr>
          <p:cNvGrpSpPr/>
          <p:nvPr/>
        </p:nvGrpSpPr>
        <p:grpSpPr>
          <a:xfrm>
            <a:off x="595036" y="1795285"/>
            <a:ext cx="8244164" cy="4356132"/>
            <a:chOff x="714371" y="1818409"/>
            <a:chExt cx="9914869" cy="4382461"/>
          </a:xfrm>
        </p:grpSpPr>
        <p:sp>
          <p:nvSpPr>
            <p:cNvPr id="8" name="Forme libre 3">
              <a:extLst>
                <a:ext uri="{FF2B5EF4-FFF2-40B4-BE49-F238E27FC236}">
                  <a16:creationId xmlns:a16="http://schemas.microsoft.com/office/drawing/2014/main" id="{E601E1FD-F4D2-0D7A-F8C0-CEDACCAE036E}"/>
                </a:ext>
              </a:extLst>
            </p:cNvPr>
            <p:cNvSpPr/>
            <p:nvPr/>
          </p:nvSpPr>
          <p:spPr>
            <a:xfrm>
              <a:off x="6406293" y="2319403"/>
              <a:ext cx="2934504" cy="2919693"/>
            </a:xfrm>
            <a:custGeom>
              <a:avLst/>
              <a:gdLst>
                <a:gd name="csX0" fmla="*/ 2934505 w 2934504"/>
                <a:gd name="csY0" fmla="*/ 2376134 h 2919693"/>
                <a:gd name="csX1" fmla="*/ 2390945 w 2934504"/>
                <a:gd name="csY1" fmla="*/ 1832574 h 2919693"/>
                <a:gd name="csX2" fmla="*/ 2390945 w 2934504"/>
                <a:gd name="csY2" fmla="*/ 2098698 h 2919693"/>
                <a:gd name="csX3" fmla="*/ 1492397 w 2934504"/>
                <a:gd name="csY3" fmla="*/ 2098698 h 2919693"/>
                <a:gd name="csX4" fmla="*/ 1349073 w 2934504"/>
                <a:gd name="csY4" fmla="*/ 2005636 h 2919693"/>
                <a:gd name="csX5" fmla="*/ 530993 w 2934504"/>
                <a:gd name="csY5" fmla="*/ 164809 h 2919693"/>
                <a:gd name="csX6" fmla="*/ 164810 w 2934504"/>
                <a:gd name="csY6" fmla="*/ 23934 h 2919693"/>
                <a:gd name="csX7" fmla="*/ 164810 w 2934504"/>
                <a:gd name="csY7" fmla="*/ 23934 h 2919693"/>
                <a:gd name="csX8" fmla="*/ 23934 w 2934504"/>
                <a:gd name="csY8" fmla="*/ 390117 h 2919693"/>
                <a:gd name="csX9" fmla="*/ 956651 w 2934504"/>
                <a:gd name="csY9" fmla="*/ 2488787 h 2919693"/>
                <a:gd name="csX10" fmla="*/ 1221026 w 2934504"/>
                <a:gd name="csY10" fmla="*/ 2653337 h 2919693"/>
                <a:gd name="csX11" fmla="*/ 1221026 w 2934504"/>
                <a:gd name="csY11" fmla="*/ 2653569 h 2919693"/>
                <a:gd name="csX12" fmla="*/ 2390945 w 2934504"/>
                <a:gd name="csY12" fmla="*/ 2653569 h 2919693"/>
                <a:gd name="csX13" fmla="*/ 2390945 w 2934504"/>
                <a:gd name="csY13" fmla="*/ 2919693 h 2919693"/>
                <a:gd name="csX14" fmla="*/ 2934505 w 2934504"/>
                <a:gd name="csY14" fmla="*/ 2376134 h 2919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34504" h="2919693">
                  <a:moveTo>
                    <a:pt x="2934505" y="2376134"/>
                  </a:moveTo>
                  <a:lnTo>
                    <a:pt x="2390945" y="1832574"/>
                  </a:lnTo>
                  <a:lnTo>
                    <a:pt x="2390945" y="2098698"/>
                  </a:lnTo>
                  <a:lnTo>
                    <a:pt x="1492397" y="2098698"/>
                  </a:lnTo>
                  <a:cubicBezTo>
                    <a:pt x="1430472" y="2098698"/>
                    <a:pt x="1374263" y="2062196"/>
                    <a:pt x="1349073" y="2005636"/>
                  </a:cubicBezTo>
                  <a:lnTo>
                    <a:pt x="530993" y="164809"/>
                  </a:lnTo>
                  <a:cubicBezTo>
                    <a:pt x="468718" y="24867"/>
                    <a:pt x="304869" y="-38224"/>
                    <a:pt x="164810" y="23934"/>
                  </a:cubicBezTo>
                  <a:lnTo>
                    <a:pt x="164810" y="23934"/>
                  </a:lnTo>
                  <a:cubicBezTo>
                    <a:pt x="24867" y="86208"/>
                    <a:pt x="-38224" y="250058"/>
                    <a:pt x="23934" y="390117"/>
                  </a:cubicBezTo>
                  <a:lnTo>
                    <a:pt x="956651" y="2488787"/>
                  </a:lnTo>
                  <a:cubicBezTo>
                    <a:pt x="1004114" y="2595610"/>
                    <a:pt x="1110821" y="2657535"/>
                    <a:pt x="1221026" y="2653337"/>
                  </a:cubicBezTo>
                  <a:lnTo>
                    <a:pt x="1221026" y="2653569"/>
                  </a:lnTo>
                  <a:lnTo>
                    <a:pt x="2390945" y="2653569"/>
                  </a:lnTo>
                  <a:lnTo>
                    <a:pt x="2390945" y="2919693"/>
                  </a:lnTo>
                  <a:lnTo>
                    <a:pt x="2934505" y="2376134"/>
                  </a:lnTo>
                  <a:close/>
                </a:path>
              </a:pathLst>
            </a:custGeom>
            <a:solidFill>
              <a:schemeClr val="accent1">
                <a:lumMod val="50000"/>
              </a:schemeClr>
            </a:solidFill>
            <a:ln w="11661" cap="flat">
              <a:noFill/>
              <a:prstDash val="solid"/>
              <a:miter/>
            </a:ln>
          </p:spPr>
          <p:txBody>
            <a:bodyPr/>
            <a:lstStyle/>
            <a:p>
              <a:endParaRPr lang="fr-FR"/>
            </a:p>
          </p:txBody>
        </p:sp>
        <p:sp>
          <p:nvSpPr>
            <p:cNvPr id="9" name="Forme libre 4">
              <a:extLst>
                <a:ext uri="{FF2B5EF4-FFF2-40B4-BE49-F238E27FC236}">
                  <a16:creationId xmlns:a16="http://schemas.microsoft.com/office/drawing/2014/main" id="{F7C10262-A1E2-B09E-E69F-D6EBB8FDCBFB}"/>
                </a:ext>
              </a:extLst>
            </p:cNvPr>
            <p:cNvSpPr/>
            <p:nvPr/>
          </p:nvSpPr>
          <p:spPr>
            <a:xfrm>
              <a:off x="4307039" y="1818409"/>
              <a:ext cx="1710151" cy="3154473"/>
            </a:xfrm>
            <a:custGeom>
              <a:avLst/>
              <a:gdLst>
                <a:gd name="csX0" fmla="*/ 1686217 w 1710151"/>
                <a:gd name="csY0" fmla="*/ 2764357 h 3154473"/>
                <a:gd name="csX1" fmla="*/ 643646 w 1710151"/>
                <a:gd name="csY1" fmla="*/ 418339 h 3154473"/>
                <a:gd name="csX2" fmla="*/ 640964 w 1710151"/>
                <a:gd name="csY2" fmla="*/ 412158 h 3154473"/>
                <a:gd name="csX3" fmla="*/ 530992 w 1710151"/>
                <a:gd name="csY3" fmla="*/ 164809 h 3154473"/>
                <a:gd name="csX4" fmla="*/ 164809 w 1710151"/>
                <a:gd name="csY4" fmla="*/ 23934 h 3154473"/>
                <a:gd name="csX5" fmla="*/ 164809 w 1710151"/>
                <a:gd name="csY5" fmla="*/ 23934 h 3154473"/>
                <a:gd name="csX6" fmla="*/ 23934 w 1710151"/>
                <a:gd name="csY6" fmla="*/ 390117 h 3154473"/>
                <a:gd name="csX7" fmla="*/ 133905 w 1710151"/>
                <a:gd name="csY7" fmla="*/ 637465 h 3154473"/>
                <a:gd name="csX8" fmla="*/ 136588 w 1710151"/>
                <a:gd name="csY8" fmla="*/ 643646 h 3154473"/>
                <a:gd name="csX9" fmla="*/ 1179159 w 1710151"/>
                <a:gd name="csY9" fmla="*/ 2989665 h 3154473"/>
                <a:gd name="csX10" fmla="*/ 1545342 w 1710151"/>
                <a:gd name="csY10" fmla="*/ 3130540 h 3154473"/>
                <a:gd name="csX11" fmla="*/ 1545342 w 1710151"/>
                <a:gd name="csY11" fmla="*/ 3130540 h 3154473"/>
                <a:gd name="csX12" fmla="*/ 1686217 w 1710151"/>
                <a:gd name="csY12" fmla="*/ 2764357 h 31544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10151" h="3154473">
                  <a:moveTo>
                    <a:pt x="1686217" y="2764357"/>
                  </a:moveTo>
                  <a:lnTo>
                    <a:pt x="643646" y="418339"/>
                  </a:lnTo>
                  <a:lnTo>
                    <a:pt x="640964" y="412158"/>
                  </a:lnTo>
                  <a:lnTo>
                    <a:pt x="530992" y="164809"/>
                  </a:lnTo>
                  <a:cubicBezTo>
                    <a:pt x="468718" y="24867"/>
                    <a:pt x="304869" y="-38224"/>
                    <a:pt x="164809" y="23934"/>
                  </a:cubicBezTo>
                  <a:lnTo>
                    <a:pt x="164809" y="23934"/>
                  </a:lnTo>
                  <a:cubicBezTo>
                    <a:pt x="24867" y="86208"/>
                    <a:pt x="-38224" y="250058"/>
                    <a:pt x="23934" y="390117"/>
                  </a:cubicBezTo>
                  <a:lnTo>
                    <a:pt x="133905" y="637465"/>
                  </a:lnTo>
                  <a:lnTo>
                    <a:pt x="136588" y="643646"/>
                  </a:lnTo>
                  <a:lnTo>
                    <a:pt x="1179159" y="2989665"/>
                  </a:lnTo>
                  <a:cubicBezTo>
                    <a:pt x="1241434" y="3129608"/>
                    <a:pt x="1405283" y="3192698"/>
                    <a:pt x="1545342" y="3130540"/>
                  </a:cubicBezTo>
                  <a:lnTo>
                    <a:pt x="1545342" y="3130540"/>
                  </a:lnTo>
                  <a:cubicBezTo>
                    <a:pt x="1685284" y="3068266"/>
                    <a:pt x="1748375" y="2904417"/>
                    <a:pt x="1686217" y="2764357"/>
                  </a:cubicBezTo>
                  <a:close/>
                </a:path>
              </a:pathLst>
            </a:custGeom>
            <a:solidFill>
              <a:schemeClr val="accent6"/>
            </a:solidFill>
            <a:ln w="11661" cap="flat">
              <a:noFill/>
              <a:prstDash val="solid"/>
              <a:miter/>
            </a:ln>
          </p:spPr>
          <p:txBody>
            <a:bodyPr/>
            <a:lstStyle/>
            <a:p>
              <a:endParaRPr lang="fr-FR"/>
            </a:p>
          </p:txBody>
        </p:sp>
        <p:sp>
          <p:nvSpPr>
            <p:cNvPr id="10" name="Forme libre 5">
              <a:extLst>
                <a:ext uri="{FF2B5EF4-FFF2-40B4-BE49-F238E27FC236}">
                  <a16:creationId xmlns:a16="http://schemas.microsoft.com/office/drawing/2014/main" id="{7CD4F4EB-5778-7277-FECB-C35E8420E9BF}"/>
                </a:ext>
              </a:extLst>
            </p:cNvPr>
            <p:cNvSpPr/>
            <p:nvPr/>
          </p:nvSpPr>
          <p:spPr>
            <a:xfrm>
              <a:off x="5461963" y="2319335"/>
              <a:ext cx="1487777" cy="2653731"/>
            </a:xfrm>
            <a:custGeom>
              <a:avLst/>
              <a:gdLst>
                <a:gd name="csX0" fmla="*/ 1322901 w 1487777"/>
                <a:gd name="csY0" fmla="*/ 24001 h 2653731"/>
                <a:gd name="csX1" fmla="*/ 1322901 w 1487777"/>
                <a:gd name="csY1" fmla="*/ 24001 h 2653731"/>
                <a:gd name="csX2" fmla="*/ 956718 w 1487777"/>
                <a:gd name="csY2" fmla="*/ 164877 h 2653731"/>
                <a:gd name="csX3" fmla="*/ 24001 w 1487777"/>
                <a:gd name="csY3" fmla="*/ 2263548 h 2653731"/>
                <a:gd name="csX4" fmla="*/ 164877 w 1487777"/>
                <a:gd name="csY4" fmla="*/ 2629730 h 2653731"/>
                <a:gd name="csX5" fmla="*/ 164877 w 1487777"/>
                <a:gd name="csY5" fmla="*/ 2629730 h 2653731"/>
                <a:gd name="csX6" fmla="*/ 531060 w 1487777"/>
                <a:gd name="csY6" fmla="*/ 2488855 h 2653731"/>
                <a:gd name="csX7" fmla="*/ 1463776 w 1487777"/>
                <a:gd name="csY7" fmla="*/ 390185 h 2653731"/>
                <a:gd name="csX8" fmla="*/ 1322901 w 1487777"/>
                <a:gd name="csY8" fmla="*/ 24001 h 26537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87777" h="2653731">
                  <a:moveTo>
                    <a:pt x="1322901" y="24001"/>
                  </a:moveTo>
                  <a:lnTo>
                    <a:pt x="1322901" y="24001"/>
                  </a:lnTo>
                  <a:cubicBezTo>
                    <a:pt x="1182842" y="-38273"/>
                    <a:pt x="1018993" y="24818"/>
                    <a:pt x="956718" y="164877"/>
                  </a:cubicBezTo>
                  <a:lnTo>
                    <a:pt x="24001" y="2263548"/>
                  </a:lnTo>
                  <a:cubicBezTo>
                    <a:pt x="-38273" y="2403490"/>
                    <a:pt x="24818" y="2567456"/>
                    <a:pt x="164877" y="2629730"/>
                  </a:cubicBezTo>
                  <a:lnTo>
                    <a:pt x="164877" y="2629730"/>
                  </a:lnTo>
                  <a:cubicBezTo>
                    <a:pt x="304820" y="2692005"/>
                    <a:pt x="468785" y="2628914"/>
                    <a:pt x="531060" y="2488855"/>
                  </a:cubicBezTo>
                  <a:lnTo>
                    <a:pt x="1463776" y="390185"/>
                  </a:lnTo>
                  <a:cubicBezTo>
                    <a:pt x="1526051" y="250125"/>
                    <a:pt x="1462960" y="86276"/>
                    <a:pt x="1322901" y="24001"/>
                  </a:cubicBezTo>
                  <a:close/>
                </a:path>
              </a:pathLst>
            </a:custGeom>
            <a:solidFill>
              <a:schemeClr val="accent1"/>
            </a:solidFill>
            <a:ln w="11661" cap="flat">
              <a:noFill/>
              <a:prstDash val="solid"/>
              <a:miter/>
            </a:ln>
          </p:spPr>
          <p:txBody>
            <a:bodyPr/>
            <a:lstStyle/>
            <a:p>
              <a:endParaRPr lang="fr-FR"/>
            </a:p>
          </p:txBody>
        </p:sp>
        <p:sp>
          <p:nvSpPr>
            <p:cNvPr id="11" name="Forme libre 6">
              <a:extLst>
                <a:ext uri="{FF2B5EF4-FFF2-40B4-BE49-F238E27FC236}">
                  <a16:creationId xmlns:a16="http://schemas.microsoft.com/office/drawing/2014/main" id="{AFC156A1-0C90-C782-3F50-4BEDE4B25C4B}"/>
                </a:ext>
              </a:extLst>
            </p:cNvPr>
            <p:cNvSpPr/>
            <p:nvPr/>
          </p:nvSpPr>
          <p:spPr>
            <a:xfrm>
              <a:off x="2308104" y="1818458"/>
              <a:ext cx="2554278" cy="3154566"/>
            </a:xfrm>
            <a:custGeom>
              <a:avLst/>
              <a:gdLst>
                <a:gd name="csX0" fmla="*/ 2389635 w 2554278"/>
                <a:gd name="csY0" fmla="*/ 24001 h 3154566"/>
                <a:gd name="csX1" fmla="*/ 2389635 w 2554278"/>
                <a:gd name="csY1" fmla="*/ 24001 h 3154566"/>
                <a:gd name="csX2" fmla="*/ 2023452 w 2554278"/>
                <a:gd name="csY2" fmla="*/ 164877 h 3154566"/>
                <a:gd name="csX3" fmla="*/ 1913480 w 2554278"/>
                <a:gd name="csY3" fmla="*/ 412225 h 3154566"/>
                <a:gd name="csX4" fmla="*/ 1910798 w 2554278"/>
                <a:gd name="csY4" fmla="*/ 418406 h 3154566"/>
                <a:gd name="csX5" fmla="*/ 982746 w 2554278"/>
                <a:gd name="csY5" fmla="*/ 2506581 h 3154566"/>
                <a:gd name="csX6" fmla="*/ 839422 w 2554278"/>
                <a:gd name="csY6" fmla="*/ 2599643 h 3154566"/>
                <a:gd name="csX7" fmla="*/ 0 w 2554278"/>
                <a:gd name="csY7" fmla="*/ 2599643 h 3154566"/>
                <a:gd name="csX8" fmla="*/ 277436 w 2554278"/>
                <a:gd name="csY8" fmla="*/ 2877079 h 3154566"/>
                <a:gd name="csX9" fmla="*/ 0 w 2554278"/>
                <a:gd name="csY9" fmla="*/ 3154514 h 3154566"/>
                <a:gd name="csX10" fmla="*/ 1115808 w 2554278"/>
                <a:gd name="csY10" fmla="*/ 3154514 h 3154566"/>
                <a:gd name="csX11" fmla="*/ 1375051 w 2554278"/>
                <a:gd name="csY11" fmla="*/ 2989732 h 3154566"/>
                <a:gd name="csX12" fmla="*/ 2417623 w 2554278"/>
                <a:gd name="csY12" fmla="*/ 643713 h 3154566"/>
                <a:gd name="csX13" fmla="*/ 2420305 w 2554278"/>
                <a:gd name="csY13" fmla="*/ 637533 h 3154566"/>
                <a:gd name="csX14" fmla="*/ 2530277 w 2554278"/>
                <a:gd name="csY14" fmla="*/ 390184 h 3154566"/>
                <a:gd name="csX15" fmla="*/ 2389401 w 2554278"/>
                <a:gd name="csY15" fmla="*/ 24001 h 31545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54278" h="3154566">
                  <a:moveTo>
                    <a:pt x="2389635" y="24001"/>
                  </a:moveTo>
                  <a:lnTo>
                    <a:pt x="2389635" y="24001"/>
                  </a:lnTo>
                  <a:cubicBezTo>
                    <a:pt x="2249576" y="-38273"/>
                    <a:pt x="2085726" y="24818"/>
                    <a:pt x="2023452" y="164877"/>
                  </a:cubicBezTo>
                  <a:lnTo>
                    <a:pt x="1913480" y="412225"/>
                  </a:lnTo>
                  <a:lnTo>
                    <a:pt x="1910798" y="418406"/>
                  </a:lnTo>
                  <a:lnTo>
                    <a:pt x="982746" y="2506581"/>
                  </a:lnTo>
                  <a:cubicBezTo>
                    <a:pt x="957556" y="2563258"/>
                    <a:pt x="901463" y="2599643"/>
                    <a:pt x="839422" y="2599643"/>
                  </a:cubicBezTo>
                  <a:lnTo>
                    <a:pt x="0" y="2599643"/>
                  </a:lnTo>
                  <a:lnTo>
                    <a:pt x="277436" y="2877079"/>
                  </a:lnTo>
                  <a:lnTo>
                    <a:pt x="0" y="3154514"/>
                  </a:lnTo>
                  <a:lnTo>
                    <a:pt x="1115808" y="3154514"/>
                  </a:lnTo>
                  <a:cubicBezTo>
                    <a:pt x="1224147" y="3156613"/>
                    <a:pt x="1328288" y="3094922"/>
                    <a:pt x="1375051" y="2989732"/>
                  </a:cubicBezTo>
                  <a:lnTo>
                    <a:pt x="2417623" y="643713"/>
                  </a:lnTo>
                  <a:lnTo>
                    <a:pt x="2420305" y="637533"/>
                  </a:lnTo>
                  <a:lnTo>
                    <a:pt x="2530277" y="390184"/>
                  </a:lnTo>
                  <a:cubicBezTo>
                    <a:pt x="2592551" y="250242"/>
                    <a:pt x="2529461" y="86276"/>
                    <a:pt x="2389401" y="24001"/>
                  </a:cubicBezTo>
                  <a:close/>
                </a:path>
              </a:pathLst>
            </a:custGeom>
            <a:solidFill>
              <a:schemeClr val="accent6">
                <a:lumMod val="60000"/>
                <a:lumOff val="40000"/>
              </a:schemeClr>
            </a:solidFill>
            <a:ln w="11661" cap="flat">
              <a:noFill/>
              <a:prstDash val="solid"/>
              <a:miter/>
            </a:ln>
          </p:spPr>
          <p:txBody>
            <a:bodyPr/>
            <a:lstStyle/>
            <a:p>
              <a:endParaRPr lang="fr-FR"/>
            </a:p>
          </p:txBody>
        </p:sp>
        <p:grpSp>
          <p:nvGrpSpPr>
            <p:cNvPr id="12" name="Group 11">
              <a:extLst>
                <a:ext uri="{FF2B5EF4-FFF2-40B4-BE49-F238E27FC236}">
                  <a16:creationId xmlns:a16="http://schemas.microsoft.com/office/drawing/2014/main" id="{671D4780-11AD-2C4E-2539-EC6E7754FAEB}"/>
                </a:ext>
              </a:extLst>
            </p:cNvPr>
            <p:cNvGrpSpPr/>
            <p:nvPr/>
          </p:nvGrpSpPr>
          <p:grpSpPr>
            <a:xfrm>
              <a:off x="7100463" y="2128415"/>
              <a:ext cx="3528777" cy="957937"/>
              <a:chOff x="8921977" y="1301287"/>
              <a:chExt cx="3528777" cy="957937"/>
            </a:xfrm>
          </p:grpSpPr>
          <p:sp>
            <p:nvSpPr>
              <p:cNvPr id="13" name="TextBox 12">
                <a:extLst>
                  <a:ext uri="{FF2B5EF4-FFF2-40B4-BE49-F238E27FC236}">
                    <a16:creationId xmlns:a16="http://schemas.microsoft.com/office/drawing/2014/main" id="{00A6AF52-0478-D7E4-12C2-67E4B2A7A231}"/>
                  </a:ext>
                </a:extLst>
              </p:cNvPr>
              <p:cNvSpPr txBox="1"/>
              <p:nvPr/>
            </p:nvSpPr>
            <p:spPr>
              <a:xfrm>
                <a:off x="8921977" y="1301287"/>
                <a:ext cx="2926081" cy="402528"/>
              </a:xfrm>
              <a:prstGeom prst="rect">
                <a:avLst/>
              </a:prstGeom>
              <a:noFill/>
            </p:spPr>
            <p:txBody>
              <a:bodyPr wrap="square" lIns="0" rIns="0" rtlCol="0" anchor="b">
                <a:spAutoFit/>
              </a:bodyPr>
              <a:lstStyle/>
              <a:p>
                <a:pPr algn="ctr"/>
                <a:r>
                  <a:rPr lang="en-US" sz="2000" b="1" noProof="1"/>
                  <a:t>Analysis</a:t>
                </a:r>
                <a:endParaRPr lang="en-US" sz="2400" b="1" noProof="1"/>
              </a:p>
            </p:txBody>
          </p:sp>
          <p:sp>
            <p:nvSpPr>
              <p:cNvPr id="14" name="TextBox 13">
                <a:extLst>
                  <a:ext uri="{FF2B5EF4-FFF2-40B4-BE49-F238E27FC236}">
                    <a16:creationId xmlns:a16="http://schemas.microsoft.com/office/drawing/2014/main" id="{5923FBAA-3467-F0D3-427C-74869B8ACC5A}"/>
                  </a:ext>
                </a:extLst>
              </p:cNvPr>
              <p:cNvSpPr txBox="1"/>
              <p:nvPr/>
            </p:nvSpPr>
            <p:spPr>
              <a:xfrm>
                <a:off x="9205561" y="1612893"/>
                <a:ext cx="3245193" cy="646331"/>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200" noProof="1">
                    <a:solidFill>
                      <a:schemeClr val="tx1">
                        <a:lumMod val="65000"/>
                        <a:lumOff val="35000"/>
                      </a:schemeClr>
                    </a:solidFill>
                  </a:rPr>
                  <a:t>Identified unobserved confounders</a:t>
                </a:r>
              </a:p>
              <a:p>
                <a:pPr marL="171450" indent="-171450">
                  <a:buFont typeface="Arial" panose="020B0604020202020204" pitchFamily="34" charset="0"/>
                  <a:buChar char="•"/>
                </a:pPr>
                <a:r>
                  <a:rPr lang="en-US" sz="1200" noProof="1">
                    <a:solidFill>
                      <a:schemeClr val="tx1">
                        <a:lumMod val="65000"/>
                        <a:lumOff val="35000"/>
                      </a:schemeClr>
                    </a:solidFill>
                  </a:rPr>
                  <a:t>Measured impact on lethality</a:t>
                </a:r>
              </a:p>
              <a:p>
                <a:pPr marL="171450" indent="-171450">
                  <a:buFont typeface="Arial" panose="020B0604020202020204" pitchFamily="34" charset="0"/>
                  <a:buChar char="•"/>
                </a:pPr>
                <a:r>
                  <a:rPr lang="en-US" sz="1200" noProof="1">
                    <a:solidFill>
                      <a:schemeClr val="tx1">
                        <a:lumMod val="65000"/>
                        <a:lumOff val="35000"/>
                      </a:schemeClr>
                    </a:solidFill>
                  </a:rPr>
                  <a:t>Determined treatment sets</a:t>
                </a:r>
              </a:p>
            </p:txBody>
          </p:sp>
        </p:grpSp>
        <p:grpSp>
          <p:nvGrpSpPr>
            <p:cNvPr id="15" name="Group 14">
              <a:extLst>
                <a:ext uri="{FF2B5EF4-FFF2-40B4-BE49-F238E27FC236}">
                  <a16:creationId xmlns:a16="http://schemas.microsoft.com/office/drawing/2014/main" id="{7439C706-F7D5-EA3E-6379-038FE849EF59}"/>
                </a:ext>
              </a:extLst>
            </p:cNvPr>
            <p:cNvGrpSpPr/>
            <p:nvPr/>
          </p:nvGrpSpPr>
          <p:grpSpPr>
            <a:xfrm>
              <a:off x="3718716" y="5123332"/>
              <a:ext cx="3831244" cy="1077538"/>
              <a:chOff x="8399945" y="1365708"/>
              <a:chExt cx="3831244" cy="1077538"/>
            </a:xfrm>
          </p:grpSpPr>
          <p:sp>
            <p:nvSpPr>
              <p:cNvPr id="16" name="TextBox 15">
                <a:extLst>
                  <a:ext uri="{FF2B5EF4-FFF2-40B4-BE49-F238E27FC236}">
                    <a16:creationId xmlns:a16="http://schemas.microsoft.com/office/drawing/2014/main" id="{75DEE64F-AB4E-A008-0BD3-FE9F337C5A16}"/>
                  </a:ext>
                </a:extLst>
              </p:cNvPr>
              <p:cNvSpPr txBox="1"/>
              <p:nvPr/>
            </p:nvSpPr>
            <p:spPr>
              <a:xfrm>
                <a:off x="8399945" y="1365708"/>
                <a:ext cx="3831244" cy="712165"/>
              </a:xfrm>
              <a:prstGeom prst="rect">
                <a:avLst/>
              </a:prstGeom>
              <a:noFill/>
            </p:spPr>
            <p:txBody>
              <a:bodyPr wrap="square" lIns="0" rIns="0" rtlCol="0" anchor="b">
                <a:spAutoFit/>
              </a:bodyPr>
              <a:lstStyle/>
              <a:p>
                <a:pPr algn="ctr"/>
                <a:r>
                  <a:rPr lang="en-US" sz="2000" b="1" noProof="1"/>
                  <a:t>Estimated Average Treatment Effects (ATE)</a:t>
                </a:r>
              </a:p>
            </p:txBody>
          </p:sp>
          <p:sp>
            <p:nvSpPr>
              <p:cNvPr id="17" name="TextBox 16">
                <a:extLst>
                  <a:ext uri="{FF2B5EF4-FFF2-40B4-BE49-F238E27FC236}">
                    <a16:creationId xmlns:a16="http://schemas.microsoft.com/office/drawing/2014/main" id="{DB363187-B538-34CA-049E-87B08A008754}"/>
                  </a:ext>
                </a:extLst>
              </p:cNvPr>
              <p:cNvSpPr txBox="1"/>
              <p:nvPr/>
            </p:nvSpPr>
            <p:spPr>
              <a:xfrm>
                <a:off x="8991390" y="1981581"/>
                <a:ext cx="2926080" cy="461665"/>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200">
                    <a:ea typeface="+mn-lt"/>
                    <a:cs typeface="+mn-lt"/>
                  </a:rPr>
                  <a:t>Equivalent to total causal effect for discrete binary inputs</a:t>
                </a:r>
                <a:endParaRPr lang="en-US" sz="1200" noProof="1">
                  <a:solidFill>
                    <a:schemeClr val="tx1">
                      <a:lumMod val="65000"/>
                      <a:lumOff val="35000"/>
                    </a:schemeClr>
                  </a:solidFill>
                </a:endParaRPr>
              </a:p>
            </p:txBody>
          </p:sp>
        </p:grpSp>
        <p:sp>
          <p:nvSpPr>
            <p:cNvPr id="19" name="TextBox 18">
              <a:extLst>
                <a:ext uri="{FF2B5EF4-FFF2-40B4-BE49-F238E27FC236}">
                  <a16:creationId xmlns:a16="http://schemas.microsoft.com/office/drawing/2014/main" id="{E40D5155-FDB1-2F88-F6F0-57C2E2AD2C2C}"/>
                </a:ext>
              </a:extLst>
            </p:cNvPr>
            <p:cNvSpPr txBox="1"/>
            <p:nvPr/>
          </p:nvSpPr>
          <p:spPr>
            <a:xfrm>
              <a:off x="714371" y="1845927"/>
              <a:ext cx="3629742" cy="402528"/>
            </a:xfrm>
            <a:prstGeom prst="rect">
              <a:avLst/>
            </a:prstGeom>
            <a:noFill/>
          </p:spPr>
          <p:txBody>
            <a:bodyPr wrap="square" lIns="0" rIns="0" rtlCol="0" anchor="b">
              <a:spAutoFit/>
            </a:bodyPr>
            <a:lstStyle/>
            <a:p>
              <a:pPr algn="ctr"/>
              <a:r>
                <a:rPr lang="en-US" sz="2000" b="1" noProof="1"/>
                <a:t>Framework: DoWhy</a:t>
              </a:r>
            </a:p>
          </p:txBody>
        </p:sp>
        <p:pic>
          <p:nvPicPr>
            <p:cNvPr id="23" name="Graphic 22" descr="Badge 1 with solid fill">
              <a:extLst>
                <a:ext uri="{FF2B5EF4-FFF2-40B4-BE49-F238E27FC236}">
                  <a16:creationId xmlns:a16="http://schemas.microsoft.com/office/drawing/2014/main" id="{CD209366-E951-AF1F-014F-A7BAD87934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0731" y="1920762"/>
              <a:ext cx="398573" cy="398573"/>
            </a:xfrm>
            <a:prstGeom prst="rect">
              <a:avLst/>
            </a:prstGeom>
          </p:spPr>
        </p:pic>
        <p:pic>
          <p:nvPicPr>
            <p:cNvPr id="24" name="Graphic 23" descr="Badge with solid fill">
              <a:extLst>
                <a:ext uri="{FF2B5EF4-FFF2-40B4-BE49-F238E27FC236}">
                  <a16:creationId xmlns:a16="http://schemas.microsoft.com/office/drawing/2014/main" id="{1B877EFF-52BB-6190-9DD3-E9D980F991D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544181" y="4491284"/>
              <a:ext cx="398573" cy="398573"/>
            </a:xfrm>
            <a:prstGeom prst="rect">
              <a:avLst/>
            </a:prstGeom>
          </p:spPr>
        </p:pic>
        <p:pic>
          <p:nvPicPr>
            <p:cNvPr id="25" name="Graphic 24" descr="Badge 3 with solid fill">
              <a:extLst>
                <a:ext uri="{FF2B5EF4-FFF2-40B4-BE49-F238E27FC236}">
                  <a16:creationId xmlns:a16="http://schemas.microsoft.com/office/drawing/2014/main" id="{BD12CE70-D930-4CB1-5E74-A81BF94C75B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481508" y="2401178"/>
              <a:ext cx="398573" cy="398573"/>
            </a:xfrm>
            <a:prstGeom prst="rect">
              <a:avLst/>
            </a:prstGeom>
          </p:spPr>
        </p:pic>
        <p:pic>
          <p:nvPicPr>
            <p:cNvPr id="33" name="Graphic 32" descr="Arrow: Slight curve with solid fill">
              <a:extLst>
                <a:ext uri="{FF2B5EF4-FFF2-40B4-BE49-F238E27FC236}">
                  <a16:creationId xmlns:a16="http://schemas.microsoft.com/office/drawing/2014/main" id="{5015026E-2A3B-B62A-3330-8E028F56E80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3296" y="4233370"/>
              <a:ext cx="914400" cy="914400"/>
            </a:xfrm>
            <a:prstGeom prst="rect">
              <a:avLst/>
            </a:prstGeom>
          </p:spPr>
        </p:pic>
      </p:grpSp>
      <p:sp>
        <p:nvSpPr>
          <p:cNvPr id="69" name="TextBox 68">
            <a:extLst>
              <a:ext uri="{FF2B5EF4-FFF2-40B4-BE49-F238E27FC236}">
                <a16:creationId xmlns:a16="http://schemas.microsoft.com/office/drawing/2014/main" id="{88933052-C7CC-2244-1AD5-72ABC7EA5DAC}"/>
              </a:ext>
            </a:extLst>
          </p:cNvPr>
          <p:cNvSpPr txBox="1"/>
          <p:nvPr/>
        </p:nvSpPr>
        <p:spPr>
          <a:xfrm>
            <a:off x="7993203" y="4396757"/>
            <a:ext cx="3238797" cy="707886"/>
          </a:xfrm>
          <a:prstGeom prst="rect">
            <a:avLst/>
          </a:prstGeom>
          <a:solidFill>
            <a:srgbClr val="783F05"/>
          </a:solidFill>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wrap="square" lIns="0" rIns="0" rtlCol="0" anchor="b">
            <a:spAutoFit/>
          </a:bodyPr>
          <a:lstStyle/>
          <a:p>
            <a:pPr algn="ctr"/>
            <a:r>
              <a:rPr lang="en-US" sz="2000" b="1" noProof="1"/>
              <a:t>ATE = E[ Y | do( X = 1 )] – E[ Y | do( X = 0)]</a:t>
            </a:r>
          </a:p>
        </p:txBody>
      </p:sp>
      <p:sp>
        <p:nvSpPr>
          <p:cNvPr id="3" name="TextBox 2">
            <a:extLst>
              <a:ext uri="{FF2B5EF4-FFF2-40B4-BE49-F238E27FC236}">
                <a16:creationId xmlns:a16="http://schemas.microsoft.com/office/drawing/2014/main" id="{179AC7E3-5A9A-4D42-21AC-D0CE18EDE6F5}"/>
              </a:ext>
            </a:extLst>
          </p:cNvPr>
          <p:cNvSpPr txBox="1"/>
          <p:nvPr/>
        </p:nvSpPr>
        <p:spPr>
          <a:xfrm>
            <a:off x="10817817" y="6426631"/>
            <a:ext cx="857573" cy="307777"/>
          </a:xfrm>
          <a:prstGeom prst="rect">
            <a:avLst/>
          </a:prstGeom>
          <a:noFill/>
        </p:spPr>
        <p:txBody>
          <a:bodyPr wrap="square" rtlCol="0">
            <a:spAutoFit/>
          </a:bodyPr>
          <a:lstStyle/>
          <a:p>
            <a:r>
              <a:rPr lang="en-US"/>
              <a:t>Timothy</a:t>
            </a:r>
          </a:p>
        </p:txBody>
      </p:sp>
    </p:spTree>
    <p:extLst>
      <p:ext uri="{BB962C8B-B14F-4D97-AF65-F5344CB8AC3E}">
        <p14:creationId xmlns:p14="http://schemas.microsoft.com/office/powerpoint/2010/main" val="1319016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38F580-104B-C4DA-E38B-CE011F7A1AEF}"/>
              </a:ext>
            </a:extLst>
          </p:cNvPr>
          <p:cNvSpPr>
            <a:spLocks noGrp="1"/>
          </p:cNvSpPr>
          <p:nvPr>
            <p:ph type="title"/>
          </p:nvPr>
        </p:nvSpPr>
        <p:spPr>
          <a:xfrm>
            <a:off x="960000" y="457785"/>
            <a:ext cx="10272000" cy="763600"/>
          </a:xfrm>
        </p:spPr>
        <p:txBody>
          <a:bodyPr/>
          <a:lstStyle/>
          <a:p>
            <a:r>
              <a:rPr lang="en-US"/>
              <a:t>Isolation of Causal Effect</a:t>
            </a:r>
          </a:p>
        </p:txBody>
      </p:sp>
      <p:graphicFrame>
        <p:nvGraphicFramePr>
          <p:cNvPr id="10" name="Content Placeholder 4">
            <a:extLst>
              <a:ext uri="{FF2B5EF4-FFF2-40B4-BE49-F238E27FC236}">
                <a16:creationId xmlns:a16="http://schemas.microsoft.com/office/drawing/2014/main" id="{CB6C1E08-747E-FABE-4FD0-D22A4CE4DAC7}"/>
              </a:ext>
            </a:extLst>
          </p:cNvPr>
          <p:cNvGraphicFramePr>
            <a:graphicFrameLocks/>
          </p:cNvGraphicFramePr>
          <p:nvPr>
            <p:extLst>
              <p:ext uri="{D42A27DB-BD31-4B8C-83A1-F6EECF244321}">
                <p14:modId xmlns:p14="http://schemas.microsoft.com/office/powerpoint/2010/main" val="4080375488"/>
              </p:ext>
            </p:extLst>
          </p:nvPr>
        </p:nvGraphicFramePr>
        <p:xfrm>
          <a:off x="271716" y="1393815"/>
          <a:ext cx="5197158" cy="4624600"/>
        </p:xfrm>
        <a:graphic>
          <a:graphicData uri="http://schemas.openxmlformats.org/drawingml/2006/table">
            <a:tbl>
              <a:tblPr firstRow="1" firstCol="1" bandRow="1">
                <a:tableStyleId>{85BE263C-DBD7-4A20-BB59-AAB30ACAA65A}</a:tableStyleId>
              </a:tblPr>
              <a:tblGrid>
                <a:gridCol w="1443990">
                  <a:extLst>
                    <a:ext uri="{9D8B030D-6E8A-4147-A177-3AD203B41FA5}">
                      <a16:colId xmlns:a16="http://schemas.microsoft.com/office/drawing/2014/main" val="507365704"/>
                    </a:ext>
                  </a:extLst>
                </a:gridCol>
                <a:gridCol w="1651953">
                  <a:extLst>
                    <a:ext uri="{9D8B030D-6E8A-4147-A177-3AD203B41FA5}">
                      <a16:colId xmlns:a16="http://schemas.microsoft.com/office/drawing/2014/main" val="2756421121"/>
                    </a:ext>
                  </a:extLst>
                </a:gridCol>
                <a:gridCol w="2101215">
                  <a:extLst>
                    <a:ext uri="{9D8B030D-6E8A-4147-A177-3AD203B41FA5}">
                      <a16:colId xmlns:a16="http://schemas.microsoft.com/office/drawing/2014/main" val="3760568603"/>
                    </a:ext>
                  </a:extLst>
                </a:gridCol>
              </a:tblGrid>
              <a:tr h="423770">
                <a:tc>
                  <a:txBody>
                    <a:bodyPr/>
                    <a:lstStyle/>
                    <a:p>
                      <a:pPr algn="ctr" fontAlgn="ctr">
                        <a:buNone/>
                      </a:pPr>
                      <a:r>
                        <a:rPr lang="en-US" sz="2000" b="1" u="none" strike="noStrike">
                          <a:solidFill>
                            <a:srgbClr val="FFFFFF"/>
                          </a:solidFill>
                          <a:effectLst/>
                        </a:rPr>
                        <a:t>Treatment</a:t>
                      </a:r>
                      <a:endParaRPr lang="en-US" sz="2000" b="1" i="0" u="none" strike="noStrike">
                        <a:solidFill>
                          <a:srgbClr val="FFFFFF"/>
                        </a:solidFill>
                        <a:effectLst/>
                        <a:latin typeface="Aptos Narrow" panose="020B0004020202020204" pitchFamily="34" charset="0"/>
                      </a:endParaRPr>
                    </a:p>
                  </a:txBody>
                  <a:tcPr marL="7620" marR="7620" marT="7620" marB="0" anchor="ctr"/>
                </a:tc>
                <a:tc>
                  <a:txBody>
                    <a:bodyPr/>
                    <a:lstStyle/>
                    <a:p>
                      <a:pPr algn="ctr" fontAlgn="ctr">
                        <a:buNone/>
                      </a:pPr>
                      <a:r>
                        <a:rPr lang="en-US" sz="2000" b="1" u="none" strike="noStrike">
                          <a:solidFill>
                            <a:srgbClr val="FFFFFF"/>
                          </a:solidFill>
                          <a:effectLst/>
                        </a:rPr>
                        <a:t>Adjustment set</a:t>
                      </a:r>
                      <a:endParaRPr lang="en-US" sz="2000" b="1" i="0" u="none" strike="noStrike">
                        <a:solidFill>
                          <a:srgbClr val="FFFFFF"/>
                        </a:solidFill>
                        <a:effectLst/>
                        <a:latin typeface="Aptos Narrow" panose="020B0004020202020204" pitchFamily="34" charset="0"/>
                      </a:endParaRPr>
                    </a:p>
                  </a:txBody>
                  <a:tcPr marL="7620" marR="7620" marT="7620" marB="0" anchor="ctr">
                    <a:lnB w="9525" cap="flat" cmpd="sng" algn="ctr">
                      <a:solidFill>
                        <a:schemeClr val="tx1"/>
                      </a:solidFill>
                      <a:prstDash val="solid"/>
                      <a:round/>
                      <a:headEnd type="none" w="med" len="med"/>
                      <a:tailEnd type="none" w="med" len="med"/>
                    </a:lnB>
                  </a:tcPr>
                </a:tc>
                <a:tc>
                  <a:txBody>
                    <a:bodyPr/>
                    <a:lstStyle/>
                    <a:p>
                      <a:pPr algn="ctr" fontAlgn="ctr">
                        <a:buNone/>
                      </a:pPr>
                      <a:r>
                        <a:rPr lang="en-US" sz="2000" b="1" u="none" strike="noStrike">
                          <a:solidFill>
                            <a:srgbClr val="FFFFFF"/>
                          </a:solidFill>
                          <a:effectLst/>
                        </a:rPr>
                        <a:t>Method</a:t>
                      </a:r>
                      <a:endParaRPr lang="en-US" sz="2000" b="1" i="0" u="none" strike="noStrike">
                        <a:solidFill>
                          <a:srgbClr val="FFFFFF"/>
                        </a:solidFill>
                        <a:effectLst/>
                        <a:latin typeface="Aptos Narrow" panose="020B0004020202020204" pitchFamily="34" charset="0"/>
                      </a:endParaRPr>
                    </a:p>
                  </a:txBody>
                  <a:tcPr marL="7620" marR="7620" marT="7620" marB="0" anchor="ct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57618"/>
                  </a:ext>
                </a:extLst>
              </a:tr>
              <a:tr h="423770">
                <a:tc>
                  <a:txBody>
                    <a:bodyPr/>
                    <a:lstStyle/>
                    <a:p>
                      <a:pPr algn="ctr" fontAlgn="ctr">
                        <a:buNone/>
                      </a:pPr>
                      <a:r>
                        <a:rPr lang="en-US" sz="2000" b="1" u="none" strike="noStrike" err="1">
                          <a:solidFill>
                            <a:srgbClr val="000000"/>
                          </a:solidFill>
                          <a:effectLst/>
                        </a:rPr>
                        <a:t>cfit</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{mechanical}</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Backdoor</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9589682"/>
                  </a:ext>
                </a:extLst>
              </a:tr>
              <a:tr h="423770">
                <a:tc>
                  <a:txBody>
                    <a:bodyPr/>
                    <a:lstStyle/>
                    <a:p>
                      <a:pPr algn="ctr" fontAlgn="ctr">
                        <a:buNone/>
                      </a:pPr>
                      <a:r>
                        <a:rPr lang="en-US" sz="2000" b="1" u="none" strike="noStrike">
                          <a:solidFill>
                            <a:srgbClr val="000000"/>
                          </a:solidFill>
                          <a:effectLst/>
                        </a:rPr>
                        <a:t>fuel</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 (empty)</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No spurious path present</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725310"/>
                  </a:ext>
                </a:extLst>
              </a:tr>
              <a:tr h="423770">
                <a:tc>
                  <a:txBody>
                    <a:bodyPr/>
                    <a:lstStyle/>
                    <a:p>
                      <a:pPr algn="ctr" fontAlgn="ctr">
                        <a:buNone/>
                      </a:pPr>
                      <a:r>
                        <a:rPr lang="en-US" sz="2000" b="1" u="none" strike="noStrike">
                          <a:solidFill>
                            <a:srgbClr val="000000"/>
                          </a:solidFill>
                          <a:effectLst/>
                        </a:rPr>
                        <a:t>mechanical</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{subregion}</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Backdoor</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281011"/>
                  </a:ext>
                </a:extLst>
              </a:tr>
              <a:tr h="423770">
                <a:tc>
                  <a:txBody>
                    <a:bodyPr/>
                    <a:lstStyle/>
                    <a:p>
                      <a:pPr algn="ctr" fontAlgn="ctr">
                        <a:buNone/>
                      </a:pPr>
                      <a:r>
                        <a:rPr lang="en-US" sz="2000" b="1" u="none" strike="noStrike" err="1">
                          <a:solidFill>
                            <a:srgbClr val="000000"/>
                          </a:solidFill>
                          <a:effectLst/>
                        </a:rPr>
                        <a:t>pilot_error</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{subregion}</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Backdoor</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497030"/>
                  </a:ext>
                </a:extLst>
              </a:tr>
              <a:tr h="423770">
                <a:tc>
                  <a:txBody>
                    <a:bodyPr/>
                    <a:lstStyle/>
                    <a:p>
                      <a:pPr algn="ctr" fontAlgn="ctr">
                        <a:buNone/>
                      </a:pPr>
                      <a:r>
                        <a:rPr lang="en-US" sz="2000" b="1" u="none" strike="noStrike">
                          <a:solidFill>
                            <a:srgbClr val="000000"/>
                          </a:solidFill>
                          <a:effectLst/>
                        </a:rPr>
                        <a:t>weather</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{subregion}</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Backdoor</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7560232"/>
                  </a:ext>
                </a:extLst>
              </a:tr>
              <a:tr h="423770">
                <a:tc>
                  <a:txBody>
                    <a:bodyPr/>
                    <a:lstStyle/>
                    <a:p>
                      <a:pPr algn="ctr" fontAlgn="ctr">
                        <a:buNone/>
                      </a:pPr>
                      <a:r>
                        <a:rPr lang="en-US" sz="2000" b="1" u="none" strike="noStrike">
                          <a:solidFill>
                            <a:srgbClr val="000000"/>
                          </a:solidFill>
                          <a:effectLst/>
                        </a:rPr>
                        <a:t>collision</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NDP (effect = 0)</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814188"/>
                  </a:ext>
                </a:extLst>
              </a:tr>
              <a:tr h="423770">
                <a:tc>
                  <a:txBody>
                    <a:bodyPr/>
                    <a:lstStyle/>
                    <a:p>
                      <a:pPr algn="ctr" fontAlgn="ctr">
                        <a:buNone/>
                      </a:pPr>
                      <a:r>
                        <a:rPr lang="en-US" sz="2000" b="1" u="none" strike="noStrike">
                          <a:solidFill>
                            <a:srgbClr val="000000"/>
                          </a:solidFill>
                          <a:effectLst/>
                        </a:rPr>
                        <a:t>fire</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NDP (effect = 0)</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9128003"/>
                  </a:ext>
                </a:extLst>
              </a:tr>
              <a:tr h="423770">
                <a:tc>
                  <a:txBody>
                    <a:bodyPr/>
                    <a:lstStyle/>
                    <a:p>
                      <a:pPr algn="ctr" fontAlgn="ctr">
                        <a:buNone/>
                      </a:pPr>
                      <a:r>
                        <a:rPr lang="en-US" sz="2000" b="1" u="none" strike="noStrike">
                          <a:solidFill>
                            <a:srgbClr val="000000"/>
                          </a:solidFill>
                          <a:effectLst/>
                        </a:rPr>
                        <a:t>sabotage</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NDP (effect = 0)</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682695"/>
                  </a:ext>
                </a:extLst>
              </a:tr>
              <a:tr h="423770">
                <a:tc>
                  <a:txBody>
                    <a:bodyPr/>
                    <a:lstStyle/>
                    <a:p>
                      <a:pPr algn="ctr" fontAlgn="ctr">
                        <a:buNone/>
                      </a:pPr>
                      <a:r>
                        <a:rPr lang="en-US" sz="2000" b="1" u="none" strike="noStrike" err="1">
                          <a:solidFill>
                            <a:srgbClr val="000000"/>
                          </a:solidFill>
                          <a:effectLst/>
                        </a:rPr>
                        <a:t>shot_down</a:t>
                      </a:r>
                      <a:endParaRPr lang="en-US" sz="2000" b="1" i="0" u="none" strike="noStrike">
                        <a:solidFill>
                          <a:srgbClr val="000000"/>
                        </a:solidFill>
                        <a:effectLst/>
                        <a:latin typeface="Aptos Narrow" panose="020B0004020202020204" pitchFamily="34" charset="0"/>
                      </a:endParaRPr>
                    </a:p>
                  </a:txBody>
                  <a:tcPr marL="7620" marR="7620" marT="7620" marB="0" anchor="ctr">
                    <a:lnR w="9525" cap="flat" cmpd="sng" algn="ctr">
                      <a:solidFill>
                        <a:schemeClr val="tx1"/>
                      </a:solidFill>
                      <a:prstDash val="solid"/>
                      <a:round/>
                      <a:headEnd type="none" w="med" len="med"/>
                      <a:tailEnd type="none" w="med" len="med"/>
                    </a:lnR>
                  </a:tcPr>
                </a:tc>
                <a:tc>
                  <a:txBody>
                    <a:bodyPr/>
                    <a:lstStyle/>
                    <a:p>
                      <a:pPr algn="ctr" fontAlgn="ctr">
                        <a:buNone/>
                      </a:pPr>
                      <a:r>
                        <a:rPr lang="en-US" sz="2000" b="0" u="none" strike="noStrike">
                          <a:solidFill>
                            <a:srgbClr val="000000"/>
                          </a:solidFill>
                          <a:effectLst/>
                        </a:rPr>
                        <a:t>—</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buNone/>
                      </a:pPr>
                      <a:r>
                        <a:rPr lang="en-US" sz="2000" b="0" u="none" strike="noStrike">
                          <a:solidFill>
                            <a:srgbClr val="000000"/>
                          </a:solidFill>
                          <a:effectLst/>
                        </a:rPr>
                        <a:t>NDP (effect = 0)</a:t>
                      </a:r>
                      <a:endParaRPr lang="en-US" sz="20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9121397"/>
                  </a:ext>
                </a:extLst>
              </a:tr>
            </a:tbl>
          </a:graphicData>
        </a:graphic>
      </p:graphicFrame>
      <p:sp>
        <p:nvSpPr>
          <p:cNvPr id="11" name="TextBox 10">
            <a:extLst>
              <a:ext uri="{FF2B5EF4-FFF2-40B4-BE49-F238E27FC236}">
                <a16:creationId xmlns:a16="http://schemas.microsoft.com/office/drawing/2014/main" id="{2EA4809B-EAE2-A415-40C6-67A5CB25495C}"/>
              </a:ext>
            </a:extLst>
          </p:cNvPr>
          <p:cNvSpPr txBox="1"/>
          <p:nvPr/>
        </p:nvSpPr>
        <p:spPr>
          <a:xfrm>
            <a:off x="2870295" y="6064647"/>
            <a:ext cx="2970416" cy="400110"/>
          </a:xfrm>
          <a:prstGeom prst="rect">
            <a:avLst/>
          </a:prstGeom>
          <a:noFill/>
        </p:spPr>
        <p:txBody>
          <a:bodyPr wrap="square" rtlCol="0">
            <a:spAutoFit/>
          </a:bodyPr>
          <a:lstStyle/>
          <a:p>
            <a:r>
              <a:rPr lang="en-US" sz="1800"/>
              <a:t>*</a:t>
            </a:r>
            <a:r>
              <a:rPr lang="en-US" sz="2000">
                <a:latin typeface="+mn-lt"/>
                <a:ea typeface="+mn-ea"/>
                <a:cs typeface="+mn-cs"/>
              </a:rPr>
              <a:t>NPD = No directed path </a:t>
            </a:r>
          </a:p>
        </p:txBody>
      </p:sp>
      <p:grpSp>
        <p:nvGrpSpPr>
          <p:cNvPr id="39" name="Group 38">
            <a:extLst>
              <a:ext uri="{FF2B5EF4-FFF2-40B4-BE49-F238E27FC236}">
                <a16:creationId xmlns:a16="http://schemas.microsoft.com/office/drawing/2014/main" id="{C149A7AC-0411-7C2B-C69F-3579CF8E9D23}"/>
              </a:ext>
            </a:extLst>
          </p:cNvPr>
          <p:cNvGrpSpPr/>
          <p:nvPr/>
        </p:nvGrpSpPr>
        <p:grpSpPr>
          <a:xfrm>
            <a:off x="5563085" y="1653263"/>
            <a:ext cx="6723126" cy="3979505"/>
            <a:chOff x="1493474" y="1764833"/>
            <a:chExt cx="7517931" cy="4384230"/>
          </a:xfrm>
        </p:grpSpPr>
        <p:pic>
          <p:nvPicPr>
            <p:cNvPr id="12" name="Content Placeholder 7" descr="A diagram of a fire engine">
              <a:extLst>
                <a:ext uri="{FF2B5EF4-FFF2-40B4-BE49-F238E27FC236}">
                  <a16:creationId xmlns:a16="http://schemas.microsoft.com/office/drawing/2014/main" id="{4547F488-CFFE-1B7B-91CC-C76B22E52E9F}"/>
                </a:ext>
              </a:extLst>
            </p:cNvPr>
            <p:cNvPicPr>
              <a:picLocks noChangeAspect="1"/>
            </p:cNvPicPr>
            <p:nvPr/>
          </p:nvPicPr>
          <p:blipFill>
            <a:blip r:embed="rId3"/>
            <a:stretch>
              <a:fillRect/>
            </a:stretch>
          </p:blipFill>
          <p:spPr>
            <a:xfrm>
              <a:off x="1493474" y="1836750"/>
              <a:ext cx="7356810" cy="4312313"/>
            </a:xfrm>
            <a:prstGeom prst="rect">
              <a:avLst/>
            </a:prstGeom>
            <a:noFill/>
            <a:ln>
              <a:noFill/>
            </a:ln>
          </p:spPr>
        </p:pic>
        <p:sp>
          <p:nvSpPr>
            <p:cNvPr id="13" name="Rectangle: Rounded Corners 12">
              <a:extLst>
                <a:ext uri="{FF2B5EF4-FFF2-40B4-BE49-F238E27FC236}">
                  <a16:creationId xmlns:a16="http://schemas.microsoft.com/office/drawing/2014/main" id="{5F26A7F3-70BC-F5D0-28BE-D1213CF899E9}"/>
                </a:ext>
              </a:extLst>
            </p:cNvPr>
            <p:cNvSpPr/>
            <p:nvPr/>
          </p:nvSpPr>
          <p:spPr>
            <a:xfrm>
              <a:off x="6470648" y="1764833"/>
              <a:ext cx="2540757" cy="1475585"/>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highlight>
                    <a:srgbClr val="FF0000"/>
                  </a:highlight>
                </a:rPr>
                <a:t>    </a:t>
              </a:r>
              <a:r>
                <a:rPr lang="en-US">
                  <a:solidFill>
                    <a:schemeClr val="tx1"/>
                  </a:solidFill>
                </a:rPr>
                <a:t> = No Directed Path</a:t>
              </a:r>
            </a:p>
            <a:p>
              <a:r>
                <a:rPr lang="en-US">
                  <a:solidFill>
                    <a:srgbClr val="00B0F0"/>
                  </a:solidFill>
                  <a:highlight>
                    <a:srgbClr val="00B0F0"/>
                  </a:highlight>
                </a:rPr>
                <a:t>    </a:t>
              </a:r>
              <a:r>
                <a:rPr lang="en-US">
                  <a:solidFill>
                    <a:schemeClr val="tx1"/>
                  </a:solidFill>
                </a:rPr>
                <a:t> = Only Backdoor</a:t>
              </a:r>
            </a:p>
            <a:p>
              <a:r>
                <a:rPr kumimoji="0" lang="en-US" sz="1400" b="0" i="0" u="none" strike="noStrike" kern="0" cap="none" spc="0" normalizeH="0" baseline="0" noProof="0">
                  <a:ln>
                    <a:noFill/>
                  </a:ln>
                  <a:solidFill>
                    <a:prstClr val="black"/>
                  </a:solidFill>
                  <a:effectLst/>
                  <a:highlight>
                    <a:srgbClr val="FF00FF"/>
                  </a:highlight>
                  <a:uLnTx/>
                  <a:uFillTx/>
                  <a:latin typeface="Arial"/>
                  <a:ea typeface="+mn-ea"/>
                  <a:cs typeface="+mn-cs"/>
                  <a:sym typeface="Arial"/>
                </a:rPr>
                <a:t>    </a:t>
              </a:r>
              <a:r>
                <a:rPr kumimoji="0" lang="en-US" sz="1400" b="0" i="0" u="none" strike="noStrike" kern="0" cap="none" spc="0" normalizeH="0" baseline="0" noProof="0">
                  <a:ln>
                    <a:noFill/>
                  </a:ln>
                  <a:solidFill>
                    <a:prstClr val="black"/>
                  </a:solidFill>
                  <a:effectLst/>
                  <a:uLnTx/>
                  <a:uFillTx/>
                  <a:latin typeface="Arial"/>
                  <a:ea typeface="+mn-ea"/>
                  <a:cs typeface="+mn-cs"/>
                  <a:sym typeface="Arial"/>
                </a:rPr>
                <a:t> = No Parents</a:t>
              </a:r>
              <a:endParaRPr lang="en-US">
                <a:solidFill>
                  <a:schemeClr val="tx1"/>
                </a:solidFill>
              </a:endParaRPr>
            </a:p>
            <a:p>
              <a:r>
                <a:rPr lang="en-US">
                  <a:solidFill>
                    <a:schemeClr val="tx1"/>
                  </a:solidFill>
                  <a:highlight>
                    <a:srgbClr val="00FF00"/>
                  </a:highlight>
                </a:rPr>
                <a:t>    </a:t>
              </a:r>
              <a:r>
                <a:rPr lang="en-US">
                  <a:solidFill>
                    <a:schemeClr val="tx1"/>
                  </a:solidFill>
                </a:rPr>
                <a:t> = Control &amp; Backdoor Via Mechanical</a:t>
              </a:r>
            </a:p>
          </p:txBody>
        </p:sp>
        <p:sp>
          <p:nvSpPr>
            <p:cNvPr id="14" name="Oval 13">
              <a:extLst>
                <a:ext uri="{FF2B5EF4-FFF2-40B4-BE49-F238E27FC236}">
                  <a16:creationId xmlns:a16="http://schemas.microsoft.com/office/drawing/2014/main" id="{C1EAF018-7205-2754-ED31-D2F205CE2D4A}"/>
                </a:ext>
              </a:extLst>
            </p:cNvPr>
            <p:cNvSpPr/>
            <p:nvPr/>
          </p:nvSpPr>
          <p:spPr>
            <a:xfrm>
              <a:off x="3053543" y="2643447"/>
              <a:ext cx="748147" cy="5043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CE001B5-6D3F-FA5D-4BAD-695858DC7C25}"/>
                </a:ext>
              </a:extLst>
            </p:cNvPr>
            <p:cNvSpPr/>
            <p:nvPr/>
          </p:nvSpPr>
          <p:spPr>
            <a:xfrm>
              <a:off x="1618211" y="2784764"/>
              <a:ext cx="748147" cy="5043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DADB956-E84F-AF4C-C0AA-133A46BDF02F}"/>
                </a:ext>
              </a:extLst>
            </p:cNvPr>
            <p:cNvSpPr/>
            <p:nvPr/>
          </p:nvSpPr>
          <p:spPr>
            <a:xfrm>
              <a:off x="4455623" y="2432858"/>
              <a:ext cx="903316" cy="5043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B4AE073-CF31-BB96-54E1-C4F0424F670E}"/>
                </a:ext>
              </a:extLst>
            </p:cNvPr>
            <p:cNvSpPr/>
            <p:nvPr/>
          </p:nvSpPr>
          <p:spPr>
            <a:xfrm>
              <a:off x="5913120" y="3643746"/>
              <a:ext cx="487680" cy="46828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3F3B64C7-1A9E-578A-C20E-12A6D8B9AAA0}"/>
                </a:ext>
              </a:extLst>
            </p:cNvPr>
            <p:cNvCxnSpPr>
              <a:cxnSpLocks/>
            </p:cNvCxnSpPr>
            <p:nvPr/>
          </p:nvCxnSpPr>
          <p:spPr>
            <a:xfrm flipH="1" flipV="1">
              <a:off x="3707476" y="4887884"/>
              <a:ext cx="2133235" cy="271549"/>
            </a:xfrm>
            <a:prstGeom prst="straightConnector1">
              <a:avLst/>
            </a:prstGeom>
            <a:ln>
              <a:solidFill>
                <a:srgbClr val="00B0F0"/>
              </a:solidFill>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41D365E8-731D-4C83-CC3F-B7FB34848B6C}"/>
                </a:ext>
              </a:extLst>
            </p:cNvPr>
            <p:cNvCxnSpPr>
              <a:cxnSpLocks/>
            </p:cNvCxnSpPr>
            <p:nvPr/>
          </p:nvCxnSpPr>
          <p:spPr>
            <a:xfrm flipH="1" flipV="1">
              <a:off x="3585556" y="4976117"/>
              <a:ext cx="1241100" cy="477032"/>
            </a:xfrm>
            <a:prstGeom prst="straightConnector1">
              <a:avLst/>
            </a:prstGeom>
            <a:ln>
              <a:solidFill>
                <a:srgbClr val="00B0F0"/>
              </a:solidFill>
              <a:tailEnd type="triangle"/>
            </a:ln>
          </p:spPr>
          <p:style>
            <a:lnRef idx="3">
              <a:schemeClr val="accent1"/>
            </a:lnRef>
            <a:fillRef idx="0">
              <a:schemeClr val="accent1"/>
            </a:fillRef>
            <a:effectRef idx="2">
              <a:schemeClr val="accent1"/>
            </a:effectRef>
            <a:fontRef idx="minor">
              <a:schemeClr val="tx1"/>
            </a:fontRef>
          </p:style>
        </p:cxnSp>
        <p:cxnSp>
          <p:nvCxnSpPr>
            <p:cNvPr id="26" name="Connector: Curved 25">
              <a:extLst>
                <a:ext uri="{FF2B5EF4-FFF2-40B4-BE49-F238E27FC236}">
                  <a16:creationId xmlns:a16="http://schemas.microsoft.com/office/drawing/2014/main" id="{65EAFBB0-F183-5544-1D76-CA0EF8C2D75C}"/>
                </a:ext>
              </a:extLst>
            </p:cNvPr>
            <p:cNvCxnSpPr>
              <a:cxnSpLocks/>
            </p:cNvCxnSpPr>
            <p:nvPr/>
          </p:nvCxnSpPr>
          <p:spPr>
            <a:xfrm rot="10800000">
              <a:off x="3347259" y="5021251"/>
              <a:ext cx="2493453" cy="786574"/>
            </a:xfrm>
            <a:prstGeom prst="curvedConnector3">
              <a:avLst>
                <a:gd name="adj1" fmla="val 118010"/>
              </a:avLst>
            </a:prstGeom>
            <a:ln>
              <a:solidFill>
                <a:srgbClr val="00B0F0"/>
              </a:solidFill>
              <a:tailEnd type="triangle"/>
            </a:ln>
          </p:spPr>
          <p:style>
            <a:lnRef idx="3">
              <a:schemeClr val="accent1"/>
            </a:lnRef>
            <a:fillRef idx="0">
              <a:schemeClr val="accent1"/>
            </a:fillRef>
            <a:effectRef idx="2">
              <a:schemeClr val="accent1"/>
            </a:effectRef>
            <a:fontRef idx="minor">
              <a:schemeClr val="tx1"/>
            </a:fontRef>
          </p:style>
        </p:cxnSp>
        <p:sp>
          <p:nvSpPr>
            <p:cNvPr id="37" name="Oval 36">
              <a:extLst>
                <a:ext uri="{FF2B5EF4-FFF2-40B4-BE49-F238E27FC236}">
                  <a16:creationId xmlns:a16="http://schemas.microsoft.com/office/drawing/2014/main" id="{8D3C4031-774F-67CF-8A7A-1818553805AD}"/>
                </a:ext>
              </a:extLst>
            </p:cNvPr>
            <p:cNvSpPr/>
            <p:nvPr/>
          </p:nvSpPr>
          <p:spPr>
            <a:xfrm>
              <a:off x="6915739" y="4976117"/>
              <a:ext cx="487680" cy="468283"/>
            </a:xfrm>
            <a:prstGeom prst="ellipse">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Oval 17">
            <a:extLst>
              <a:ext uri="{FF2B5EF4-FFF2-40B4-BE49-F238E27FC236}">
                <a16:creationId xmlns:a16="http://schemas.microsoft.com/office/drawing/2014/main" id="{DAF6F805-5E83-A2D5-F162-E5A6B13500F0}"/>
              </a:ext>
            </a:extLst>
          </p:cNvPr>
          <p:cNvSpPr/>
          <p:nvPr/>
        </p:nvSpPr>
        <p:spPr>
          <a:xfrm>
            <a:off x="6921094" y="4173138"/>
            <a:ext cx="759312" cy="457753"/>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Connector: Curved 4">
            <a:extLst>
              <a:ext uri="{FF2B5EF4-FFF2-40B4-BE49-F238E27FC236}">
                <a16:creationId xmlns:a16="http://schemas.microsoft.com/office/drawing/2014/main" id="{62CDA94B-1F7A-2F7C-D8F3-F2CCD6AADC55}"/>
              </a:ext>
            </a:extLst>
          </p:cNvPr>
          <p:cNvCxnSpPr>
            <a:cxnSpLocks/>
          </p:cNvCxnSpPr>
          <p:nvPr/>
        </p:nvCxnSpPr>
        <p:spPr>
          <a:xfrm rot="10800000">
            <a:off x="6995886" y="4287994"/>
            <a:ext cx="2943508" cy="1212920"/>
          </a:xfrm>
          <a:prstGeom prst="curvedConnector3">
            <a:avLst>
              <a:gd name="adj1" fmla="val 127580"/>
            </a:avLst>
          </a:prstGeom>
          <a:ln>
            <a:solidFill>
              <a:srgbClr val="00FF00"/>
            </a:solidFill>
            <a:tailEnd type="triangle"/>
          </a:ln>
        </p:spPr>
        <p:style>
          <a:lnRef idx="3">
            <a:schemeClr val="accent1"/>
          </a:lnRef>
          <a:fillRef idx="0">
            <a:schemeClr val="accent1"/>
          </a:fillRef>
          <a:effectRef idx="2">
            <a:schemeClr val="accent1"/>
          </a:effectRef>
          <a:fontRef idx="minor">
            <a:schemeClr val="tx1"/>
          </a:fontRef>
        </p:style>
      </p:cxnSp>
      <p:cxnSp>
        <p:nvCxnSpPr>
          <p:cNvPr id="9" name="Straight Arrow Connector 8">
            <a:extLst>
              <a:ext uri="{FF2B5EF4-FFF2-40B4-BE49-F238E27FC236}">
                <a16:creationId xmlns:a16="http://schemas.microsoft.com/office/drawing/2014/main" id="{08D48126-7E03-CDDC-B518-259B84020E3E}"/>
              </a:ext>
            </a:extLst>
          </p:cNvPr>
          <p:cNvCxnSpPr/>
          <p:nvPr/>
        </p:nvCxnSpPr>
        <p:spPr>
          <a:xfrm flipH="1">
            <a:off x="9939394" y="4338320"/>
            <a:ext cx="621926" cy="1162595"/>
          </a:xfrm>
          <a:prstGeom prst="straightConnector1">
            <a:avLst/>
          </a:prstGeom>
          <a:ln>
            <a:solidFill>
              <a:srgbClr val="00FF00"/>
            </a:solidFill>
            <a:tailEnd type="triangle"/>
          </a:ln>
        </p:spPr>
        <p:style>
          <a:lnRef idx="3">
            <a:schemeClr val="accent1"/>
          </a:lnRef>
          <a:fillRef idx="0">
            <a:schemeClr val="accent1"/>
          </a:fillRef>
          <a:effectRef idx="2">
            <a:schemeClr val="accent1"/>
          </a:effectRef>
          <a:fontRef idx="minor">
            <a:schemeClr val="tx1"/>
          </a:fontRef>
        </p:style>
      </p:cxnSp>
      <p:sp>
        <p:nvSpPr>
          <p:cNvPr id="20" name="TextBox 19">
            <a:extLst>
              <a:ext uri="{FF2B5EF4-FFF2-40B4-BE49-F238E27FC236}">
                <a16:creationId xmlns:a16="http://schemas.microsoft.com/office/drawing/2014/main" id="{B641F9F0-2526-9D9B-143B-0801975699CE}"/>
              </a:ext>
            </a:extLst>
          </p:cNvPr>
          <p:cNvSpPr txBox="1"/>
          <p:nvPr/>
        </p:nvSpPr>
        <p:spPr>
          <a:xfrm>
            <a:off x="10817817" y="6426631"/>
            <a:ext cx="857573" cy="307777"/>
          </a:xfrm>
          <a:prstGeom prst="rect">
            <a:avLst/>
          </a:prstGeom>
          <a:noFill/>
        </p:spPr>
        <p:txBody>
          <a:bodyPr wrap="square" rtlCol="0">
            <a:spAutoFit/>
          </a:bodyPr>
          <a:lstStyle/>
          <a:p>
            <a:r>
              <a:rPr lang="en-US"/>
              <a:t>Seth</a:t>
            </a:r>
          </a:p>
        </p:txBody>
      </p:sp>
    </p:spTree>
    <p:extLst>
      <p:ext uri="{BB962C8B-B14F-4D97-AF65-F5344CB8AC3E}">
        <p14:creationId xmlns:p14="http://schemas.microsoft.com/office/powerpoint/2010/main" val="2577908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EBD18-C0D5-61F9-CFCE-9EFCD1173140}"/>
            </a:ext>
          </a:extLst>
        </p:cNvPr>
        <p:cNvGrpSpPr/>
        <p:nvPr/>
      </p:nvGrpSpPr>
      <p:grpSpPr>
        <a:xfrm>
          <a:off x="0" y="0"/>
          <a:ext cx="0" cy="0"/>
          <a:chOff x="0" y="0"/>
          <a:chExt cx="0" cy="0"/>
        </a:xfrm>
      </p:grpSpPr>
      <p:sp>
        <p:nvSpPr>
          <p:cNvPr id="115" name="Rectangle: Rounded Corners 114">
            <a:extLst>
              <a:ext uri="{FF2B5EF4-FFF2-40B4-BE49-F238E27FC236}">
                <a16:creationId xmlns:a16="http://schemas.microsoft.com/office/drawing/2014/main" id="{FCB77985-88E6-5175-527C-85D4325DC058}"/>
              </a:ext>
            </a:extLst>
          </p:cNvPr>
          <p:cNvSpPr/>
          <p:nvPr/>
        </p:nvSpPr>
        <p:spPr>
          <a:xfrm>
            <a:off x="6403254" y="4126986"/>
            <a:ext cx="258462" cy="217786"/>
          </a:xfrm>
          <a:prstGeom prst="roundRect">
            <a:avLst>
              <a:gd name="adj" fmla="val 50000"/>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Rounded Corners 115">
            <a:extLst>
              <a:ext uri="{FF2B5EF4-FFF2-40B4-BE49-F238E27FC236}">
                <a16:creationId xmlns:a16="http://schemas.microsoft.com/office/drawing/2014/main" id="{4B88A3D1-32D6-6EBB-4990-2DE63168964C}"/>
              </a:ext>
            </a:extLst>
          </p:cNvPr>
          <p:cNvSpPr/>
          <p:nvPr/>
        </p:nvSpPr>
        <p:spPr>
          <a:xfrm>
            <a:off x="6403254" y="5461744"/>
            <a:ext cx="258462" cy="217786"/>
          </a:xfrm>
          <a:prstGeom prst="roundRect">
            <a:avLst>
              <a:gd name="adj" fmla="val 50000"/>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D02E046-4DCA-F257-B761-F8448D505404}"/>
              </a:ext>
            </a:extLst>
          </p:cNvPr>
          <p:cNvGrpSpPr/>
          <p:nvPr/>
        </p:nvGrpSpPr>
        <p:grpSpPr>
          <a:xfrm>
            <a:off x="6491818" y="3898478"/>
            <a:ext cx="4287983" cy="2128530"/>
            <a:chOff x="6447483" y="3759933"/>
            <a:chExt cx="4287983" cy="2128530"/>
          </a:xfrm>
        </p:grpSpPr>
        <p:sp>
          <p:nvSpPr>
            <p:cNvPr id="117" name="Freeform: Shape 116">
              <a:extLst>
                <a:ext uri="{FF2B5EF4-FFF2-40B4-BE49-F238E27FC236}">
                  <a16:creationId xmlns:a16="http://schemas.microsoft.com/office/drawing/2014/main" id="{6F6184C0-A1FA-68BC-9619-E9904440F54C}"/>
                </a:ext>
              </a:extLst>
            </p:cNvPr>
            <p:cNvSpPr/>
            <p:nvPr/>
          </p:nvSpPr>
          <p:spPr>
            <a:xfrm>
              <a:off x="6462034" y="3759933"/>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8" name="Freeform: Shape 117">
              <a:extLst>
                <a:ext uri="{FF2B5EF4-FFF2-40B4-BE49-F238E27FC236}">
                  <a16:creationId xmlns:a16="http://schemas.microsoft.com/office/drawing/2014/main" id="{7D60D431-27EF-86C0-9640-8A69FB6050DF}"/>
                </a:ext>
              </a:extLst>
            </p:cNvPr>
            <p:cNvSpPr/>
            <p:nvPr/>
          </p:nvSpPr>
          <p:spPr>
            <a:xfrm>
              <a:off x="6447483" y="3759933"/>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sp>
        <p:nvSpPr>
          <p:cNvPr id="2" name="Title 1">
            <a:extLst>
              <a:ext uri="{FF2B5EF4-FFF2-40B4-BE49-F238E27FC236}">
                <a16:creationId xmlns:a16="http://schemas.microsoft.com/office/drawing/2014/main" id="{4B017A65-2EA7-905F-8DFC-393C53DB452C}"/>
              </a:ext>
            </a:extLst>
          </p:cNvPr>
          <p:cNvSpPr>
            <a:spLocks noGrp="1"/>
          </p:cNvSpPr>
          <p:nvPr>
            <p:ph type="title"/>
          </p:nvPr>
        </p:nvSpPr>
        <p:spPr/>
        <p:txBody>
          <a:bodyPr/>
          <a:lstStyle/>
          <a:p>
            <a:r>
              <a:rPr lang="en-US"/>
              <a:t>Results – Causal Structure Modeling</a:t>
            </a:r>
          </a:p>
        </p:txBody>
      </p:sp>
      <p:sp>
        <p:nvSpPr>
          <p:cNvPr id="4" name="Rectangle: Rounded Corners 3">
            <a:extLst>
              <a:ext uri="{FF2B5EF4-FFF2-40B4-BE49-F238E27FC236}">
                <a16:creationId xmlns:a16="http://schemas.microsoft.com/office/drawing/2014/main" id="{147044EB-691D-1991-AAB3-DDF0BCEA685B}"/>
              </a:ext>
            </a:extLst>
          </p:cNvPr>
          <p:cNvSpPr/>
          <p:nvPr/>
        </p:nvSpPr>
        <p:spPr>
          <a:xfrm>
            <a:off x="1500871" y="1667523"/>
            <a:ext cx="258462" cy="217786"/>
          </a:xfrm>
          <a:prstGeom prst="roundRect">
            <a:avLst>
              <a:gd name="adj" fmla="val 5000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624D5EC-A1A1-9F48-02E8-B9146CD9005A}"/>
              </a:ext>
            </a:extLst>
          </p:cNvPr>
          <p:cNvSpPr/>
          <p:nvPr/>
        </p:nvSpPr>
        <p:spPr>
          <a:xfrm>
            <a:off x="1500871" y="3002281"/>
            <a:ext cx="258462" cy="217786"/>
          </a:xfrm>
          <a:prstGeom prst="roundRect">
            <a:avLst>
              <a:gd name="adj" fmla="val 5000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D49A450-59F3-1C98-E287-1BEFC156A37E}"/>
              </a:ext>
            </a:extLst>
          </p:cNvPr>
          <p:cNvGrpSpPr/>
          <p:nvPr/>
        </p:nvGrpSpPr>
        <p:grpSpPr>
          <a:xfrm>
            <a:off x="1589435" y="1439015"/>
            <a:ext cx="4287983" cy="2128530"/>
            <a:chOff x="1545100" y="1300470"/>
            <a:chExt cx="4287983" cy="2128530"/>
          </a:xfrm>
        </p:grpSpPr>
        <p:sp>
          <p:nvSpPr>
            <p:cNvPr id="86" name="Freeform: Shape 85">
              <a:extLst>
                <a:ext uri="{FF2B5EF4-FFF2-40B4-BE49-F238E27FC236}">
                  <a16:creationId xmlns:a16="http://schemas.microsoft.com/office/drawing/2014/main" id="{875D91F7-EFD6-EA70-2236-AE9A16B9F47E}"/>
                </a:ext>
              </a:extLst>
            </p:cNvPr>
            <p:cNvSpPr/>
            <p:nvPr/>
          </p:nvSpPr>
          <p:spPr>
            <a:xfrm>
              <a:off x="1559651" y="1300470"/>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47D8BB2A-5E95-43AF-1103-8D7B19220278}"/>
                </a:ext>
              </a:extLst>
            </p:cNvPr>
            <p:cNvSpPr/>
            <p:nvPr/>
          </p:nvSpPr>
          <p:spPr>
            <a:xfrm>
              <a:off x="1545100" y="1300470"/>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grpSp>
        <p:nvGrpSpPr>
          <p:cNvPr id="13" name="Group 12">
            <a:extLst>
              <a:ext uri="{FF2B5EF4-FFF2-40B4-BE49-F238E27FC236}">
                <a16:creationId xmlns:a16="http://schemas.microsoft.com/office/drawing/2014/main" id="{2D7426BF-49EA-B8C0-BE7A-8D7E044549E4}"/>
              </a:ext>
            </a:extLst>
          </p:cNvPr>
          <p:cNvGrpSpPr/>
          <p:nvPr/>
        </p:nvGrpSpPr>
        <p:grpSpPr>
          <a:xfrm>
            <a:off x="1500870" y="1776415"/>
            <a:ext cx="484908" cy="1334759"/>
            <a:chOff x="1456535" y="1637870"/>
            <a:chExt cx="484908" cy="1334759"/>
          </a:xfrm>
          <a:solidFill>
            <a:schemeClr val="accent2"/>
          </a:solidFill>
        </p:grpSpPr>
        <p:sp>
          <p:nvSpPr>
            <p:cNvPr id="8" name="Freeform: Shape 7">
              <a:extLst>
                <a:ext uri="{FF2B5EF4-FFF2-40B4-BE49-F238E27FC236}">
                  <a16:creationId xmlns:a16="http://schemas.microsoft.com/office/drawing/2014/main" id="{A2E99654-6928-850C-4CFD-4E2B8E1C7106}"/>
                </a:ext>
              </a:extLst>
            </p:cNvPr>
            <p:cNvSpPr/>
            <p:nvPr/>
          </p:nvSpPr>
          <p:spPr>
            <a:xfrm>
              <a:off x="1456535" y="1637870"/>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Box 9">
              <a:extLst>
                <a:ext uri="{FF2B5EF4-FFF2-40B4-BE49-F238E27FC236}">
                  <a16:creationId xmlns:a16="http://schemas.microsoft.com/office/drawing/2014/main" id="{EDB6AEE2-035B-26D2-95F4-020BD25D2B41}"/>
                </a:ext>
              </a:extLst>
            </p:cNvPr>
            <p:cNvSpPr txBox="1"/>
            <p:nvPr/>
          </p:nvSpPr>
          <p:spPr>
            <a:xfrm rot="16200000">
              <a:off x="1301284" y="2151360"/>
              <a:ext cx="795410" cy="307777"/>
            </a:xfrm>
            <a:prstGeom prst="rect">
              <a:avLst/>
            </a:prstGeom>
            <a:grpFill/>
          </p:spPr>
          <p:txBody>
            <a:bodyPr wrap="none" rtlCol="0" anchor="b">
              <a:spAutoFit/>
            </a:bodyPr>
            <a:lstStyle/>
            <a:p>
              <a:pPr algn="ctr"/>
              <a:r>
                <a:rPr lang="en-US" sz="1400" b="1" cap="all"/>
                <a:t>Title 01</a:t>
              </a:r>
            </a:p>
          </p:txBody>
        </p:sp>
      </p:grpSp>
      <p:sp>
        <p:nvSpPr>
          <p:cNvPr id="87" name="TextBox 86">
            <a:extLst>
              <a:ext uri="{FF2B5EF4-FFF2-40B4-BE49-F238E27FC236}">
                <a16:creationId xmlns:a16="http://schemas.microsoft.com/office/drawing/2014/main" id="{1E7D77B1-81B6-9546-CD72-457D557FB977}"/>
              </a:ext>
            </a:extLst>
          </p:cNvPr>
          <p:cNvSpPr txBox="1"/>
          <p:nvPr/>
        </p:nvSpPr>
        <p:spPr>
          <a:xfrm>
            <a:off x="2377022" y="1491808"/>
            <a:ext cx="2239717" cy="523220"/>
          </a:xfrm>
          <a:prstGeom prst="rect">
            <a:avLst/>
          </a:prstGeom>
          <a:noFill/>
        </p:spPr>
        <p:txBody>
          <a:bodyPr wrap="none" rtlCol="0" anchor="b">
            <a:spAutoFit/>
          </a:bodyPr>
          <a:lstStyle/>
          <a:p>
            <a:pPr algn="ctr"/>
            <a:r>
              <a:rPr lang="en-US" sz="2800" b="1" cap="all">
                <a:solidFill>
                  <a:schemeClr val="accent2">
                    <a:lumMod val="50000"/>
                  </a:schemeClr>
                </a:solidFill>
              </a:rPr>
              <a:t>Approach</a:t>
            </a:r>
          </a:p>
        </p:txBody>
      </p:sp>
      <p:sp>
        <p:nvSpPr>
          <p:cNvPr id="90" name="TextBox 89">
            <a:extLst>
              <a:ext uri="{FF2B5EF4-FFF2-40B4-BE49-F238E27FC236}">
                <a16:creationId xmlns:a16="http://schemas.microsoft.com/office/drawing/2014/main" id="{643C42C3-DD98-E8BA-D1D1-4130A0179187}"/>
              </a:ext>
            </a:extLst>
          </p:cNvPr>
          <p:cNvSpPr txBox="1"/>
          <p:nvPr/>
        </p:nvSpPr>
        <p:spPr>
          <a:xfrm>
            <a:off x="2088893" y="2044189"/>
            <a:ext cx="2815971" cy="738664"/>
          </a:xfrm>
          <a:prstGeom prst="rect">
            <a:avLst/>
          </a:prstGeom>
          <a:noFill/>
        </p:spPr>
        <p:txBody>
          <a:bodyPr wrap="square">
            <a:spAutoFit/>
          </a:bodyPr>
          <a:lstStyle/>
          <a:p>
            <a:pPr lvl="1"/>
            <a:r>
              <a:rPr lang="en-US"/>
              <a:t>FCI Algorithm </a:t>
            </a:r>
          </a:p>
          <a:p>
            <a:pPr marL="285750" lvl="1" indent="-285750">
              <a:buFont typeface="Arial" panose="020B0604020202020204" pitchFamily="34" charset="0"/>
              <a:buChar char="•"/>
            </a:pPr>
            <a:r>
              <a:rPr lang="en-US"/>
              <a:t>Learned causal relationships</a:t>
            </a:r>
          </a:p>
          <a:p>
            <a:pPr marL="285750" lvl="1" indent="-285750">
              <a:buFont typeface="Arial" panose="020B0604020202020204" pitchFamily="34" charset="0"/>
              <a:buChar char="•"/>
            </a:pPr>
            <a:r>
              <a:rPr lang="en-US"/>
              <a:t> Generated DAG</a:t>
            </a:r>
          </a:p>
        </p:txBody>
      </p:sp>
      <p:sp>
        <p:nvSpPr>
          <p:cNvPr id="94" name="Rectangle: Rounded Corners 93">
            <a:extLst>
              <a:ext uri="{FF2B5EF4-FFF2-40B4-BE49-F238E27FC236}">
                <a16:creationId xmlns:a16="http://schemas.microsoft.com/office/drawing/2014/main" id="{D68EB8BD-E6A2-9175-A223-949B8892D445}"/>
              </a:ext>
            </a:extLst>
          </p:cNvPr>
          <p:cNvSpPr/>
          <p:nvPr/>
        </p:nvSpPr>
        <p:spPr>
          <a:xfrm>
            <a:off x="6403254" y="1667523"/>
            <a:ext cx="258462" cy="217786"/>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1647E0BF-0B56-6350-88FA-F21FD16B1E2F}"/>
              </a:ext>
            </a:extLst>
          </p:cNvPr>
          <p:cNvSpPr/>
          <p:nvPr/>
        </p:nvSpPr>
        <p:spPr>
          <a:xfrm>
            <a:off x="6403254" y="3002281"/>
            <a:ext cx="258462" cy="217786"/>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680B4A8-D67E-A10C-E984-09C7ED1CBBCD}"/>
              </a:ext>
            </a:extLst>
          </p:cNvPr>
          <p:cNvGrpSpPr/>
          <p:nvPr/>
        </p:nvGrpSpPr>
        <p:grpSpPr>
          <a:xfrm>
            <a:off x="6477267" y="1439015"/>
            <a:ext cx="4287983" cy="2128530"/>
            <a:chOff x="6447483" y="1300470"/>
            <a:chExt cx="4287983" cy="2128530"/>
          </a:xfrm>
        </p:grpSpPr>
        <p:sp>
          <p:nvSpPr>
            <p:cNvPr id="96" name="Freeform: Shape 95">
              <a:extLst>
                <a:ext uri="{FF2B5EF4-FFF2-40B4-BE49-F238E27FC236}">
                  <a16:creationId xmlns:a16="http://schemas.microsoft.com/office/drawing/2014/main" id="{0F323477-39EB-741F-8925-F0138FEC627A}"/>
                </a:ext>
              </a:extLst>
            </p:cNvPr>
            <p:cNvSpPr/>
            <p:nvPr/>
          </p:nvSpPr>
          <p:spPr>
            <a:xfrm>
              <a:off x="6462034" y="1300470"/>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7" name="Freeform: Shape 96">
              <a:extLst>
                <a:ext uri="{FF2B5EF4-FFF2-40B4-BE49-F238E27FC236}">
                  <a16:creationId xmlns:a16="http://schemas.microsoft.com/office/drawing/2014/main" id="{44036D6E-3867-B3AF-3595-85BA8FE8CEE7}"/>
                </a:ext>
              </a:extLst>
            </p:cNvPr>
            <p:cNvSpPr/>
            <p:nvPr/>
          </p:nvSpPr>
          <p:spPr>
            <a:xfrm>
              <a:off x="6447483" y="1300470"/>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grpSp>
        <p:nvGrpSpPr>
          <p:cNvPr id="9" name="Group 8">
            <a:extLst>
              <a:ext uri="{FF2B5EF4-FFF2-40B4-BE49-F238E27FC236}">
                <a16:creationId xmlns:a16="http://schemas.microsoft.com/office/drawing/2014/main" id="{A7EF6401-C6CE-6BE1-15E7-EEC408EE29B1}"/>
              </a:ext>
            </a:extLst>
          </p:cNvPr>
          <p:cNvGrpSpPr/>
          <p:nvPr/>
        </p:nvGrpSpPr>
        <p:grpSpPr>
          <a:xfrm>
            <a:off x="6403253" y="1776415"/>
            <a:ext cx="484908" cy="1334759"/>
            <a:chOff x="6358918" y="1637870"/>
            <a:chExt cx="484908" cy="1334759"/>
          </a:xfrm>
          <a:solidFill>
            <a:schemeClr val="accent1"/>
          </a:solidFill>
        </p:grpSpPr>
        <p:sp>
          <p:nvSpPr>
            <p:cNvPr id="98" name="Freeform: Shape 97">
              <a:extLst>
                <a:ext uri="{FF2B5EF4-FFF2-40B4-BE49-F238E27FC236}">
                  <a16:creationId xmlns:a16="http://schemas.microsoft.com/office/drawing/2014/main" id="{110AD7A9-5948-591A-5D0A-E33DBD09121D}"/>
                </a:ext>
              </a:extLst>
            </p:cNvPr>
            <p:cNvSpPr/>
            <p:nvPr/>
          </p:nvSpPr>
          <p:spPr>
            <a:xfrm>
              <a:off x="6358918" y="1637870"/>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9" name="TextBox 98">
              <a:extLst>
                <a:ext uri="{FF2B5EF4-FFF2-40B4-BE49-F238E27FC236}">
                  <a16:creationId xmlns:a16="http://schemas.microsoft.com/office/drawing/2014/main" id="{23186CE2-5B90-1AC0-1C84-833E2671FD25}"/>
                </a:ext>
              </a:extLst>
            </p:cNvPr>
            <p:cNvSpPr txBox="1"/>
            <p:nvPr/>
          </p:nvSpPr>
          <p:spPr>
            <a:xfrm rot="16200000">
              <a:off x="6203666" y="2151360"/>
              <a:ext cx="795411" cy="307777"/>
            </a:xfrm>
            <a:prstGeom prst="rect">
              <a:avLst/>
            </a:prstGeom>
            <a:grpFill/>
          </p:spPr>
          <p:txBody>
            <a:bodyPr wrap="none" rtlCol="0" anchor="b">
              <a:spAutoFit/>
            </a:bodyPr>
            <a:lstStyle/>
            <a:p>
              <a:pPr algn="ctr"/>
              <a:r>
                <a:rPr lang="en-US" sz="1400" b="1" cap="all"/>
                <a:t>Title 02</a:t>
              </a:r>
            </a:p>
          </p:txBody>
        </p:sp>
      </p:grpSp>
      <p:sp>
        <p:nvSpPr>
          <p:cNvPr id="100" name="TextBox 99">
            <a:extLst>
              <a:ext uri="{FF2B5EF4-FFF2-40B4-BE49-F238E27FC236}">
                <a16:creationId xmlns:a16="http://schemas.microsoft.com/office/drawing/2014/main" id="{75D83C7D-F835-FCAB-254F-FEC98C84133F}"/>
              </a:ext>
            </a:extLst>
          </p:cNvPr>
          <p:cNvSpPr txBox="1"/>
          <p:nvPr/>
        </p:nvSpPr>
        <p:spPr>
          <a:xfrm>
            <a:off x="7189638" y="1491808"/>
            <a:ext cx="2419252" cy="523220"/>
          </a:xfrm>
          <a:prstGeom prst="rect">
            <a:avLst/>
          </a:prstGeom>
          <a:noFill/>
        </p:spPr>
        <p:txBody>
          <a:bodyPr wrap="none" rtlCol="0" anchor="b">
            <a:spAutoFit/>
          </a:bodyPr>
          <a:lstStyle/>
          <a:p>
            <a:pPr algn="ctr"/>
            <a:r>
              <a:rPr lang="en-US" sz="2800" b="1" cap="all">
                <a:solidFill>
                  <a:schemeClr val="accent1">
                    <a:lumMod val="50000"/>
                  </a:schemeClr>
                </a:solidFill>
              </a:rPr>
              <a:t>Challenge</a:t>
            </a:r>
          </a:p>
        </p:txBody>
      </p:sp>
      <p:sp>
        <p:nvSpPr>
          <p:cNvPr id="102" name="TextBox 101">
            <a:extLst>
              <a:ext uri="{FF2B5EF4-FFF2-40B4-BE49-F238E27FC236}">
                <a16:creationId xmlns:a16="http://schemas.microsoft.com/office/drawing/2014/main" id="{81A98B46-DA0D-C88F-0203-7CF1A9209AA1}"/>
              </a:ext>
            </a:extLst>
          </p:cNvPr>
          <p:cNvSpPr txBox="1"/>
          <p:nvPr/>
        </p:nvSpPr>
        <p:spPr>
          <a:xfrm>
            <a:off x="6902712" y="1976629"/>
            <a:ext cx="3788418" cy="73866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noProof="1"/>
              <a:t>Initial model produced unrealistic relationships</a:t>
            </a:r>
          </a:p>
          <a:p>
            <a:pPr marL="548640" marR="0" lvl="0" indent="-18288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1"/>
              <a:t>Weather modeled as an effect</a:t>
            </a:r>
          </a:p>
        </p:txBody>
      </p:sp>
      <p:sp>
        <p:nvSpPr>
          <p:cNvPr id="105" name="Rectangle: Rounded Corners 104">
            <a:extLst>
              <a:ext uri="{FF2B5EF4-FFF2-40B4-BE49-F238E27FC236}">
                <a16:creationId xmlns:a16="http://schemas.microsoft.com/office/drawing/2014/main" id="{5639F235-D564-8776-948C-2A55A226081A}"/>
              </a:ext>
            </a:extLst>
          </p:cNvPr>
          <p:cNvSpPr/>
          <p:nvPr/>
        </p:nvSpPr>
        <p:spPr>
          <a:xfrm>
            <a:off x="1500871" y="4126986"/>
            <a:ext cx="258462" cy="217786"/>
          </a:xfrm>
          <a:prstGeom prst="roundRect">
            <a:avLst>
              <a:gd name="adj" fmla="val 50000"/>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Rounded Corners 105">
            <a:extLst>
              <a:ext uri="{FF2B5EF4-FFF2-40B4-BE49-F238E27FC236}">
                <a16:creationId xmlns:a16="http://schemas.microsoft.com/office/drawing/2014/main" id="{4196BDA5-34E0-41A2-F5E0-4C5721EB7D14}"/>
              </a:ext>
            </a:extLst>
          </p:cNvPr>
          <p:cNvSpPr/>
          <p:nvPr/>
        </p:nvSpPr>
        <p:spPr>
          <a:xfrm>
            <a:off x="1500871" y="5461744"/>
            <a:ext cx="258462" cy="217786"/>
          </a:xfrm>
          <a:prstGeom prst="roundRect">
            <a:avLst>
              <a:gd name="adj" fmla="val 50000"/>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422C5796-3F0E-AE2E-1814-956A8C3FEFE2}"/>
              </a:ext>
            </a:extLst>
          </p:cNvPr>
          <p:cNvGrpSpPr/>
          <p:nvPr/>
        </p:nvGrpSpPr>
        <p:grpSpPr>
          <a:xfrm>
            <a:off x="1589435" y="3898478"/>
            <a:ext cx="4287983" cy="2128530"/>
            <a:chOff x="1545100" y="3759933"/>
            <a:chExt cx="4287983" cy="2128530"/>
          </a:xfrm>
        </p:grpSpPr>
        <p:sp>
          <p:nvSpPr>
            <p:cNvPr id="107" name="Freeform: Shape 106">
              <a:extLst>
                <a:ext uri="{FF2B5EF4-FFF2-40B4-BE49-F238E27FC236}">
                  <a16:creationId xmlns:a16="http://schemas.microsoft.com/office/drawing/2014/main" id="{4982E026-917C-2A3D-29D8-2B566172665D}"/>
                </a:ext>
              </a:extLst>
            </p:cNvPr>
            <p:cNvSpPr/>
            <p:nvPr/>
          </p:nvSpPr>
          <p:spPr>
            <a:xfrm>
              <a:off x="1559651" y="3759933"/>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8" name="Freeform: Shape 107">
              <a:extLst>
                <a:ext uri="{FF2B5EF4-FFF2-40B4-BE49-F238E27FC236}">
                  <a16:creationId xmlns:a16="http://schemas.microsoft.com/office/drawing/2014/main" id="{BE7D1417-6E2C-512B-312E-11D7A16DA322}"/>
                </a:ext>
              </a:extLst>
            </p:cNvPr>
            <p:cNvSpPr/>
            <p:nvPr/>
          </p:nvSpPr>
          <p:spPr>
            <a:xfrm>
              <a:off x="1545100" y="3759933"/>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grpSp>
        <p:nvGrpSpPr>
          <p:cNvPr id="15" name="Group 14">
            <a:extLst>
              <a:ext uri="{FF2B5EF4-FFF2-40B4-BE49-F238E27FC236}">
                <a16:creationId xmlns:a16="http://schemas.microsoft.com/office/drawing/2014/main" id="{8C8A3A9E-0C7F-D018-2DD5-1951AF4C81BE}"/>
              </a:ext>
            </a:extLst>
          </p:cNvPr>
          <p:cNvGrpSpPr/>
          <p:nvPr/>
        </p:nvGrpSpPr>
        <p:grpSpPr>
          <a:xfrm>
            <a:off x="1500870" y="4235878"/>
            <a:ext cx="484908" cy="1334759"/>
            <a:chOff x="1456535" y="4097333"/>
            <a:chExt cx="484908" cy="1334759"/>
          </a:xfrm>
          <a:solidFill>
            <a:schemeClr val="accent4"/>
          </a:solidFill>
        </p:grpSpPr>
        <p:sp>
          <p:nvSpPr>
            <p:cNvPr id="109" name="Freeform: Shape 108">
              <a:extLst>
                <a:ext uri="{FF2B5EF4-FFF2-40B4-BE49-F238E27FC236}">
                  <a16:creationId xmlns:a16="http://schemas.microsoft.com/office/drawing/2014/main" id="{7ED24677-0B01-2D5C-14BE-59B9B98BC107}"/>
                </a:ext>
              </a:extLst>
            </p:cNvPr>
            <p:cNvSpPr/>
            <p:nvPr/>
          </p:nvSpPr>
          <p:spPr>
            <a:xfrm>
              <a:off x="1456535" y="4097333"/>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0" name="TextBox 109">
              <a:extLst>
                <a:ext uri="{FF2B5EF4-FFF2-40B4-BE49-F238E27FC236}">
                  <a16:creationId xmlns:a16="http://schemas.microsoft.com/office/drawing/2014/main" id="{AA9A8D75-4B3A-7FFA-E3D5-06A18127D271}"/>
                </a:ext>
              </a:extLst>
            </p:cNvPr>
            <p:cNvSpPr txBox="1"/>
            <p:nvPr/>
          </p:nvSpPr>
          <p:spPr>
            <a:xfrm rot="16200000">
              <a:off x="1301283" y="4610823"/>
              <a:ext cx="795411" cy="307777"/>
            </a:xfrm>
            <a:prstGeom prst="rect">
              <a:avLst/>
            </a:prstGeom>
            <a:grpFill/>
          </p:spPr>
          <p:txBody>
            <a:bodyPr wrap="none" rtlCol="0" anchor="b">
              <a:spAutoFit/>
            </a:bodyPr>
            <a:lstStyle/>
            <a:p>
              <a:pPr algn="ctr"/>
              <a:r>
                <a:rPr lang="en-US" sz="1400" b="1" cap="all"/>
                <a:t>Title 03</a:t>
              </a:r>
            </a:p>
          </p:txBody>
        </p:sp>
      </p:grpSp>
      <p:sp>
        <p:nvSpPr>
          <p:cNvPr id="111" name="TextBox 110">
            <a:extLst>
              <a:ext uri="{FF2B5EF4-FFF2-40B4-BE49-F238E27FC236}">
                <a16:creationId xmlns:a16="http://schemas.microsoft.com/office/drawing/2014/main" id="{19696E7B-5E59-4F0F-C1CE-CFBBB2A4DA51}"/>
              </a:ext>
            </a:extLst>
          </p:cNvPr>
          <p:cNvSpPr txBox="1"/>
          <p:nvPr/>
        </p:nvSpPr>
        <p:spPr>
          <a:xfrm>
            <a:off x="2477211" y="3951271"/>
            <a:ext cx="2039340" cy="523220"/>
          </a:xfrm>
          <a:prstGeom prst="rect">
            <a:avLst/>
          </a:prstGeom>
          <a:noFill/>
        </p:spPr>
        <p:txBody>
          <a:bodyPr wrap="none" rtlCol="0" anchor="b">
            <a:spAutoFit/>
          </a:bodyPr>
          <a:lstStyle/>
          <a:p>
            <a:pPr algn="ctr"/>
            <a:r>
              <a:rPr lang="en-US" sz="2800" b="1" cap="all">
                <a:solidFill>
                  <a:schemeClr val="accent4">
                    <a:lumMod val="50000"/>
                  </a:schemeClr>
                </a:solidFill>
              </a:rPr>
              <a:t>Solution</a:t>
            </a:r>
          </a:p>
        </p:txBody>
      </p:sp>
      <p:sp>
        <p:nvSpPr>
          <p:cNvPr id="113" name="TextBox 112">
            <a:extLst>
              <a:ext uri="{FF2B5EF4-FFF2-40B4-BE49-F238E27FC236}">
                <a16:creationId xmlns:a16="http://schemas.microsoft.com/office/drawing/2014/main" id="{CA81947A-BCF7-3390-ED62-67CF72E1869E}"/>
              </a:ext>
            </a:extLst>
          </p:cNvPr>
          <p:cNvSpPr txBox="1"/>
          <p:nvPr/>
        </p:nvSpPr>
        <p:spPr>
          <a:xfrm>
            <a:off x="2088893" y="4503652"/>
            <a:ext cx="3526660" cy="116955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noProof="1"/>
              <a:t>Added domain constraints: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1"/>
              <a:t>Weather → cause only (except for subregion)</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1"/>
              <a:t>is_military → root node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noProof="1"/>
              <a:t>High lethality → outcome (sink)</a:t>
            </a:r>
          </a:p>
        </p:txBody>
      </p:sp>
      <p:sp>
        <p:nvSpPr>
          <p:cNvPr id="121" name="TextBox 120">
            <a:extLst>
              <a:ext uri="{FF2B5EF4-FFF2-40B4-BE49-F238E27FC236}">
                <a16:creationId xmlns:a16="http://schemas.microsoft.com/office/drawing/2014/main" id="{EA3ABA83-C933-6BBA-B9F2-1660AE2C2C1D}"/>
              </a:ext>
            </a:extLst>
          </p:cNvPr>
          <p:cNvSpPr txBox="1"/>
          <p:nvPr/>
        </p:nvSpPr>
        <p:spPr>
          <a:xfrm>
            <a:off x="7160783" y="3951271"/>
            <a:ext cx="2476960" cy="523220"/>
          </a:xfrm>
          <a:prstGeom prst="rect">
            <a:avLst/>
          </a:prstGeom>
          <a:noFill/>
        </p:spPr>
        <p:txBody>
          <a:bodyPr wrap="none" rtlCol="0" anchor="b">
            <a:spAutoFit/>
          </a:bodyPr>
          <a:lstStyle/>
          <a:p>
            <a:pPr algn="ctr"/>
            <a:r>
              <a:rPr lang="en-US" sz="2800" b="1" cap="all">
                <a:solidFill>
                  <a:schemeClr val="accent5">
                    <a:lumMod val="50000"/>
                  </a:schemeClr>
                </a:solidFill>
              </a:rPr>
              <a:t>Key Insight</a:t>
            </a:r>
          </a:p>
        </p:txBody>
      </p:sp>
      <p:sp>
        <p:nvSpPr>
          <p:cNvPr id="123" name="TextBox 122">
            <a:extLst>
              <a:ext uri="{FF2B5EF4-FFF2-40B4-BE49-F238E27FC236}">
                <a16:creationId xmlns:a16="http://schemas.microsoft.com/office/drawing/2014/main" id="{39782FAF-E14D-25DD-3188-8BABB7E7DC58}"/>
              </a:ext>
            </a:extLst>
          </p:cNvPr>
          <p:cNvSpPr txBox="1"/>
          <p:nvPr/>
        </p:nvSpPr>
        <p:spPr>
          <a:xfrm>
            <a:off x="7235099" y="4569184"/>
            <a:ext cx="2815971" cy="52322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noProof="1"/>
              <a:t>Domain knowledge is critical for valid causal modeling. </a:t>
            </a:r>
          </a:p>
        </p:txBody>
      </p:sp>
      <p:grpSp>
        <p:nvGrpSpPr>
          <p:cNvPr id="7" name="Group 6">
            <a:extLst>
              <a:ext uri="{FF2B5EF4-FFF2-40B4-BE49-F238E27FC236}">
                <a16:creationId xmlns:a16="http://schemas.microsoft.com/office/drawing/2014/main" id="{8C338606-5DFB-34C4-EF7E-FFFD239722B6}"/>
              </a:ext>
            </a:extLst>
          </p:cNvPr>
          <p:cNvGrpSpPr/>
          <p:nvPr/>
        </p:nvGrpSpPr>
        <p:grpSpPr>
          <a:xfrm>
            <a:off x="6403253" y="4235878"/>
            <a:ext cx="484908" cy="1334759"/>
            <a:chOff x="6358918" y="4097333"/>
            <a:chExt cx="484908" cy="1334759"/>
          </a:xfrm>
          <a:solidFill>
            <a:schemeClr val="accent5"/>
          </a:solidFill>
        </p:grpSpPr>
        <p:sp>
          <p:nvSpPr>
            <p:cNvPr id="119" name="Freeform: Shape 118">
              <a:extLst>
                <a:ext uri="{FF2B5EF4-FFF2-40B4-BE49-F238E27FC236}">
                  <a16:creationId xmlns:a16="http://schemas.microsoft.com/office/drawing/2014/main" id="{4B5FB7C2-39F7-7FEE-2B36-868DAD14EEE1}"/>
                </a:ext>
              </a:extLst>
            </p:cNvPr>
            <p:cNvSpPr/>
            <p:nvPr/>
          </p:nvSpPr>
          <p:spPr>
            <a:xfrm>
              <a:off x="6358918" y="4097333"/>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0" name="TextBox 119">
              <a:extLst>
                <a:ext uri="{FF2B5EF4-FFF2-40B4-BE49-F238E27FC236}">
                  <a16:creationId xmlns:a16="http://schemas.microsoft.com/office/drawing/2014/main" id="{1617D37C-728D-0FB3-DDE0-DACD6E2E5859}"/>
                </a:ext>
              </a:extLst>
            </p:cNvPr>
            <p:cNvSpPr txBox="1"/>
            <p:nvPr/>
          </p:nvSpPr>
          <p:spPr>
            <a:xfrm rot="16200000">
              <a:off x="6203666" y="4610823"/>
              <a:ext cx="795411" cy="307777"/>
            </a:xfrm>
            <a:prstGeom prst="rect">
              <a:avLst/>
            </a:prstGeom>
            <a:grpFill/>
          </p:spPr>
          <p:txBody>
            <a:bodyPr wrap="none" rtlCol="0" anchor="b">
              <a:spAutoFit/>
            </a:bodyPr>
            <a:lstStyle/>
            <a:p>
              <a:pPr algn="ctr"/>
              <a:r>
                <a:rPr lang="en-US" sz="1400" b="1" cap="all"/>
                <a:t>Title 04</a:t>
              </a:r>
            </a:p>
          </p:txBody>
        </p:sp>
      </p:grpSp>
      <p:sp>
        <p:nvSpPr>
          <p:cNvPr id="3" name="TextBox 2">
            <a:extLst>
              <a:ext uri="{FF2B5EF4-FFF2-40B4-BE49-F238E27FC236}">
                <a16:creationId xmlns:a16="http://schemas.microsoft.com/office/drawing/2014/main" id="{A9B9F9A6-E940-4667-8846-D94171582376}"/>
              </a:ext>
            </a:extLst>
          </p:cNvPr>
          <p:cNvSpPr txBox="1"/>
          <p:nvPr/>
        </p:nvSpPr>
        <p:spPr>
          <a:xfrm>
            <a:off x="10817817" y="6426631"/>
            <a:ext cx="857573" cy="307777"/>
          </a:xfrm>
          <a:prstGeom prst="rect">
            <a:avLst/>
          </a:prstGeom>
          <a:noFill/>
        </p:spPr>
        <p:txBody>
          <a:bodyPr wrap="square" rtlCol="0">
            <a:spAutoFit/>
          </a:bodyPr>
          <a:lstStyle/>
          <a:p>
            <a:r>
              <a:rPr lang="en-US"/>
              <a:t>Brock</a:t>
            </a:r>
          </a:p>
        </p:txBody>
      </p:sp>
    </p:spTree>
    <p:extLst>
      <p:ext uri="{BB962C8B-B14F-4D97-AF65-F5344CB8AC3E}">
        <p14:creationId xmlns:p14="http://schemas.microsoft.com/office/powerpoint/2010/main" val="3997213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 Key Causal Findings</a:t>
            </a:r>
          </a:p>
        </p:txBody>
      </p:sp>
      <p:sp>
        <p:nvSpPr>
          <p:cNvPr id="4" name="Rectangle: Rounded Corners 3">
            <a:extLst>
              <a:ext uri="{FF2B5EF4-FFF2-40B4-BE49-F238E27FC236}">
                <a16:creationId xmlns:a16="http://schemas.microsoft.com/office/drawing/2014/main" id="{433EBD6A-CB9D-F322-262F-20FF464DB177}"/>
              </a:ext>
            </a:extLst>
          </p:cNvPr>
          <p:cNvSpPr/>
          <p:nvPr/>
        </p:nvSpPr>
        <p:spPr>
          <a:xfrm>
            <a:off x="6403254" y="4126986"/>
            <a:ext cx="258462" cy="217786"/>
          </a:xfrm>
          <a:prstGeom prst="roundRect">
            <a:avLst>
              <a:gd name="adj" fmla="val 50000"/>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A0021B-56BE-F8AA-E149-16721E1F0890}"/>
              </a:ext>
            </a:extLst>
          </p:cNvPr>
          <p:cNvSpPr/>
          <p:nvPr/>
        </p:nvSpPr>
        <p:spPr>
          <a:xfrm>
            <a:off x="6403254" y="5461744"/>
            <a:ext cx="258462" cy="217786"/>
          </a:xfrm>
          <a:prstGeom prst="roundRect">
            <a:avLst>
              <a:gd name="adj" fmla="val 50000"/>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DD83817D-B1DD-E827-DF80-9330E0822B21}"/>
              </a:ext>
            </a:extLst>
          </p:cNvPr>
          <p:cNvGrpSpPr/>
          <p:nvPr/>
        </p:nvGrpSpPr>
        <p:grpSpPr>
          <a:xfrm>
            <a:off x="6491818" y="3898478"/>
            <a:ext cx="4287983" cy="2128530"/>
            <a:chOff x="6447483" y="3759933"/>
            <a:chExt cx="4287983" cy="2128530"/>
          </a:xfrm>
          <a:solidFill>
            <a:schemeClr val="tx1"/>
          </a:solidFill>
        </p:grpSpPr>
        <p:sp>
          <p:nvSpPr>
            <p:cNvPr id="7" name="Freeform: Shape 6">
              <a:extLst>
                <a:ext uri="{FF2B5EF4-FFF2-40B4-BE49-F238E27FC236}">
                  <a16:creationId xmlns:a16="http://schemas.microsoft.com/office/drawing/2014/main" id="{02E8DE56-0AFA-A5C0-DE8A-E1EB60B71518}"/>
                </a:ext>
              </a:extLst>
            </p:cNvPr>
            <p:cNvSpPr/>
            <p:nvPr/>
          </p:nvSpPr>
          <p:spPr>
            <a:xfrm>
              <a:off x="6462034" y="3759933"/>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E424E219-9305-5D44-582C-6BF6A55A41F9}"/>
                </a:ext>
              </a:extLst>
            </p:cNvPr>
            <p:cNvSpPr/>
            <p:nvPr/>
          </p:nvSpPr>
          <p:spPr>
            <a:xfrm>
              <a:off x="6447483" y="3759933"/>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sp>
        <p:nvSpPr>
          <p:cNvPr id="9" name="Rectangle: Rounded Corners 8">
            <a:extLst>
              <a:ext uri="{FF2B5EF4-FFF2-40B4-BE49-F238E27FC236}">
                <a16:creationId xmlns:a16="http://schemas.microsoft.com/office/drawing/2014/main" id="{1D04322A-18D6-ED22-2924-44A0A55782E8}"/>
              </a:ext>
            </a:extLst>
          </p:cNvPr>
          <p:cNvSpPr/>
          <p:nvPr/>
        </p:nvSpPr>
        <p:spPr>
          <a:xfrm>
            <a:off x="1500871" y="1667523"/>
            <a:ext cx="258462" cy="217786"/>
          </a:xfrm>
          <a:prstGeom prst="roundRect">
            <a:avLst>
              <a:gd name="adj" fmla="val 5000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CD1834F3-E7A8-5E59-0DA1-C644B6A53294}"/>
              </a:ext>
            </a:extLst>
          </p:cNvPr>
          <p:cNvSpPr/>
          <p:nvPr/>
        </p:nvSpPr>
        <p:spPr>
          <a:xfrm>
            <a:off x="1500871" y="3002281"/>
            <a:ext cx="258462" cy="217786"/>
          </a:xfrm>
          <a:prstGeom prst="roundRect">
            <a:avLst>
              <a:gd name="adj" fmla="val 5000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D9BCA959-12C5-1207-B87F-F6204ABE0405}"/>
              </a:ext>
            </a:extLst>
          </p:cNvPr>
          <p:cNvGrpSpPr/>
          <p:nvPr/>
        </p:nvGrpSpPr>
        <p:grpSpPr>
          <a:xfrm>
            <a:off x="1589435" y="1439015"/>
            <a:ext cx="4287983" cy="2128530"/>
            <a:chOff x="1545100" y="1300470"/>
            <a:chExt cx="4287983" cy="2128530"/>
          </a:xfrm>
          <a:solidFill>
            <a:schemeClr val="tx1"/>
          </a:solidFill>
        </p:grpSpPr>
        <p:sp>
          <p:nvSpPr>
            <p:cNvPr id="12" name="Freeform: Shape 11">
              <a:extLst>
                <a:ext uri="{FF2B5EF4-FFF2-40B4-BE49-F238E27FC236}">
                  <a16:creationId xmlns:a16="http://schemas.microsoft.com/office/drawing/2014/main" id="{93CCBDF7-29FE-99E5-9E5D-CD38199551E6}"/>
                </a:ext>
              </a:extLst>
            </p:cNvPr>
            <p:cNvSpPr/>
            <p:nvPr/>
          </p:nvSpPr>
          <p:spPr>
            <a:xfrm>
              <a:off x="1559651" y="1300470"/>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531A40D-9A46-37ED-E5DF-3265B8D3DC4D}"/>
                </a:ext>
              </a:extLst>
            </p:cNvPr>
            <p:cNvSpPr/>
            <p:nvPr/>
          </p:nvSpPr>
          <p:spPr>
            <a:xfrm>
              <a:off x="1545100" y="1300470"/>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grpSp>
        <p:nvGrpSpPr>
          <p:cNvPr id="14" name="Group 13">
            <a:extLst>
              <a:ext uri="{FF2B5EF4-FFF2-40B4-BE49-F238E27FC236}">
                <a16:creationId xmlns:a16="http://schemas.microsoft.com/office/drawing/2014/main" id="{9ED48E4D-319D-16E5-3612-A8A30F9B759C}"/>
              </a:ext>
            </a:extLst>
          </p:cNvPr>
          <p:cNvGrpSpPr/>
          <p:nvPr/>
        </p:nvGrpSpPr>
        <p:grpSpPr>
          <a:xfrm>
            <a:off x="1500870" y="1776415"/>
            <a:ext cx="484908" cy="1334759"/>
            <a:chOff x="1456535" y="1637870"/>
            <a:chExt cx="484908" cy="1334759"/>
          </a:xfrm>
          <a:solidFill>
            <a:schemeClr val="accent2"/>
          </a:solidFill>
        </p:grpSpPr>
        <p:sp>
          <p:nvSpPr>
            <p:cNvPr id="15" name="Freeform: Shape 14">
              <a:extLst>
                <a:ext uri="{FF2B5EF4-FFF2-40B4-BE49-F238E27FC236}">
                  <a16:creationId xmlns:a16="http://schemas.microsoft.com/office/drawing/2014/main" id="{5CBB9433-8794-B8BC-0B9C-7638526F94DC}"/>
                </a:ext>
              </a:extLst>
            </p:cNvPr>
            <p:cNvSpPr/>
            <p:nvPr/>
          </p:nvSpPr>
          <p:spPr>
            <a:xfrm>
              <a:off x="1456535" y="1637870"/>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16" name="TextBox 15">
              <a:extLst>
                <a:ext uri="{FF2B5EF4-FFF2-40B4-BE49-F238E27FC236}">
                  <a16:creationId xmlns:a16="http://schemas.microsoft.com/office/drawing/2014/main" id="{E4EEAC94-064F-EA74-8E8D-1B3C9B734459}"/>
                </a:ext>
              </a:extLst>
            </p:cNvPr>
            <p:cNvSpPr txBox="1"/>
            <p:nvPr/>
          </p:nvSpPr>
          <p:spPr>
            <a:xfrm rot="16200000">
              <a:off x="1233958" y="2151360"/>
              <a:ext cx="930063" cy="307777"/>
            </a:xfrm>
            <a:prstGeom prst="rect">
              <a:avLst/>
            </a:prstGeom>
            <a:grpFill/>
          </p:spPr>
          <p:txBody>
            <a:bodyPr wrap="none" rtlCol="0" anchor="b">
              <a:spAutoFit/>
            </a:bodyPr>
            <a:lstStyle/>
            <a:p>
              <a:pPr algn="ctr"/>
              <a:r>
                <a:rPr lang="en-US" sz="1400" b="1" cap="all">
                  <a:solidFill>
                    <a:schemeClr val="bg1"/>
                  </a:solidFill>
                </a:rPr>
                <a:t>Title 01</a:t>
              </a:r>
            </a:p>
          </p:txBody>
        </p:sp>
      </p:grpSp>
      <p:sp>
        <p:nvSpPr>
          <p:cNvPr id="17" name="TextBox 16">
            <a:extLst>
              <a:ext uri="{FF2B5EF4-FFF2-40B4-BE49-F238E27FC236}">
                <a16:creationId xmlns:a16="http://schemas.microsoft.com/office/drawing/2014/main" id="{4C70E349-8305-C212-6F86-84D789688E4D}"/>
              </a:ext>
            </a:extLst>
          </p:cNvPr>
          <p:cNvSpPr txBox="1"/>
          <p:nvPr/>
        </p:nvSpPr>
        <p:spPr>
          <a:xfrm>
            <a:off x="1812388" y="1496115"/>
            <a:ext cx="3765774" cy="400110"/>
          </a:xfrm>
          <a:prstGeom prst="rect">
            <a:avLst/>
          </a:prstGeom>
          <a:noFill/>
        </p:spPr>
        <p:txBody>
          <a:bodyPr wrap="none" rtlCol="0" anchor="b">
            <a:spAutoFit/>
          </a:bodyPr>
          <a:lstStyle/>
          <a:p>
            <a:pPr algn="ctr"/>
            <a:r>
              <a:rPr lang="en-US" sz="2000" b="1" cap="all">
                <a:solidFill>
                  <a:schemeClr val="accent2">
                    <a:lumMod val="60000"/>
                    <a:lumOff val="40000"/>
                  </a:schemeClr>
                </a:solidFill>
              </a:rPr>
              <a:t>Relationships Identified</a:t>
            </a:r>
          </a:p>
        </p:txBody>
      </p:sp>
      <p:sp>
        <p:nvSpPr>
          <p:cNvPr id="18" name="TextBox 17">
            <a:extLst>
              <a:ext uri="{FF2B5EF4-FFF2-40B4-BE49-F238E27FC236}">
                <a16:creationId xmlns:a16="http://schemas.microsoft.com/office/drawing/2014/main" id="{61F83A45-6231-C708-67CC-5997C2600531}"/>
              </a:ext>
            </a:extLst>
          </p:cNvPr>
          <p:cNvSpPr txBox="1"/>
          <p:nvPr/>
        </p:nvSpPr>
        <p:spPr>
          <a:xfrm>
            <a:off x="2230855" y="1925386"/>
            <a:ext cx="3555262" cy="738664"/>
          </a:xfrm>
          <a:prstGeom prst="rect">
            <a:avLst/>
          </a:prstGeom>
          <a:noFill/>
        </p:spPr>
        <p:txBody>
          <a:bodyPr wrap="square">
            <a:spAutoFit/>
          </a:bodyPr>
          <a:lstStyle/>
          <a:p>
            <a:pPr marL="285750" lvl="1" indent="-285750">
              <a:buClr>
                <a:schemeClr val="bg1"/>
              </a:buClr>
              <a:buFont typeface="Arial" panose="020B0604020202020204" pitchFamily="34" charset="0"/>
              <a:buChar char="•"/>
            </a:pPr>
            <a:r>
              <a:rPr lang="en-US">
                <a:solidFill>
                  <a:schemeClr val="bg1"/>
                </a:solidFill>
              </a:rPr>
              <a:t>Pilot Error → Collision/CFIT</a:t>
            </a:r>
          </a:p>
          <a:p>
            <a:pPr marL="285750" lvl="1" indent="-285750">
              <a:buClr>
                <a:schemeClr val="bg1"/>
              </a:buClr>
              <a:buFont typeface="Arial" panose="020B0604020202020204" pitchFamily="34" charset="0"/>
              <a:buChar char="•"/>
            </a:pPr>
            <a:r>
              <a:rPr lang="en-US">
                <a:solidFill>
                  <a:schemeClr val="bg1"/>
                </a:solidFill>
              </a:rPr>
              <a:t>Mechanical, Fuel, CFIT → High Lethality</a:t>
            </a:r>
          </a:p>
        </p:txBody>
      </p:sp>
      <p:sp>
        <p:nvSpPr>
          <p:cNvPr id="19" name="Rectangle: Rounded Corners 18">
            <a:extLst>
              <a:ext uri="{FF2B5EF4-FFF2-40B4-BE49-F238E27FC236}">
                <a16:creationId xmlns:a16="http://schemas.microsoft.com/office/drawing/2014/main" id="{8021D4BA-B0DC-D533-77F6-2C07B792B088}"/>
              </a:ext>
            </a:extLst>
          </p:cNvPr>
          <p:cNvSpPr/>
          <p:nvPr/>
        </p:nvSpPr>
        <p:spPr>
          <a:xfrm>
            <a:off x="6403254" y="1667523"/>
            <a:ext cx="258462" cy="217786"/>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262FA803-19BD-BD89-340A-43E5224A197E}"/>
              </a:ext>
            </a:extLst>
          </p:cNvPr>
          <p:cNvSpPr/>
          <p:nvPr/>
        </p:nvSpPr>
        <p:spPr>
          <a:xfrm>
            <a:off x="6403254" y="3002281"/>
            <a:ext cx="258462" cy="217786"/>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BCC476E-2B23-279F-EFA2-8722A342C0CA}"/>
              </a:ext>
            </a:extLst>
          </p:cNvPr>
          <p:cNvGrpSpPr/>
          <p:nvPr/>
        </p:nvGrpSpPr>
        <p:grpSpPr>
          <a:xfrm>
            <a:off x="6491818" y="1439015"/>
            <a:ext cx="4287983" cy="2128530"/>
            <a:chOff x="6447483" y="1300470"/>
            <a:chExt cx="4287983" cy="2128530"/>
          </a:xfrm>
          <a:solidFill>
            <a:schemeClr val="tx1"/>
          </a:solidFill>
        </p:grpSpPr>
        <p:sp>
          <p:nvSpPr>
            <p:cNvPr id="22" name="Freeform: Shape 21">
              <a:extLst>
                <a:ext uri="{FF2B5EF4-FFF2-40B4-BE49-F238E27FC236}">
                  <a16:creationId xmlns:a16="http://schemas.microsoft.com/office/drawing/2014/main" id="{B1F5A69B-3A1A-1519-1FCC-D280CBEC227B}"/>
                </a:ext>
              </a:extLst>
            </p:cNvPr>
            <p:cNvSpPr/>
            <p:nvPr/>
          </p:nvSpPr>
          <p:spPr>
            <a:xfrm>
              <a:off x="6462034" y="1300470"/>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D4D37075-A618-AC49-3B57-16F8362B8B84}"/>
                </a:ext>
              </a:extLst>
            </p:cNvPr>
            <p:cNvSpPr/>
            <p:nvPr/>
          </p:nvSpPr>
          <p:spPr>
            <a:xfrm>
              <a:off x="6447483" y="1300470"/>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grpSp>
        <p:nvGrpSpPr>
          <p:cNvPr id="24" name="Group 23">
            <a:extLst>
              <a:ext uri="{FF2B5EF4-FFF2-40B4-BE49-F238E27FC236}">
                <a16:creationId xmlns:a16="http://schemas.microsoft.com/office/drawing/2014/main" id="{C2A0F9C7-C351-5BC7-252C-BB1051C7BF96}"/>
              </a:ext>
            </a:extLst>
          </p:cNvPr>
          <p:cNvGrpSpPr/>
          <p:nvPr/>
        </p:nvGrpSpPr>
        <p:grpSpPr>
          <a:xfrm>
            <a:off x="6403253" y="1776415"/>
            <a:ext cx="484908" cy="1334759"/>
            <a:chOff x="6358918" y="1637870"/>
            <a:chExt cx="484908" cy="1334759"/>
          </a:xfrm>
          <a:solidFill>
            <a:schemeClr val="accent1"/>
          </a:solidFill>
        </p:grpSpPr>
        <p:sp>
          <p:nvSpPr>
            <p:cNvPr id="25" name="Freeform: Shape 24">
              <a:extLst>
                <a:ext uri="{FF2B5EF4-FFF2-40B4-BE49-F238E27FC236}">
                  <a16:creationId xmlns:a16="http://schemas.microsoft.com/office/drawing/2014/main" id="{B4701BDD-28EC-FA70-FD5F-C0BD25F31342}"/>
                </a:ext>
              </a:extLst>
            </p:cNvPr>
            <p:cNvSpPr/>
            <p:nvPr/>
          </p:nvSpPr>
          <p:spPr>
            <a:xfrm>
              <a:off x="6358918" y="1637870"/>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6" name="TextBox 25">
              <a:extLst>
                <a:ext uri="{FF2B5EF4-FFF2-40B4-BE49-F238E27FC236}">
                  <a16:creationId xmlns:a16="http://schemas.microsoft.com/office/drawing/2014/main" id="{27636591-AAA3-D09A-71BD-17E54263569C}"/>
                </a:ext>
              </a:extLst>
            </p:cNvPr>
            <p:cNvSpPr txBox="1"/>
            <p:nvPr/>
          </p:nvSpPr>
          <p:spPr>
            <a:xfrm rot="16200000">
              <a:off x="6136340" y="2151360"/>
              <a:ext cx="930063" cy="307777"/>
            </a:xfrm>
            <a:prstGeom prst="rect">
              <a:avLst/>
            </a:prstGeom>
            <a:grpFill/>
          </p:spPr>
          <p:txBody>
            <a:bodyPr wrap="none" rtlCol="0" anchor="b">
              <a:spAutoFit/>
            </a:bodyPr>
            <a:lstStyle/>
            <a:p>
              <a:pPr algn="ctr"/>
              <a:r>
                <a:rPr lang="en-US" sz="1400" b="1" cap="all">
                  <a:solidFill>
                    <a:schemeClr val="bg1"/>
                  </a:solidFill>
                </a:rPr>
                <a:t>Title 02</a:t>
              </a:r>
            </a:p>
          </p:txBody>
        </p:sp>
      </p:grpSp>
      <p:sp>
        <p:nvSpPr>
          <p:cNvPr id="27" name="TextBox 26">
            <a:extLst>
              <a:ext uri="{FF2B5EF4-FFF2-40B4-BE49-F238E27FC236}">
                <a16:creationId xmlns:a16="http://schemas.microsoft.com/office/drawing/2014/main" id="{45CE9E5D-3B32-13E1-8316-6016896E01EF}"/>
              </a:ext>
            </a:extLst>
          </p:cNvPr>
          <p:cNvSpPr txBox="1"/>
          <p:nvPr/>
        </p:nvSpPr>
        <p:spPr>
          <a:xfrm>
            <a:off x="7713252" y="1479992"/>
            <a:ext cx="1879041" cy="523220"/>
          </a:xfrm>
          <a:prstGeom prst="rect">
            <a:avLst/>
          </a:prstGeom>
          <a:noFill/>
        </p:spPr>
        <p:txBody>
          <a:bodyPr wrap="none" rtlCol="0" anchor="b">
            <a:spAutoFit/>
          </a:bodyPr>
          <a:lstStyle/>
          <a:p>
            <a:pPr algn="ctr"/>
            <a:r>
              <a:rPr lang="en-US" sz="2800" b="1" cap="all">
                <a:solidFill>
                  <a:schemeClr val="accent1"/>
                </a:solidFill>
              </a:rPr>
              <a:t>Insights</a:t>
            </a:r>
          </a:p>
        </p:txBody>
      </p:sp>
      <p:sp>
        <p:nvSpPr>
          <p:cNvPr id="28" name="TextBox 27">
            <a:extLst>
              <a:ext uri="{FF2B5EF4-FFF2-40B4-BE49-F238E27FC236}">
                <a16:creationId xmlns:a16="http://schemas.microsoft.com/office/drawing/2014/main" id="{8D1B4DB1-C441-DC78-6848-BE7A99012A47}"/>
              </a:ext>
            </a:extLst>
          </p:cNvPr>
          <p:cNvSpPr txBox="1"/>
          <p:nvPr/>
        </p:nvSpPr>
        <p:spPr>
          <a:xfrm>
            <a:off x="6991276" y="2044189"/>
            <a:ext cx="3237605" cy="95410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schemeClr val="bg1"/>
                </a:solidFill>
                <a:effectLst/>
                <a:uLnTx/>
                <a:uFillTx/>
                <a:latin typeface="Calibri" panose="020F0502020204030204"/>
                <a:ea typeface="+mn-ea"/>
                <a:cs typeface="+mn-cs"/>
              </a:rPr>
              <a:t>What we learned… </a:t>
            </a:r>
          </a:p>
          <a:p>
            <a:pPr marL="285750" indent="-285750">
              <a:buClrTx/>
              <a:buFont typeface="Arial" panose="020B0604020202020204" pitchFamily="34" charset="0"/>
              <a:buChar char="•"/>
              <a:defRPr/>
            </a:pPr>
            <a:r>
              <a:rPr lang="en-US" kern="1200" noProof="1">
                <a:solidFill>
                  <a:schemeClr val="bg1"/>
                </a:solidFill>
                <a:latin typeface="Calibri" panose="020F0502020204030204"/>
              </a:rPr>
              <a:t>mission determines geographic location  → Military aircraft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1">
                <a:ln>
                  <a:noFill/>
                </a:ln>
                <a:solidFill>
                  <a:schemeClr val="bg1"/>
                </a:solidFill>
                <a:effectLst/>
                <a:uLnTx/>
                <a:uFillTx/>
                <a:latin typeface="Calibri" panose="020F0502020204030204"/>
                <a:ea typeface="+mn-ea"/>
                <a:cs typeface="+mn-cs"/>
              </a:rPr>
              <a:t>Evidence of hidden confounders</a:t>
            </a:r>
          </a:p>
        </p:txBody>
      </p:sp>
      <p:sp>
        <p:nvSpPr>
          <p:cNvPr id="29" name="Rectangle: Rounded Corners 28">
            <a:extLst>
              <a:ext uri="{FF2B5EF4-FFF2-40B4-BE49-F238E27FC236}">
                <a16:creationId xmlns:a16="http://schemas.microsoft.com/office/drawing/2014/main" id="{AA99C455-0BA2-01BC-E033-E83B9FC6C101}"/>
              </a:ext>
            </a:extLst>
          </p:cNvPr>
          <p:cNvSpPr/>
          <p:nvPr/>
        </p:nvSpPr>
        <p:spPr>
          <a:xfrm>
            <a:off x="1500871" y="4126986"/>
            <a:ext cx="258462" cy="217786"/>
          </a:xfrm>
          <a:prstGeom prst="roundRect">
            <a:avLst>
              <a:gd name="adj" fmla="val 50000"/>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9368DE78-CCD2-9823-AA87-4A2094E70386}"/>
              </a:ext>
            </a:extLst>
          </p:cNvPr>
          <p:cNvSpPr/>
          <p:nvPr/>
        </p:nvSpPr>
        <p:spPr>
          <a:xfrm>
            <a:off x="1500871" y="5461744"/>
            <a:ext cx="258462" cy="217786"/>
          </a:xfrm>
          <a:prstGeom prst="roundRect">
            <a:avLst>
              <a:gd name="adj" fmla="val 50000"/>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6FB502C7-CA65-7D7B-464D-17F6C0BD9AAE}"/>
              </a:ext>
            </a:extLst>
          </p:cNvPr>
          <p:cNvGrpSpPr/>
          <p:nvPr/>
        </p:nvGrpSpPr>
        <p:grpSpPr>
          <a:xfrm>
            <a:off x="1645421" y="3920819"/>
            <a:ext cx="4287983" cy="2128530"/>
            <a:chOff x="1545100" y="3759933"/>
            <a:chExt cx="4287983" cy="2128530"/>
          </a:xfrm>
          <a:solidFill>
            <a:schemeClr val="tx1"/>
          </a:solidFill>
        </p:grpSpPr>
        <p:sp>
          <p:nvSpPr>
            <p:cNvPr id="32" name="Freeform: Shape 31">
              <a:extLst>
                <a:ext uri="{FF2B5EF4-FFF2-40B4-BE49-F238E27FC236}">
                  <a16:creationId xmlns:a16="http://schemas.microsoft.com/office/drawing/2014/main" id="{0EDEA23E-77A6-BEAA-74FB-E736B2BBBDF4}"/>
                </a:ext>
              </a:extLst>
            </p:cNvPr>
            <p:cNvSpPr/>
            <p:nvPr/>
          </p:nvSpPr>
          <p:spPr>
            <a:xfrm>
              <a:off x="1559651" y="3759933"/>
              <a:ext cx="4273432" cy="2128530"/>
            </a:xfrm>
            <a:custGeom>
              <a:avLst/>
              <a:gdLst>
                <a:gd name="csX0" fmla="*/ 553988 w 4273432"/>
                <a:gd name="csY0" fmla="*/ 0 h 2128530"/>
                <a:gd name="csX1" fmla="*/ 599253 w 4273432"/>
                <a:gd name="csY1" fmla="*/ 0 h 2128530"/>
                <a:gd name="csX2" fmla="*/ 1230415 w 4273432"/>
                <a:gd name="csY2" fmla="*/ 0 h 2128530"/>
                <a:gd name="csX3" fmla="*/ 3339912 w 4273432"/>
                <a:gd name="csY3" fmla="*/ 0 h 2128530"/>
                <a:gd name="csX4" fmla="*/ 3719444 w 4273432"/>
                <a:gd name="csY4" fmla="*/ 0 h 2128530"/>
                <a:gd name="csX5" fmla="*/ 3971074 w 4273432"/>
                <a:gd name="csY5" fmla="*/ 0 h 2128530"/>
                <a:gd name="csX6" fmla="*/ 4273432 w 4273432"/>
                <a:gd name="csY6" fmla="*/ 302358 h 2128530"/>
                <a:gd name="csX7" fmla="*/ 4273432 w 4273432"/>
                <a:gd name="csY7" fmla="*/ 406866 h 2128530"/>
                <a:gd name="csX8" fmla="*/ 4273432 w 4273432"/>
                <a:gd name="csY8" fmla="*/ 406871 h 2128530"/>
                <a:gd name="csX9" fmla="*/ 4273432 w 4273432"/>
                <a:gd name="csY9" fmla="*/ 1841172 h 2128530"/>
                <a:gd name="csX10" fmla="*/ 3986074 w 4273432"/>
                <a:gd name="csY10" fmla="*/ 2128530 h 2128530"/>
                <a:gd name="csX11" fmla="*/ 3719444 w 4273432"/>
                <a:gd name="csY11" fmla="*/ 2128530 h 2128530"/>
                <a:gd name="csX12" fmla="*/ 3243160 w 4273432"/>
                <a:gd name="csY12" fmla="*/ 2128530 h 2128530"/>
                <a:gd name="csX13" fmla="*/ 3149819 w 4273432"/>
                <a:gd name="csY13" fmla="*/ 2128530 h 2128530"/>
                <a:gd name="csX14" fmla="*/ 3043017 w 4273432"/>
                <a:gd name="csY14" fmla="*/ 2128530 h 2128530"/>
                <a:gd name="csX15" fmla="*/ 1245415 w 4273432"/>
                <a:gd name="csY15" fmla="*/ 2128530 h 2128530"/>
                <a:gd name="csX16" fmla="*/ 553988 w 4273432"/>
                <a:gd name="csY16" fmla="*/ 2128530 h 2128530"/>
                <a:gd name="csX17" fmla="*/ 502501 w 4273432"/>
                <a:gd name="csY17" fmla="*/ 2128530 h 2128530"/>
                <a:gd name="csX18" fmla="*/ 409160 w 4273432"/>
                <a:gd name="csY18" fmla="*/ 2128530 h 2128530"/>
                <a:gd name="csX19" fmla="*/ 302358 w 4273432"/>
                <a:gd name="csY19" fmla="*/ 2128530 h 2128530"/>
                <a:gd name="csX20" fmla="*/ 0 w 4273432"/>
                <a:gd name="csY20" fmla="*/ 1826173 h 2128530"/>
                <a:gd name="csX21" fmla="*/ 0 w 4273432"/>
                <a:gd name="csY21" fmla="*/ 551743 h 2128530"/>
                <a:gd name="csX22" fmla="*/ 104487 w 4273432"/>
                <a:gd name="csY22" fmla="*/ 323117 h 2128530"/>
                <a:gd name="csX23" fmla="*/ 145273 w 4273432"/>
                <a:gd name="csY23" fmla="*/ 293379 h 2128530"/>
                <a:gd name="csX24" fmla="*/ 170877 w 4273432"/>
                <a:gd name="csY24" fmla="*/ 246205 h 2128530"/>
                <a:gd name="csX25" fmla="*/ 351247 w 4273432"/>
                <a:gd name="csY25" fmla="*/ 125350 h 2128530"/>
                <a:gd name="csX26" fmla="*/ 355746 w 4273432"/>
                <a:gd name="csY26" fmla="*/ 124896 h 2128530"/>
                <a:gd name="csX27" fmla="*/ 370627 w 4273432"/>
                <a:gd name="csY27" fmla="*/ 104487 h 2128530"/>
                <a:gd name="csX28" fmla="*/ 532801 w 4273432"/>
                <a:gd name="csY28" fmla="*/ 7326 h 2128530"/>
                <a:gd name="csX29" fmla="*/ 553988 w 4273432"/>
                <a:gd name="csY29" fmla="*/ 4990 h 2128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3432" h="2128530">
                  <a:moveTo>
                    <a:pt x="553988" y="0"/>
                  </a:moveTo>
                  <a:lnTo>
                    <a:pt x="599253" y="0"/>
                  </a:lnTo>
                  <a:lnTo>
                    <a:pt x="1230415" y="0"/>
                  </a:lnTo>
                  <a:lnTo>
                    <a:pt x="3339912" y="0"/>
                  </a:lnTo>
                  <a:lnTo>
                    <a:pt x="3719444" y="0"/>
                  </a:lnTo>
                  <a:lnTo>
                    <a:pt x="3971074" y="0"/>
                  </a:lnTo>
                  <a:cubicBezTo>
                    <a:pt x="4138062" y="0"/>
                    <a:pt x="4273432" y="135370"/>
                    <a:pt x="4273432" y="302358"/>
                  </a:cubicBezTo>
                  <a:lnTo>
                    <a:pt x="4273432" y="406866"/>
                  </a:lnTo>
                  <a:lnTo>
                    <a:pt x="4273432" y="406871"/>
                  </a:lnTo>
                  <a:lnTo>
                    <a:pt x="4273432" y="1841172"/>
                  </a:lnTo>
                  <a:cubicBezTo>
                    <a:pt x="4273432" y="1999875"/>
                    <a:pt x="4144778" y="2128530"/>
                    <a:pt x="3986074" y="2128530"/>
                  </a:cubicBezTo>
                  <a:lnTo>
                    <a:pt x="3719444" y="2128530"/>
                  </a:lnTo>
                  <a:lnTo>
                    <a:pt x="3243160" y="2128530"/>
                  </a:lnTo>
                  <a:lnTo>
                    <a:pt x="3149819" y="2128530"/>
                  </a:lnTo>
                  <a:lnTo>
                    <a:pt x="3043017" y="2128530"/>
                  </a:lnTo>
                  <a:lnTo>
                    <a:pt x="1245415" y="2128530"/>
                  </a:lnTo>
                  <a:lnTo>
                    <a:pt x="553988" y="2128530"/>
                  </a:lnTo>
                  <a:lnTo>
                    <a:pt x="502501" y="2128530"/>
                  </a:lnTo>
                  <a:lnTo>
                    <a:pt x="409160" y="2128530"/>
                  </a:lnTo>
                  <a:lnTo>
                    <a:pt x="302358" y="2128530"/>
                  </a:lnTo>
                  <a:cubicBezTo>
                    <a:pt x="135370" y="2128530"/>
                    <a:pt x="0" y="1993160"/>
                    <a:pt x="0" y="1826173"/>
                  </a:cubicBezTo>
                  <a:lnTo>
                    <a:pt x="0" y="551743"/>
                  </a:lnTo>
                  <a:cubicBezTo>
                    <a:pt x="0" y="460422"/>
                    <a:pt x="40486" y="378557"/>
                    <a:pt x="104487" y="323117"/>
                  </a:cubicBezTo>
                  <a:lnTo>
                    <a:pt x="145273" y="293379"/>
                  </a:lnTo>
                  <a:lnTo>
                    <a:pt x="170877" y="246205"/>
                  </a:lnTo>
                  <a:cubicBezTo>
                    <a:pt x="212190" y="185055"/>
                    <a:pt x="276421" y="140661"/>
                    <a:pt x="351247" y="125350"/>
                  </a:cubicBezTo>
                  <a:lnTo>
                    <a:pt x="355746" y="124896"/>
                  </a:lnTo>
                  <a:lnTo>
                    <a:pt x="370627" y="104487"/>
                  </a:lnTo>
                  <a:cubicBezTo>
                    <a:pt x="412207" y="56486"/>
                    <a:pt x="468651" y="21713"/>
                    <a:pt x="532801" y="7326"/>
                  </a:cubicBezTo>
                  <a:lnTo>
                    <a:pt x="553988" y="499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B6C496B5-DAEA-C784-8226-9721F693CA81}"/>
                </a:ext>
              </a:extLst>
            </p:cNvPr>
            <p:cNvSpPr/>
            <p:nvPr/>
          </p:nvSpPr>
          <p:spPr>
            <a:xfrm>
              <a:off x="1545100" y="3759933"/>
              <a:ext cx="4152012" cy="2009564"/>
            </a:xfrm>
            <a:custGeom>
              <a:avLst/>
              <a:gdLst>
                <a:gd name="csX0" fmla="*/ 1178983 w 4152012"/>
                <a:gd name="csY0" fmla="*/ 0 h 2009564"/>
                <a:gd name="csX1" fmla="*/ 3215706 w 4152012"/>
                <a:gd name="csY1" fmla="*/ 0 h 2009564"/>
                <a:gd name="csX2" fmla="*/ 3215736 w 4152012"/>
                <a:gd name="csY2" fmla="*/ 3 h 2009564"/>
                <a:gd name="csX3" fmla="*/ 3943541 w 4152012"/>
                <a:gd name="csY3" fmla="*/ 3 h 2009564"/>
                <a:gd name="csX4" fmla="*/ 4152012 w 4152012"/>
                <a:gd name="csY4" fmla="*/ 208474 h 2009564"/>
                <a:gd name="csX5" fmla="*/ 4152012 w 4152012"/>
                <a:gd name="csY5" fmla="*/ 1801093 h 2009564"/>
                <a:gd name="csX6" fmla="*/ 3943541 w 4152012"/>
                <a:gd name="csY6" fmla="*/ 2009564 h 2009564"/>
                <a:gd name="csX7" fmla="*/ 2949130 w 4152012"/>
                <a:gd name="csY7" fmla="*/ 2009564 h 2009564"/>
                <a:gd name="csX8" fmla="*/ 2949101 w 4152012"/>
                <a:gd name="csY8" fmla="*/ 2009561 h 2009564"/>
                <a:gd name="csX9" fmla="*/ 1202912 w 4152012"/>
                <a:gd name="csY9" fmla="*/ 2009561 h 2009564"/>
                <a:gd name="csX10" fmla="*/ 1202882 w 4152012"/>
                <a:gd name="csY10" fmla="*/ 2009564 h 2009564"/>
                <a:gd name="csX11" fmla="*/ 208471 w 4152012"/>
                <a:gd name="csY11" fmla="*/ 2009564 h 2009564"/>
                <a:gd name="csX12" fmla="*/ 0 w 4152012"/>
                <a:gd name="csY12" fmla="*/ 1801093 h 2009564"/>
                <a:gd name="csX13" fmla="*/ 0 w 4152012"/>
                <a:gd name="csY13" fmla="*/ 208474 h 2009564"/>
                <a:gd name="csX14" fmla="*/ 208471 w 4152012"/>
                <a:gd name="csY14" fmla="*/ 3 h 2009564"/>
                <a:gd name="csX15" fmla="*/ 1178953 w 4152012"/>
                <a:gd name="csY15" fmla="*/ 3 h 2009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52012" h="2009564">
                  <a:moveTo>
                    <a:pt x="1178983" y="0"/>
                  </a:moveTo>
                  <a:lnTo>
                    <a:pt x="3215706" y="0"/>
                  </a:lnTo>
                  <a:lnTo>
                    <a:pt x="3215736" y="3"/>
                  </a:lnTo>
                  <a:lnTo>
                    <a:pt x="3943541" y="3"/>
                  </a:lnTo>
                  <a:cubicBezTo>
                    <a:pt x="4058676" y="3"/>
                    <a:pt x="4152012" y="93339"/>
                    <a:pt x="4152012" y="208474"/>
                  </a:cubicBezTo>
                  <a:lnTo>
                    <a:pt x="4152012" y="1801093"/>
                  </a:lnTo>
                  <a:cubicBezTo>
                    <a:pt x="4152012" y="1916228"/>
                    <a:pt x="4058676" y="2009564"/>
                    <a:pt x="3943541" y="2009564"/>
                  </a:cubicBezTo>
                  <a:lnTo>
                    <a:pt x="2949130" y="2009564"/>
                  </a:lnTo>
                  <a:lnTo>
                    <a:pt x="2949101" y="2009561"/>
                  </a:lnTo>
                  <a:lnTo>
                    <a:pt x="1202912" y="2009561"/>
                  </a:lnTo>
                  <a:lnTo>
                    <a:pt x="1202882" y="2009564"/>
                  </a:lnTo>
                  <a:lnTo>
                    <a:pt x="208471" y="2009564"/>
                  </a:lnTo>
                  <a:cubicBezTo>
                    <a:pt x="93336" y="2009564"/>
                    <a:pt x="0" y="1916228"/>
                    <a:pt x="0" y="1801093"/>
                  </a:cubicBezTo>
                  <a:lnTo>
                    <a:pt x="0" y="208474"/>
                  </a:lnTo>
                  <a:cubicBezTo>
                    <a:pt x="0" y="93339"/>
                    <a:pt x="93336" y="3"/>
                    <a:pt x="208471" y="3"/>
                  </a:cubicBezTo>
                  <a:lnTo>
                    <a:pt x="1178953" y="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40080" rIns="914400" rtlCol="0" anchor="ctr">
              <a:noAutofit/>
            </a:bodyPr>
            <a:lstStyle/>
            <a:p>
              <a:pPr algn="just"/>
              <a:endParaRPr lang="en-US" sz="1400" noProof="1">
                <a:solidFill>
                  <a:schemeClr val="tx1">
                    <a:lumMod val="65000"/>
                    <a:lumOff val="35000"/>
                  </a:schemeClr>
                </a:solidFill>
              </a:endParaRPr>
            </a:p>
          </p:txBody>
        </p:sp>
      </p:grpSp>
      <p:grpSp>
        <p:nvGrpSpPr>
          <p:cNvPr id="34" name="Group 33">
            <a:extLst>
              <a:ext uri="{FF2B5EF4-FFF2-40B4-BE49-F238E27FC236}">
                <a16:creationId xmlns:a16="http://schemas.microsoft.com/office/drawing/2014/main" id="{291579B3-0A09-F7C4-9352-A6599975FA37}"/>
              </a:ext>
            </a:extLst>
          </p:cNvPr>
          <p:cNvGrpSpPr/>
          <p:nvPr/>
        </p:nvGrpSpPr>
        <p:grpSpPr>
          <a:xfrm>
            <a:off x="1500870" y="4235878"/>
            <a:ext cx="484908" cy="1334759"/>
            <a:chOff x="1456535" y="4097333"/>
            <a:chExt cx="484908" cy="1334759"/>
          </a:xfrm>
          <a:solidFill>
            <a:schemeClr val="accent4"/>
          </a:solidFill>
        </p:grpSpPr>
        <p:sp>
          <p:nvSpPr>
            <p:cNvPr id="35" name="Freeform: Shape 34">
              <a:extLst>
                <a:ext uri="{FF2B5EF4-FFF2-40B4-BE49-F238E27FC236}">
                  <a16:creationId xmlns:a16="http://schemas.microsoft.com/office/drawing/2014/main" id="{D449EBA0-EAEA-9FD8-2477-4A0DFAD06F4D}"/>
                </a:ext>
              </a:extLst>
            </p:cNvPr>
            <p:cNvSpPr/>
            <p:nvPr/>
          </p:nvSpPr>
          <p:spPr>
            <a:xfrm>
              <a:off x="1456535" y="4097333"/>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36" name="TextBox 35">
              <a:extLst>
                <a:ext uri="{FF2B5EF4-FFF2-40B4-BE49-F238E27FC236}">
                  <a16:creationId xmlns:a16="http://schemas.microsoft.com/office/drawing/2014/main" id="{976DE7CE-437A-F292-9E37-9E811B67C5C3}"/>
                </a:ext>
              </a:extLst>
            </p:cNvPr>
            <p:cNvSpPr txBox="1"/>
            <p:nvPr/>
          </p:nvSpPr>
          <p:spPr>
            <a:xfrm rot="16200000">
              <a:off x="1233957" y="4610823"/>
              <a:ext cx="930063" cy="307777"/>
            </a:xfrm>
            <a:prstGeom prst="rect">
              <a:avLst/>
            </a:prstGeom>
            <a:grpFill/>
          </p:spPr>
          <p:txBody>
            <a:bodyPr wrap="none" rtlCol="0" anchor="b">
              <a:spAutoFit/>
            </a:bodyPr>
            <a:lstStyle/>
            <a:p>
              <a:pPr algn="ctr"/>
              <a:r>
                <a:rPr lang="en-US" sz="1400" b="1" cap="all">
                  <a:solidFill>
                    <a:schemeClr val="bg1"/>
                  </a:solidFill>
                </a:rPr>
                <a:t>Title 03</a:t>
              </a:r>
            </a:p>
          </p:txBody>
        </p:sp>
      </p:grpSp>
      <p:sp>
        <p:nvSpPr>
          <p:cNvPr id="37" name="TextBox 36">
            <a:extLst>
              <a:ext uri="{FF2B5EF4-FFF2-40B4-BE49-F238E27FC236}">
                <a16:creationId xmlns:a16="http://schemas.microsoft.com/office/drawing/2014/main" id="{750BED89-A675-96EF-8490-1617B88147C8}"/>
              </a:ext>
            </a:extLst>
          </p:cNvPr>
          <p:cNvSpPr txBox="1"/>
          <p:nvPr/>
        </p:nvSpPr>
        <p:spPr>
          <a:xfrm>
            <a:off x="2367061" y="3951271"/>
            <a:ext cx="2736648" cy="523220"/>
          </a:xfrm>
          <a:prstGeom prst="rect">
            <a:avLst/>
          </a:prstGeom>
          <a:noFill/>
        </p:spPr>
        <p:txBody>
          <a:bodyPr wrap="none" rtlCol="0" anchor="b">
            <a:spAutoFit/>
          </a:bodyPr>
          <a:lstStyle/>
          <a:p>
            <a:pPr algn="ctr"/>
            <a:r>
              <a:rPr lang="en-US" sz="2800" b="1" cap="all">
                <a:solidFill>
                  <a:schemeClr val="accent4"/>
                </a:solidFill>
              </a:rPr>
              <a:t>Risk Drivers</a:t>
            </a:r>
          </a:p>
        </p:txBody>
      </p:sp>
      <p:sp>
        <p:nvSpPr>
          <p:cNvPr id="38" name="TextBox 37">
            <a:extLst>
              <a:ext uri="{FF2B5EF4-FFF2-40B4-BE49-F238E27FC236}">
                <a16:creationId xmlns:a16="http://schemas.microsoft.com/office/drawing/2014/main" id="{9F824425-A99A-E2C8-FBE1-67B8BB129EA6}"/>
              </a:ext>
            </a:extLst>
          </p:cNvPr>
          <p:cNvSpPr txBox="1"/>
          <p:nvPr/>
        </p:nvSpPr>
        <p:spPr>
          <a:xfrm>
            <a:off x="2088893" y="4503652"/>
            <a:ext cx="2815971" cy="95410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schemeClr val="bg1"/>
                </a:solidFill>
                <a:effectLst/>
                <a:uLnTx/>
                <a:uFillTx/>
                <a:latin typeface="Calibri" panose="020F0502020204030204"/>
                <a:ea typeface="+mn-ea"/>
                <a:cs typeface="+mn-cs"/>
              </a:rPr>
              <a:t>Drivers of High Lethality</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1">
                <a:ln>
                  <a:noFill/>
                </a:ln>
                <a:solidFill>
                  <a:schemeClr val="bg1"/>
                </a:solidFill>
                <a:effectLst/>
                <a:uLnTx/>
                <a:uFillTx/>
                <a:latin typeface="Calibri" panose="020F0502020204030204"/>
                <a:ea typeface="+mn-ea"/>
                <a:cs typeface="+mn-cs"/>
              </a:rPr>
              <a:t>CFIT</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1">
                <a:ln>
                  <a:noFill/>
                </a:ln>
                <a:solidFill>
                  <a:schemeClr val="bg1"/>
                </a:solidFill>
                <a:effectLst/>
                <a:uLnTx/>
                <a:uFillTx/>
                <a:latin typeface="Calibri" panose="020F0502020204030204"/>
                <a:ea typeface="+mn-ea"/>
                <a:cs typeface="+mn-cs"/>
              </a:rPr>
              <a:t>Mechanical failure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1">
                <a:ln>
                  <a:noFill/>
                </a:ln>
                <a:solidFill>
                  <a:schemeClr val="bg1"/>
                </a:solidFill>
                <a:effectLst/>
                <a:uLnTx/>
                <a:uFillTx/>
                <a:latin typeface="Calibri" panose="020F0502020204030204"/>
                <a:ea typeface="+mn-ea"/>
                <a:cs typeface="+mn-cs"/>
              </a:rPr>
              <a:t>Fuel-related issues</a:t>
            </a:r>
          </a:p>
        </p:txBody>
      </p:sp>
      <p:sp>
        <p:nvSpPr>
          <p:cNvPr id="39" name="TextBox 38">
            <a:extLst>
              <a:ext uri="{FF2B5EF4-FFF2-40B4-BE49-F238E27FC236}">
                <a16:creationId xmlns:a16="http://schemas.microsoft.com/office/drawing/2014/main" id="{865DFAE8-8040-F013-ABD7-B9F96C120FBC}"/>
              </a:ext>
            </a:extLst>
          </p:cNvPr>
          <p:cNvSpPr txBox="1"/>
          <p:nvPr/>
        </p:nvSpPr>
        <p:spPr>
          <a:xfrm>
            <a:off x="7006327" y="3941886"/>
            <a:ext cx="3292889" cy="461665"/>
          </a:xfrm>
          <a:prstGeom prst="rect">
            <a:avLst/>
          </a:prstGeom>
          <a:noFill/>
        </p:spPr>
        <p:txBody>
          <a:bodyPr wrap="none" rtlCol="0" anchor="b">
            <a:spAutoFit/>
          </a:bodyPr>
          <a:lstStyle/>
          <a:p>
            <a:pPr algn="ctr"/>
            <a:r>
              <a:rPr lang="en-US" sz="2400" b="1" cap="all">
                <a:solidFill>
                  <a:schemeClr val="accent5"/>
                </a:solidFill>
              </a:rPr>
              <a:t>Limitations/Notes</a:t>
            </a:r>
          </a:p>
        </p:txBody>
      </p:sp>
      <p:sp>
        <p:nvSpPr>
          <p:cNvPr id="40" name="TextBox 39">
            <a:extLst>
              <a:ext uri="{FF2B5EF4-FFF2-40B4-BE49-F238E27FC236}">
                <a16:creationId xmlns:a16="http://schemas.microsoft.com/office/drawing/2014/main" id="{1DBB9C35-087A-DAA1-71ED-F74D73704F83}"/>
              </a:ext>
            </a:extLst>
          </p:cNvPr>
          <p:cNvSpPr txBox="1"/>
          <p:nvPr/>
        </p:nvSpPr>
        <p:spPr>
          <a:xfrm>
            <a:off x="7358009" y="4474491"/>
            <a:ext cx="3911017" cy="73866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schemeClr val="bg1"/>
                </a:solidFill>
                <a:effectLst/>
                <a:uLnTx/>
                <a:uFillTx/>
                <a:latin typeface="Calibri" panose="020F0502020204030204"/>
                <a:ea typeface="+mn-ea"/>
                <a:cs typeface="+mn-cs"/>
              </a:rPr>
              <a:t>Model Caveats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noProof="1">
                <a:solidFill>
                  <a:schemeClr val="bg1"/>
                </a:solidFill>
                <a:latin typeface="Calibri" panose="020F0502020204030204"/>
                <a:ea typeface="+mn-ea"/>
                <a:cs typeface="+mn-cs"/>
              </a:rPr>
              <a:t>Based on Sample Biased Dataset</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1">
              <a:ln>
                <a:noFill/>
              </a:ln>
              <a:solidFill>
                <a:schemeClr val="bg1"/>
              </a:solidFill>
              <a:effectLst/>
              <a:uLnTx/>
              <a:uFillTx/>
              <a:latin typeface="Calibri" panose="020F0502020204030204"/>
              <a:ea typeface="+mn-ea"/>
              <a:cs typeface="+mn-cs"/>
            </a:endParaRPr>
          </a:p>
        </p:txBody>
      </p:sp>
      <p:grpSp>
        <p:nvGrpSpPr>
          <p:cNvPr id="41" name="Group 40">
            <a:extLst>
              <a:ext uri="{FF2B5EF4-FFF2-40B4-BE49-F238E27FC236}">
                <a16:creationId xmlns:a16="http://schemas.microsoft.com/office/drawing/2014/main" id="{D8A4386D-85F6-1CA7-78F6-F07DB1623453}"/>
              </a:ext>
            </a:extLst>
          </p:cNvPr>
          <p:cNvGrpSpPr/>
          <p:nvPr/>
        </p:nvGrpSpPr>
        <p:grpSpPr>
          <a:xfrm>
            <a:off x="6403253" y="4235878"/>
            <a:ext cx="484908" cy="1334759"/>
            <a:chOff x="6358918" y="4097333"/>
            <a:chExt cx="484908" cy="1334759"/>
          </a:xfrm>
          <a:solidFill>
            <a:schemeClr val="accent5"/>
          </a:solidFill>
        </p:grpSpPr>
        <p:sp>
          <p:nvSpPr>
            <p:cNvPr id="42" name="Freeform: Shape 41">
              <a:extLst>
                <a:ext uri="{FF2B5EF4-FFF2-40B4-BE49-F238E27FC236}">
                  <a16:creationId xmlns:a16="http://schemas.microsoft.com/office/drawing/2014/main" id="{8F55CC98-CA63-60F4-99DE-CD088BE245E2}"/>
                </a:ext>
              </a:extLst>
            </p:cNvPr>
            <p:cNvSpPr/>
            <p:nvPr/>
          </p:nvSpPr>
          <p:spPr>
            <a:xfrm>
              <a:off x="6358918" y="4097333"/>
              <a:ext cx="484908" cy="1334759"/>
            </a:xfrm>
            <a:custGeom>
              <a:avLst/>
              <a:gdLst>
                <a:gd name="csX0" fmla="*/ 1 w 509544"/>
                <a:gd name="csY0" fmla="*/ 0 h 2330092"/>
                <a:gd name="csX1" fmla="*/ 140344 w 509544"/>
                <a:gd name="csY1" fmla="*/ 182133 h 2330092"/>
                <a:gd name="csX2" fmla="*/ 509544 w 509544"/>
                <a:gd name="csY2" fmla="*/ 518984 h 2330092"/>
                <a:gd name="csX3" fmla="*/ 509544 w 509544"/>
                <a:gd name="csY3" fmla="*/ 692897 h 2330092"/>
                <a:gd name="csX4" fmla="*/ 509544 w 509544"/>
                <a:gd name="csY4" fmla="*/ 1070149 h 2330092"/>
                <a:gd name="csX5" fmla="*/ 509544 w 509544"/>
                <a:gd name="csY5" fmla="*/ 1260244 h 2330092"/>
                <a:gd name="csX6" fmla="*/ 509544 w 509544"/>
                <a:gd name="csY6" fmla="*/ 1763046 h 2330092"/>
                <a:gd name="csX7" fmla="*/ 509544 w 509544"/>
                <a:gd name="csY7" fmla="*/ 1811254 h 2330092"/>
                <a:gd name="csX8" fmla="*/ 140344 w 509544"/>
                <a:gd name="csY8" fmla="*/ 2148010 h 2330092"/>
                <a:gd name="csX9" fmla="*/ 1 w 509544"/>
                <a:gd name="csY9" fmla="*/ 2330092 h 2330092"/>
                <a:gd name="csX10" fmla="*/ 1 w 509544"/>
                <a:gd name="csY10" fmla="*/ 2188974 h 2330092"/>
                <a:gd name="csX11" fmla="*/ 0 w 509544"/>
                <a:gd name="csY11" fmla="*/ 2188974 h 2330092"/>
                <a:gd name="csX12" fmla="*/ 0 w 509544"/>
                <a:gd name="csY12" fmla="*/ 1763046 h 2330092"/>
                <a:gd name="csX13" fmla="*/ 0 w 509544"/>
                <a:gd name="csY13" fmla="*/ 1260244 h 2330092"/>
                <a:gd name="csX14" fmla="*/ 0 w 509544"/>
                <a:gd name="csY14" fmla="*/ 1070149 h 2330092"/>
                <a:gd name="csX15" fmla="*/ 0 w 509544"/>
                <a:gd name="csY15" fmla="*/ 692897 h 2330092"/>
                <a:gd name="csX16" fmla="*/ 0 w 509544"/>
                <a:gd name="csY16" fmla="*/ 141158 h 2330092"/>
                <a:gd name="csX17" fmla="*/ 1 w 509544"/>
                <a:gd name="csY17" fmla="*/ 141158 h 2330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09544" h="2330092">
                  <a:moveTo>
                    <a:pt x="1" y="0"/>
                  </a:moveTo>
                  <a:cubicBezTo>
                    <a:pt x="23032" y="11143"/>
                    <a:pt x="-35158" y="95635"/>
                    <a:pt x="140344" y="182133"/>
                  </a:cubicBezTo>
                  <a:cubicBezTo>
                    <a:pt x="301567" y="229578"/>
                    <a:pt x="509544" y="310316"/>
                    <a:pt x="509544" y="518984"/>
                  </a:cubicBezTo>
                  <a:lnTo>
                    <a:pt x="509544" y="692897"/>
                  </a:lnTo>
                  <a:lnTo>
                    <a:pt x="509544" y="1070149"/>
                  </a:lnTo>
                  <a:lnTo>
                    <a:pt x="509544" y="1260244"/>
                  </a:lnTo>
                  <a:lnTo>
                    <a:pt x="509544" y="1763046"/>
                  </a:lnTo>
                  <a:lnTo>
                    <a:pt x="509544" y="1811254"/>
                  </a:lnTo>
                  <a:cubicBezTo>
                    <a:pt x="509544" y="2019863"/>
                    <a:pt x="301567" y="2100579"/>
                    <a:pt x="140344" y="2148010"/>
                  </a:cubicBezTo>
                  <a:cubicBezTo>
                    <a:pt x="-35158" y="2234484"/>
                    <a:pt x="23032" y="2318952"/>
                    <a:pt x="1" y="2330092"/>
                  </a:cubicBezTo>
                  <a:lnTo>
                    <a:pt x="1" y="2188974"/>
                  </a:lnTo>
                  <a:lnTo>
                    <a:pt x="0" y="2188974"/>
                  </a:lnTo>
                  <a:lnTo>
                    <a:pt x="0" y="1763046"/>
                  </a:lnTo>
                  <a:lnTo>
                    <a:pt x="0" y="1260244"/>
                  </a:lnTo>
                  <a:lnTo>
                    <a:pt x="0" y="1070149"/>
                  </a:lnTo>
                  <a:lnTo>
                    <a:pt x="0" y="692897"/>
                  </a:lnTo>
                  <a:lnTo>
                    <a:pt x="0" y="141158"/>
                  </a:lnTo>
                  <a:lnTo>
                    <a:pt x="1" y="1411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43" name="TextBox 42">
              <a:extLst>
                <a:ext uri="{FF2B5EF4-FFF2-40B4-BE49-F238E27FC236}">
                  <a16:creationId xmlns:a16="http://schemas.microsoft.com/office/drawing/2014/main" id="{7F1481DF-F41B-FCAE-6738-3421FD2D77F3}"/>
                </a:ext>
              </a:extLst>
            </p:cNvPr>
            <p:cNvSpPr txBox="1"/>
            <p:nvPr/>
          </p:nvSpPr>
          <p:spPr>
            <a:xfrm rot="16200000">
              <a:off x="6136340" y="4610823"/>
              <a:ext cx="930063" cy="307777"/>
            </a:xfrm>
            <a:prstGeom prst="rect">
              <a:avLst/>
            </a:prstGeom>
            <a:grpFill/>
          </p:spPr>
          <p:txBody>
            <a:bodyPr wrap="none" rtlCol="0" anchor="b">
              <a:spAutoFit/>
            </a:bodyPr>
            <a:lstStyle/>
            <a:p>
              <a:pPr algn="ctr"/>
              <a:r>
                <a:rPr lang="en-US" sz="1400" b="1" cap="all">
                  <a:solidFill>
                    <a:schemeClr val="bg1"/>
                  </a:solidFill>
                </a:rPr>
                <a:t>Title 04</a:t>
              </a:r>
            </a:p>
          </p:txBody>
        </p:sp>
      </p:grpSp>
      <p:sp>
        <p:nvSpPr>
          <p:cNvPr id="3" name="TextBox 2">
            <a:extLst>
              <a:ext uri="{FF2B5EF4-FFF2-40B4-BE49-F238E27FC236}">
                <a16:creationId xmlns:a16="http://schemas.microsoft.com/office/drawing/2014/main" id="{71007972-9398-DC1E-8BB5-C701CC328455}"/>
              </a:ext>
            </a:extLst>
          </p:cNvPr>
          <p:cNvSpPr txBox="1"/>
          <p:nvPr/>
        </p:nvSpPr>
        <p:spPr>
          <a:xfrm>
            <a:off x="10817817" y="6426631"/>
            <a:ext cx="857573" cy="307777"/>
          </a:xfrm>
          <a:prstGeom prst="rect">
            <a:avLst/>
          </a:prstGeom>
          <a:noFill/>
        </p:spPr>
        <p:txBody>
          <a:bodyPr wrap="square" rtlCol="0">
            <a:spAutoFit/>
          </a:bodyPr>
          <a:lstStyle/>
          <a:p>
            <a:r>
              <a:rPr lang="en-US"/>
              <a:t>Jordan</a:t>
            </a:r>
          </a:p>
        </p:txBody>
      </p:sp>
    </p:spTree>
    <p:extLst>
      <p:ext uri="{BB962C8B-B14F-4D97-AF65-F5344CB8AC3E}">
        <p14:creationId xmlns:p14="http://schemas.microsoft.com/office/powerpoint/2010/main" val="1554389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9A43A-38AA-0ABB-5802-532475684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FA586-EF45-A092-DAA0-DC1E4F01920E}"/>
              </a:ext>
            </a:extLst>
          </p:cNvPr>
          <p:cNvSpPr>
            <a:spLocks noGrp="1"/>
          </p:cNvSpPr>
          <p:nvPr>
            <p:ph type="title"/>
          </p:nvPr>
        </p:nvSpPr>
        <p:spPr/>
        <p:txBody>
          <a:bodyPr/>
          <a:lstStyle/>
          <a:p>
            <a:r>
              <a:rPr lang="en-US"/>
              <a:t>Results – Causal Impact on Lethality</a:t>
            </a:r>
          </a:p>
        </p:txBody>
      </p:sp>
      <p:sp>
        <p:nvSpPr>
          <p:cNvPr id="4" name="Forme libre 3">
            <a:extLst>
              <a:ext uri="{FF2B5EF4-FFF2-40B4-BE49-F238E27FC236}">
                <a16:creationId xmlns:a16="http://schemas.microsoft.com/office/drawing/2014/main" id="{001909F7-C00E-1604-B6FC-5F71DB7AF491}"/>
              </a:ext>
            </a:extLst>
          </p:cNvPr>
          <p:cNvSpPr/>
          <p:nvPr/>
        </p:nvSpPr>
        <p:spPr>
          <a:xfrm>
            <a:off x="4117774" y="1947279"/>
            <a:ext cx="4096951" cy="3576082"/>
          </a:xfrm>
          <a:custGeom>
            <a:avLst/>
            <a:gdLst>
              <a:gd name="csX0" fmla="*/ 1591276 w 3182552"/>
              <a:gd name="csY0" fmla="*/ 0 h 2777936"/>
              <a:gd name="csX1" fmla="*/ 0 w 3182552"/>
              <a:gd name="csY1" fmla="*/ 0 h 2777936"/>
              <a:gd name="csX2" fmla="*/ 845640 w 3182552"/>
              <a:gd name="csY2" fmla="*/ 2290586 h 2777936"/>
              <a:gd name="csX3" fmla="*/ 1382309 w 3182552"/>
              <a:gd name="csY3" fmla="*/ 2777937 h 2777936"/>
              <a:gd name="csX4" fmla="*/ 1591276 w 3182552"/>
              <a:gd name="csY4" fmla="*/ 2777937 h 2777936"/>
              <a:gd name="csX5" fmla="*/ 1800245 w 3182552"/>
              <a:gd name="csY5" fmla="*/ 2777937 h 2777936"/>
              <a:gd name="csX6" fmla="*/ 2336914 w 3182552"/>
              <a:gd name="csY6" fmla="*/ 2290586 h 2777936"/>
              <a:gd name="csX7" fmla="*/ 3182553 w 3182552"/>
              <a:gd name="csY7" fmla="*/ 0 h 2777936"/>
              <a:gd name="csX8" fmla="*/ 1591276 w 3182552"/>
              <a:gd name="csY8" fmla="*/ 0 h 27779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82552" h="2777936">
                <a:moveTo>
                  <a:pt x="1591276" y="0"/>
                </a:moveTo>
                <a:lnTo>
                  <a:pt x="0" y="0"/>
                </a:lnTo>
                <a:cubicBezTo>
                  <a:pt x="0" y="0"/>
                  <a:pt x="707911" y="846188"/>
                  <a:pt x="845640" y="2290586"/>
                </a:cubicBezTo>
                <a:cubicBezTo>
                  <a:pt x="871986" y="2567062"/>
                  <a:pt x="1104700" y="2777937"/>
                  <a:pt x="1382309" y="2777937"/>
                </a:cubicBezTo>
                <a:lnTo>
                  <a:pt x="1591276" y="2777937"/>
                </a:lnTo>
                <a:cubicBezTo>
                  <a:pt x="1591276" y="2777937"/>
                  <a:pt x="1800245" y="2777937"/>
                  <a:pt x="1800245" y="2777937"/>
                </a:cubicBezTo>
                <a:cubicBezTo>
                  <a:pt x="2077942" y="2777937"/>
                  <a:pt x="2310569" y="2567062"/>
                  <a:pt x="2336914" y="2290586"/>
                </a:cubicBezTo>
                <a:cubicBezTo>
                  <a:pt x="2474641" y="846277"/>
                  <a:pt x="3182553" y="0"/>
                  <a:pt x="3182553" y="0"/>
                </a:cubicBezTo>
                <a:lnTo>
                  <a:pt x="1591276" y="0"/>
                </a:lnTo>
                <a:close/>
              </a:path>
            </a:pathLst>
          </a:custGeom>
          <a:solidFill>
            <a:schemeClr val="tx1">
              <a:lumMod val="95000"/>
              <a:lumOff val="5000"/>
              <a:alpha val="50000"/>
            </a:schemeClr>
          </a:solidFill>
          <a:ln w="8960" cap="flat">
            <a:noFill/>
            <a:prstDash val="solid"/>
            <a:miter/>
          </a:ln>
          <a:effectLst>
            <a:outerShdw blurRad="190500" dist="38100" dir="5400000" algn="t" rotWithShape="0">
              <a:prstClr val="black">
                <a:alpha val="20000"/>
              </a:prstClr>
            </a:outerShdw>
          </a:effectLst>
        </p:spPr>
        <p:txBody>
          <a:bodyPr/>
          <a:lstStyle/>
          <a:p>
            <a:endParaRPr lang="fr-FR"/>
          </a:p>
        </p:txBody>
      </p:sp>
      <p:sp>
        <p:nvSpPr>
          <p:cNvPr id="5" name="Forme libre 4">
            <a:extLst>
              <a:ext uri="{FF2B5EF4-FFF2-40B4-BE49-F238E27FC236}">
                <a16:creationId xmlns:a16="http://schemas.microsoft.com/office/drawing/2014/main" id="{B3D7BF2A-BE93-8541-F6CD-4F3C14F11818}"/>
              </a:ext>
            </a:extLst>
          </p:cNvPr>
          <p:cNvSpPr/>
          <p:nvPr/>
        </p:nvSpPr>
        <p:spPr>
          <a:xfrm>
            <a:off x="4387813" y="2116247"/>
            <a:ext cx="3402284" cy="3306119"/>
          </a:xfrm>
          <a:custGeom>
            <a:avLst/>
            <a:gdLst>
              <a:gd name="csX0" fmla="*/ 1321464 w 2642928"/>
              <a:gd name="csY0" fmla="*/ 0 h 2568226"/>
              <a:gd name="csX1" fmla="*/ 0 w 2642928"/>
              <a:gd name="csY1" fmla="*/ 0 h 2568226"/>
              <a:gd name="csX2" fmla="*/ 760512 w 2642928"/>
              <a:gd name="csY2" fmla="*/ 1987134 h 2568226"/>
              <a:gd name="csX3" fmla="*/ 1321464 w 2642928"/>
              <a:gd name="csY3" fmla="*/ 2568227 h 2568226"/>
              <a:gd name="csX4" fmla="*/ 1321464 w 2642928"/>
              <a:gd name="csY4" fmla="*/ 2568227 h 2568226"/>
              <a:gd name="csX5" fmla="*/ 1882416 w 2642928"/>
              <a:gd name="csY5" fmla="*/ 1987134 h 2568226"/>
              <a:gd name="csX6" fmla="*/ 2642929 w 2642928"/>
              <a:gd name="csY6" fmla="*/ 0 h 2568226"/>
              <a:gd name="csX7" fmla="*/ 1321464 w 2642928"/>
              <a:gd name="csY7" fmla="*/ 0 h 25682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42928" h="2568226">
                <a:moveTo>
                  <a:pt x="1321464" y="0"/>
                </a:moveTo>
                <a:lnTo>
                  <a:pt x="0" y="0"/>
                </a:lnTo>
                <a:cubicBezTo>
                  <a:pt x="0" y="0"/>
                  <a:pt x="606385" y="731475"/>
                  <a:pt x="760512" y="1987134"/>
                </a:cubicBezTo>
                <a:cubicBezTo>
                  <a:pt x="801553" y="2321415"/>
                  <a:pt x="1040898" y="2568227"/>
                  <a:pt x="1321464" y="2568227"/>
                </a:cubicBezTo>
                <a:lnTo>
                  <a:pt x="1321464" y="2568227"/>
                </a:lnTo>
                <a:cubicBezTo>
                  <a:pt x="1602030" y="2568227"/>
                  <a:pt x="1841376" y="2321415"/>
                  <a:pt x="1882416" y="1987134"/>
                </a:cubicBezTo>
                <a:cubicBezTo>
                  <a:pt x="2036545" y="731475"/>
                  <a:pt x="2642929" y="0"/>
                  <a:pt x="2642929" y="0"/>
                </a:cubicBezTo>
                <a:lnTo>
                  <a:pt x="1321464" y="0"/>
                </a:lnTo>
                <a:close/>
              </a:path>
            </a:pathLst>
          </a:custGeom>
          <a:gradFill flip="none" rotWithShape="1">
            <a:gsLst>
              <a:gs pos="0">
                <a:schemeClr val="bg1">
                  <a:lumMod val="65000"/>
                  <a:alpha val="50000"/>
                </a:schemeClr>
              </a:gs>
              <a:gs pos="60000">
                <a:schemeClr val="bg1">
                  <a:alpha val="70000"/>
                </a:schemeClr>
              </a:gs>
              <a:gs pos="40000">
                <a:schemeClr val="accent6">
                  <a:lumMod val="0"/>
                  <a:lumOff val="100000"/>
                  <a:alpha val="70000"/>
                </a:schemeClr>
              </a:gs>
              <a:gs pos="100000">
                <a:schemeClr val="bg1">
                  <a:lumMod val="65000"/>
                  <a:alpha val="50000"/>
                </a:schemeClr>
              </a:gs>
            </a:gsLst>
            <a:lin ang="0" scaled="1"/>
            <a:tileRect/>
          </a:gradFill>
          <a:ln w="8960" cap="flat">
            <a:noFill/>
            <a:prstDash val="solid"/>
            <a:miter/>
          </a:ln>
        </p:spPr>
        <p:txBody>
          <a:bodyPr/>
          <a:lstStyle/>
          <a:p>
            <a:endParaRPr lang="fr-FR"/>
          </a:p>
        </p:txBody>
      </p:sp>
      <p:sp>
        <p:nvSpPr>
          <p:cNvPr id="6" name="Forme libre 5">
            <a:extLst>
              <a:ext uri="{FF2B5EF4-FFF2-40B4-BE49-F238E27FC236}">
                <a16:creationId xmlns:a16="http://schemas.microsoft.com/office/drawing/2014/main" id="{5F88157F-0837-B368-49C3-27350679CD66}"/>
              </a:ext>
            </a:extLst>
          </p:cNvPr>
          <p:cNvSpPr/>
          <p:nvPr/>
        </p:nvSpPr>
        <p:spPr>
          <a:xfrm>
            <a:off x="5525329" y="4270757"/>
            <a:ext cx="1127365" cy="1694160"/>
          </a:xfrm>
          <a:custGeom>
            <a:avLst/>
            <a:gdLst>
              <a:gd name="csX0" fmla="*/ 827718 w 875748"/>
              <a:gd name="csY0" fmla="*/ 0 h 1316040"/>
              <a:gd name="csX1" fmla="*/ 437829 w 875748"/>
              <a:gd name="csY1" fmla="*/ 139269 h 1316040"/>
              <a:gd name="csX2" fmla="*/ 47942 w 875748"/>
              <a:gd name="csY2" fmla="*/ 0 h 1316040"/>
              <a:gd name="csX3" fmla="*/ 0 w 875748"/>
              <a:gd name="csY3" fmla="*/ 0 h 1316040"/>
              <a:gd name="csX4" fmla="*/ 41758 w 875748"/>
              <a:gd name="csY4" fmla="*/ 517912 h 1316040"/>
              <a:gd name="csX5" fmla="*/ 326893 w 875748"/>
              <a:gd name="csY5" fmla="*/ 878809 h 1316040"/>
              <a:gd name="csX6" fmla="*/ 326893 w 875748"/>
              <a:gd name="csY6" fmla="*/ 1087264 h 1316040"/>
              <a:gd name="csX7" fmla="*/ 307449 w 875748"/>
              <a:gd name="csY7" fmla="*/ 1106712 h 1316040"/>
              <a:gd name="csX8" fmla="*/ 267394 w 875748"/>
              <a:gd name="csY8" fmla="*/ 1106712 h 1316040"/>
              <a:gd name="csX9" fmla="*/ 253684 w 875748"/>
              <a:gd name="csY9" fmla="*/ 1139870 h 1316040"/>
              <a:gd name="csX10" fmla="*/ 424120 w 875748"/>
              <a:gd name="csY10" fmla="*/ 1310327 h 1316040"/>
              <a:gd name="csX11" fmla="*/ 451630 w 875748"/>
              <a:gd name="csY11" fmla="*/ 1310327 h 1316040"/>
              <a:gd name="csX12" fmla="*/ 622066 w 875748"/>
              <a:gd name="csY12" fmla="*/ 1139870 h 1316040"/>
              <a:gd name="csX13" fmla="*/ 608356 w 875748"/>
              <a:gd name="csY13" fmla="*/ 1106712 h 1316040"/>
              <a:gd name="csX14" fmla="*/ 568301 w 875748"/>
              <a:gd name="csY14" fmla="*/ 1106712 h 1316040"/>
              <a:gd name="csX15" fmla="*/ 548855 w 875748"/>
              <a:gd name="csY15" fmla="*/ 1087264 h 1316040"/>
              <a:gd name="csX16" fmla="*/ 548855 w 875748"/>
              <a:gd name="csY16" fmla="*/ 878809 h 1316040"/>
              <a:gd name="csX17" fmla="*/ 833992 w 875748"/>
              <a:gd name="csY17" fmla="*/ 517912 h 1316040"/>
              <a:gd name="csX18" fmla="*/ 875749 w 875748"/>
              <a:gd name="csY18" fmla="*/ 0 h 1316040"/>
              <a:gd name="csX19" fmla="*/ 827808 w 875748"/>
              <a:gd name="csY19" fmla="*/ 0 h 1316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875748" h="1316040">
                <a:moveTo>
                  <a:pt x="827718" y="0"/>
                </a:moveTo>
                <a:cubicBezTo>
                  <a:pt x="720546" y="87558"/>
                  <a:pt x="584162" y="139269"/>
                  <a:pt x="437829" y="139269"/>
                </a:cubicBezTo>
                <a:cubicBezTo>
                  <a:pt x="291498" y="139269"/>
                  <a:pt x="155114" y="87469"/>
                  <a:pt x="47942" y="0"/>
                </a:cubicBezTo>
                <a:lnTo>
                  <a:pt x="0" y="0"/>
                </a:lnTo>
                <a:cubicBezTo>
                  <a:pt x="19266" y="170636"/>
                  <a:pt x="33246" y="344587"/>
                  <a:pt x="41758" y="517912"/>
                </a:cubicBezTo>
                <a:cubicBezTo>
                  <a:pt x="50271" y="690697"/>
                  <a:pt x="168286" y="832834"/>
                  <a:pt x="326893" y="878809"/>
                </a:cubicBezTo>
                <a:lnTo>
                  <a:pt x="326893" y="1087264"/>
                </a:lnTo>
                <a:cubicBezTo>
                  <a:pt x="326893" y="1098019"/>
                  <a:pt x="318202" y="1106712"/>
                  <a:pt x="307449" y="1106712"/>
                </a:cubicBezTo>
                <a:lnTo>
                  <a:pt x="267394" y="1106712"/>
                </a:lnTo>
                <a:cubicBezTo>
                  <a:pt x="250099" y="1106712"/>
                  <a:pt x="241407" y="1127682"/>
                  <a:pt x="253684" y="1139870"/>
                </a:cubicBezTo>
                <a:lnTo>
                  <a:pt x="424120" y="1310327"/>
                </a:lnTo>
                <a:cubicBezTo>
                  <a:pt x="431737" y="1317944"/>
                  <a:pt x="444013" y="1317944"/>
                  <a:pt x="451630" y="1310327"/>
                </a:cubicBezTo>
                <a:lnTo>
                  <a:pt x="622066" y="1139870"/>
                </a:lnTo>
                <a:cubicBezTo>
                  <a:pt x="634342" y="1127593"/>
                  <a:pt x="625651" y="1106712"/>
                  <a:pt x="608356" y="1106712"/>
                </a:cubicBezTo>
                <a:lnTo>
                  <a:pt x="568301" y="1106712"/>
                </a:lnTo>
                <a:cubicBezTo>
                  <a:pt x="557548" y="1106712"/>
                  <a:pt x="548855" y="1098019"/>
                  <a:pt x="548855" y="1087264"/>
                </a:cubicBezTo>
                <a:lnTo>
                  <a:pt x="548855" y="878809"/>
                </a:lnTo>
                <a:cubicBezTo>
                  <a:pt x="707464" y="832834"/>
                  <a:pt x="825478" y="690697"/>
                  <a:pt x="833992" y="517912"/>
                </a:cubicBezTo>
                <a:cubicBezTo>
                  <a:pt x="842504" y="344676"/>
                  <a:pt x="856573" y="170636"/>
                  <a:pt x="875749" y="0"/>
                </a:cubicBezTo>
                <a:lnTo>
                  <a:pt x="827808" y="0"/>
                </a:lnTo>
                <a:close/>
              </a:path>
            </a:pathLst>
          </a:custGeom>
          <a:solidFill>
            <a:schemeClr val="accent2"/>
          </a:solidFill>
          <a:ln w="8960" cap="flat">
            <a:noFill/>
            <a:prstDash val="solid"/>
            <a:miter/>
          </a:ln>
        </p:spPr>
        <p:txBody>
          <a:bodyPr/>
          <a:lstStyle/>
          <a:p>
            <a:endParaRPr lang="fr-FR"/>
          </a:p>
        </p:txBody>
      </p:sp>
      <p:sp>
        <p:nvSpPr>
          <p:cNvPr id="7" name="Forme libre 6">
            <a:extLst>
              <a:ext uri="{FF2B5EF4-FFF2-40B4-BE49-F238E27FC236}">
                <a16:creationId xmlns:a16="http://schemas.microsoft.com/office/drawing/2014/main" id="{B3DF0F83-B5E2-45E9-690F-734BEFFC632F}"/>
              </a:ext>
            </a:extLst>
          </p:cNvPr>
          <p:cNvSpPr/>
          <p:nvPr/>
        </p:nvSpPr>
        <p:spPr>
          <a:xfrm>
            <a:off x="5278355" y="3194597"/>
            <a:ext cx="1621316" cy="1437465"/>
          </a:xfrm>
          <a:custGeom>
            <a:avLst/>
            <a:gdLst>
              <a:gd name="csX0" fmla="*/ 1143410 w 1259454"/>
              <a:gd name="csY0" fmla="*/ 0 h 1116637"/>
              <a:gd name="csX1" fmla="*/ 629682 w 1259454"/>
              <a:gd name="csY1" fmla="*/ 139269 h 1116637"/>
              <a:gd name="csX2" fmla="*/ 115954 w 1259454"/>
              <a:gd name="csY2" fmla="*/ 0 h 1116637"/>
              <a:gd name="csX3" fmla="*/ 0 w 1259454"/>
              <a:gd name="csY3" fmla="*/ 0 h 1116637"/>
              <a:gd name="csX4" fmla="*/ 102602 w 1259454"/>
              <a:gd name="csY4" fmla="*/ 457956 h 1116637"/>
              <a:gd name="csX5" fmla="*/ 269543 w 1259454"/>
              <a:gd name="csY5" fmla="*/ 755224 h 1116637"/>
              <a:gd name="csX6" fmla="*/ 319814 w 1259454"/>
              <a:gd name="csY6" fmla="*/ 795553 h 1116637"/>
              <a:gd name="csX7" fmla="*/ 386304 w 1259454"/>
              <a:gd name="csY7" fmla="*/ 835882 h 1116637"/>
              <a:gd name="csX8" fmla="*/ 518746 w 1259454"/>
              <a:gd name="csY8" fmla="*/ 882663 h 1116637"/>
              <a:gd name="csX9" fmla="*/ 518746 w 1259454"/>
              <a:gd name="csY9" fmla="*/ 887861 h 1116637"/>
              <a:gd name="csX10" fmla="*/ 499301 w 1259454"/>
              <a:gd name="csY10" fmla="*/ 907308 h 1116637"/>
              <a:gd name="csX11" fmla="*/ 459246 w 1259454"/>
              <a:gd name="csY11" fmla="*/ 907308 h 1116637"/>
              <a:gd name="csX12" fmla="*/ 445536 w 1259454"/>
              <a:gd name="csY12" fmla="*/ 940468 h 1116637"/>
              <a:gd name="csX13" fmla="*/ 615972 w 1259454"/>
              <a:gd name="csY13" fmla="*/ 1110924 h 1116637"/>
              <a:gd name="csX14" fmla="*/ 643482 w 1259454"/>
              <a:gd name="csY14" fmla="*/ 1110924 h 1116637"/>
              <a:gd name="csX15" fmla="*/ 813918 w 1259454"/>
              <a:gd name="csY15" fmla="*/ 940468 h 1116637"/>
              <a:gd name="csX16" fmla="*/ 800208 w 1259454"/>
              <a:gd name="csY16" fmla="*/ 907308 h 1116637"/>
              <a:gd name="csX17" fmla="*/ 760153 w 1259454"/>
              <a:gd name="csY17" fmla="*/ 907308 h 1116637"/>
              <a:gd name="csX18" fmla="*/ 740707 w 1259454"/>
              <a:gd name="csY18" fmla="*/ 887861 h 1116637"/>
              <a:gd name="csX19" fmla="*/ 740707 w 1259454"/>
              <a:gd name="csY19" fmla="*/ 882663 h 1116637"/>
              <a:gd name="csX20" fmla="*/ 873150 w 1259454"/>
              <a:gd name="csY20" fmla="*/ 835882 h 1116637"/>
              <a:gd name="csX21" fmla="*/ 939640 w 1259454"/>
              <a:gd name="csY21" fmla="*/ 795553 h 1116637"/>
              <a:gd name="csX22" fmla="*/ 989910 w 1259454"/>
              <a:gd name="csY22" fmla="*/ 755224 h 1116637"/>
              <a:gd name="csX23" fmla="*/ 1156851 w 1259454"/>
              <a:gd name="csY23" fmla="*/ 457956 h 1116637"/>
              <a:gd name="csX24" fmla="*/ 1259455 w 1259454"/>
              <a:gd name="csY24" fmla="*/ 0 h 1116637"/>
              <a:gd name="csX25" fmla="*/ 1143499 w 1259454"/>
              <a:gd name="csY25" fmla="*/ 0 h 1116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59454" h="1116637">
                <a:moveTo>
                  <a:pt x="1143410" y="0"/>
                </a:moveTo>
                <a:cubicBezTo>
                  <a:pt x="987670" y="91233"/>
                  <a:pt x="811409" y="139269"/>
                  <a:pt x="629682" y="139269"/>
                </a:cubicBezTo>
                <a:cubicBezTo>
                  <a:pt x="447955" y="139269"/>
                  <a:pt x="271784" y="91233"/>
                  <a:pt x="115954" y="0"/>
                </a:cubicBezTo>
                <a:lnTo>
                  <a:pt x="0" y="0"/>
                </a:lnTo>
                <a:cubicBezTo>
                  <a:pt x="38531" y="149217"/>
                  <a:pt x="73030" y="303004"/>
                  <a:pt x="102602" y="457956"/>
                </a:cubicBezTo>
                <a:cubicBezTo>
                  <a:pt x="125184" y="576075"/>
                  <a:pt x="185490" y="678958"/>
                  <a:pt x="269543" y="755224"/>
                </a:cubicBezTo>
                <a:cubicBezTo>
                  <a:pt x="285494" y="769653"/>
                  <a:pt x="302251" y="783096"/>
                  <a:pt x="319814" y="795553"/>
                </a:cubicBezTo>
                <a:cubicBezTo>
                  <a:pt x="340962" y="810520"/>
                  <a:pt x="363184" y="824052"/>
                  <a:pt x="386304" y="835882"/>
                </a:cubicBezTo>
                <a:cubicBezTo>
                  <a:pt x="427793" y="857032"/>
                  <a:pt x="472239" y="872805"/>
                  <a:pt x="518746" y="882663"/>
                </a:cubicBezTo>
                <a:lnTo>
                  <a:pt x="518746" y="887861"/>
                </a:lnTo>
                <a:cubicBezTo>
                  <a:pt x="518746" y="898615"/>
                  <a:pt x="510054" y="907308"/>
                  <a:pt x="499301" y="907308"/>
                </a:cubicBezTo>
                <a:lnTo>
                  <a:pt x="459246" y="907308"/>
                </a:lnTo>
                <a:cubicBezTo>
                  <a:pt x="441951" y="907308"/>
                  <a:pt x="433259" y="928280"/>
                  <a:pt x="445536" y="940468"/>
                </a:cubicBezTo>
                <a:lnTo>
                  <a:pt x="615972" y="1110924"/>
                </a:lnTo>
                <a:cubicBezTo>
                  <a:pt x="623589" y="1118542"/>
                  <a:pt x="635865" y="1118542"/>
                  <a:pt x="643482" y="1110924"/>
                </a:cubicBezTo>
                <a:lnTo>
                  <a:pt x="813918" y="940468"/>
                </a:lnTo>
                <a:cubicBezTo>
                  <a:pt x="826195" y="928190"/>
                  <a:pt x="817503" y="907308"/>
                  <a:pt x="800208" y="907308"/>
                </a:cubicBezTo>
                <a:lnTo>
                  <a:pt x="760153" y="907308"/>
                </a:lnTo>
                <a:cubicBezTo>
                  <a:pt x="749400" y="907308"/>
                  <a:pt x="740707" y="898615"/>
                  <a:pt x="740707" y="887861"/>
                </a:cubicBezTo>
                <a:lnTo>
                  <a:pt x="740707" y="882663"/>
                </a:lnTo>
                <a:cubicBezTo>
                  <a:pt x="787125" y="872805"/>
                  <a:pt x="831661" y="857121"/>
                  <a:pt x="873150" y="835882"/>
                </a:cubicBezTo>
                <a:cubicBezTo>
                  <a:pt x="896358" y="824052"/>
                  <a:pt x="918492" y="810520"/>
                  <a:pt x="939640" y="795553"/>
                </a:cubicBezTo>
                <a:cubicBezTo>
                  <a:pt x="957203" y="783096"/>
                  <a:pt x="973960" y="769653"/>
                  <a:pt x="989910" y="755224"/>
                </a:cubicBezTo>
                <a:cubicBezTo>
                  <a:pt x="1073963" y="678958"/>
                  <a:pt x="1134359" y="576075"/>
                  <a:pt x="1156851" y="457956"/>
                </a:cubicBezTo>
                <a:cubicBezTo>
                  <a:pt x="1186422" y="303004"/>
                  <a:pt x="1220923" y="149217"/>
                  <a:pt x="1259455" y="0"/>
                </a:cubicBezTo>
                <a:lnTo>
                  <a:pt x="1143499" y="0"/>
                </a:lnTo>
                <a:close/>
              </a:path>
            </a:pathLst>
          </a:custGeom>
          <a:solidFill>
            <a:schemeClr val="accent1"/>
          </a:solidFill>
          <a:ln w="8960" cap="flat">
            <a:noFill/>
            <a:prstDash val="solid"/>
            <a:miter/>
          </a:ln>
        </p:spPr>
        <p:txBody>
          <a:bodyPr/>
          <a:lstStyle/>
          <a:p>
            <a:endParaRPr lang="fr-FR"/>
          </a:p>
        </p:txBody>
      </p:sp>
      <p:sp>
        <p:nvSpPr>
          <p:cNvPr id="8" name="Forme libre 7">
            <a:extLst>
              <a:ext uri="{FF2B5EF4-FFF2-40B4-BE49-F238E27FC236}">
                <a16:creationId xmlns:a16="http://schemas.microsoft.com/office/drawing/2014/main" id="{4109541E-70C2-8DF5-04E3-2C014762D906}"/>
              </a:ext>
            </a:extLst>
          </p:cNvPr>
          <p:cNvSpPr/>
          <p:nvPr/>
        </p:nvSpPr>
        <p:spPr>
          <a:xfrm>
            <a:off x="4795363" y="2118554"/>
            <a:ext cx="2587761" cy="1448425"/>
          </a:xfrm>
          <a:custGeom>
            <a:avLst/>
            <a:gdLst>
              <a:gd name="csX0" fmla="*/ 0 w 2010198"/>
              <a:gd name="csY0" fmla="*/ 0 h 1125151"/>
              <a:gd name="csX1" fmla="*/ 134592 w 2010198"/>
              <a:gd name="csY1" fmla="*/ 304438 h 1125151"/>
              <a:gd name="csX2" fmla="*/ 479139 w 2010198"/>
              <a:gd name="csY2" fmla="*/ 733088 h 1125151"/>
              <a:gd name="csX3" fmla="*/ 513549 w 2010198"/>
              <a:gd name="csY3" fmla="*/ 755224 h 1125151"/>
              <a:gd name="csX4" fmla="*/ 586042 w 2010198"/>
              <a:gd name="csY4" fmla="*/ 795553 h 1125151"/>
              <a:gd name="csX5" fmla="*/ 678788 w 2010198"/>
              <a:gd name="csY5" fmla="*/ 835882 h 1125151"/>
              <a:gd name="csX6" fmla="*/ 894118 w 2010198"/>
              <a:gd name="csY6" fmla="*/ 887772 h 1125151"/>
              <a:gd name="csX7" fmla="*/ 894118 w 2010198"/>
              <a:gd name="csY7" fmla="*/ 896375 h 1125151"/>
              <a:gd name="csX8" fmla="*/ 874673 w 2010198"/>
              <a:gd name="csY8" fmla="*/ 915823 h 1125151"/>
              <a:gd name="csX9" fmla="*/ 834617 w 2010198"/>
              <a:gd name="csY9" fmla="*/ 915823 h 1125151"/>
              <a:gd name="csX10" fmla="*/ 820908 w 2010198"/>
              <a:gd name="csY10" fmla="*/ 948981 h 1125151"/>
              <a:gd name="csX11" fmla="*/ 991344 w 2010198"/>
              <a:gd name="csY11" fmla="*/ 1119438 h 1125151"/>
              <a:gd name="csX12" fmla="*/ 1018854 w 2010198"/>
              <a:gd name="csY12" fmla="*/ 1119438 h 1125151"/>
              <a:gd name="csX13" fmla="*/ 1189290 w 2010198"/>
              <a:gd name="csY13" fmla="*/ 948981 h 1125151"/>
              <a:gd name="csX14" fmla="*/ 1175580 w 2010198"/>
              <a:gd name="csY14" fmla="*/ 915823 h 1125151"/>
              <a:gd name="csX15" fmla="*/ 1135525 w 2010198"/>
              <a:gd name="csY15" fmla="*/ 915823 h 1125151"/>
              <a:gd name="csX16" fmla="*/ 1116080 w 2010198"/>
              <a:gd name="csY16" fmla="*/ 896375 h 1125151"/>
              <a:gd name="csX17" fmla="*/ 1116080 w 2010198"/>
              <a:gd name="csY17" fmla="*/ 887772 h 1125151"/>
              <a:gd name="csX18" fmla="*/ 1331410 w 2010198"/>
              <a:gd name="csY18" fmla="*/ 835882 h 1125151"/>
              <a:gd name="csX19" fmla="*/ 1424155 w 2010198"/>
              <a:gd name="csY19" fmla="*/ 795553 h 1125151"/>
              <a:gd name="csX20" fmla="*/ 1496649 w 2010198"/>
              <a:gd name="csY20" fmla="*/ 755224 h 1125151"/>
              <a:gd name="csX21" fmla="*/ 1531059 w 2010198"/>
              <a:gd name="csY21" fmla="*/ 733088 h 1125151"/>
              <a:gd name="csX22" fmla="*/ 1875605 w 2010198"/>
              <a:gd name="csY22" fmla="*/ 304438 h 1125151"/>
              <a:gd name="csX23" fmla="*/ 2010198 w 2010198"/>
              <a:gd name="csY23" fmla="*/ 0 h 1125151"/>
              <a:gd name="csX24" fmla="*/ 358 w 2010198"/>
              <a:gd name="csY24" fmla="*/ 0 h 11251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010198" h="1125151">
                <a:moveTo>
                  <a:pt x="0" y="0"/>
                </a:moveTo>
                <a:cubicBezTo>
                  <a:pt x="29481" y="59060"/>
                  <a:pt x="77511" y="161136"/>
                  <a:pt x="134592" y="304438"/>
                </a:cubicBezTo>
                <a:cubicBezTo>
                  <a:pt x="204218" y="479285"/>
                  <a:pt x="323309" y="627516"/>
                  <a:pt x="479139" y="733088"/>
                </a:cubicBezTo>
                <a:cubicBezTo>
                  <a:pt x="490430" y="740795"/>
                  <a:pt x="501899" y="748055"/>
                  <a:pt x="513549" y="755224"/>
                </a:cubicBezTo>
                <a:cubicBezTo>
                  <a:pt x="537206" y="769832"/>
                  <a:pt x="561400" y="783185"/>
                  <a:pt x="586042" y="795553"/>
                </a:cubicBezTo>
                <a:cubicBezTo>
                  <a:pt x="616240" y="810699"/>
                  <a:pt x="647246" y="824142"/>
                  <a:pt x="678788" y="835882"/>
                </a:cubicBezTo>
                <a:cubicBezTo>
                  <a:pt x="748056" y="861692"/>
                  <a:pt x="820280" y="878989"/>
                  <a:pt x="894118" y="887772"/>
                </a:cubicBezTo>
                <a:lnTo>
                  <a:pt x="894118" y="896375"/>
                </a:lnTo>
                <a:cubicBezTo>
                  <a:pt x="894118" y="907130"/>
                  <a:pt x="885426" y="915823"/>
                  <a:pt x="874673" y="915823"/>
                </a:cubicBezTo>
                <a:lnTo>
                  <a:pt x="834617" y="915823"/>
                </a:lnTo>
                <a:cubicBezTo>
                  <a:pt x="817323" y="915823"/>
                  <a:pt x="808632" y="936793"/>
                  <a:pt x="820908" y="948981"/>
                </a:cubicBezTo>
                <a:lnTo>
                  <a:pt x="991344" y="1119438"/>
                </a:lnTo>
                <a:cubicBezTo>
                  <a:pt x="998961" y="1127056"/>
                  <a:pt x="1011237" y="1127056"/>
                  <a:pt x="1018854" y="1119438"/>
                </a:cubicBezTo>
                <a:lnTo>
                  <a:pt x="1189290" y="948981"/>
                </a:lnTo>
                <a:cubicBezTo>
                  <a:pt x="1201567" y="936704"/>
                  <a:pt x="1192875" y="915823"/>
                  <a:pt x="1175580" y="915823"/>
                </a:cubicBezTo>
                <a:lnTo>
                  <a:pt x="1135525" y="915823"/>
                </a:lnTo>
                <a:cubicBezTo>
                  <a:pt x="1124771" y="915823"/>
                  <a:pt x="1116080" y="907130"/>
                  <a:pt x="1116080" y="896375"/>
                </a:cubicBezTo>
                <a:lnTo>
                  <a:pt x="1116080" y="887772"/>
                </a:lnTo>
                <a:cubicBezTo>
                  <a:pt x="1189917" y="878989"/>
                  <a:pt x="1262053" y="861692"/>
                  <a:pt x="1331410" y="835882"/>
                </a:cubicBezTo>
                <a:cubicBezTo>
                  <a:pt x="1362953" y="824142"/>
                  <a:pt x="1393867" y="810699"/>
                  <a:pt x="1424155" y="795553"/>
                </a:cubicBezTo>
                <a:cubicBezTo>
                  <a:pt x="1448799" y="783185"/>
                  <a:pt x="1472993" y="769832"/>
                  <a:pt x="1496649" y="755224"/>
                </a:cubicBezTo>
                <a:cubicBezTo>
                  <a:pt x="1508209" y="748055"/>
                  <a:pt x="1519679" y="740795"/>
                  <a:pt x="1531059" y="733088"/>
                </a:cubicBezTo>
                <a:cubicBezTo>
                  <a:pt x="1686888" y="627427"/>
                  <a:pt x="1805979" y="479197"/>
                  <a:pt x="1875605" y="304438"/>
                </a:cubicBezTo>
                <a:cubicBezTo>
                  <a:pt x="1932687" y="161136"/>
                  <a:pt x="1980717" y="59060"/>
                  <a:pt x="2010198" y="0"/>
                </a:cubicBezTo>
                <a:lnTo>
                  <a:pt x="358" y="0"/>
                </a:lnTo>
                <a:close/>
              </a:path>
            </a:pathLst>
          </a:custGeom>
          <a:solidFill>
            <a:schemeClr val="accent5"/>
          </a:solidFill>
          <a:ln w="8960" cap="flat">
            <a:noFill/>
            <a:prstDash val="solid"/>
            <a:miter/>
          </a:ln>
        </p:spPr>
        <p:txBody>
          <a:bodyPr/>
          <a:lstStyle/>
          <a:p>
            <a:endParaRPr lang="fr-FR">
              <a:solidFill>
                <a:schemeClr val="accent5"/>
              </a:solidFill>
            </a:endParaRPr>
          </a:p>
        </p:txBody>
      </p:sp>
      <p:sp>
        <p:nvSpPr>
          <p:cNvPr id="9" name="Ellipse 8">
            <a:extLst>
              <a:ext uri="{FF2B5EF4-FFF2-40B4-BE49-F238E27FC236}">
                <a16:creationId xmlns:a16="http://schemas.microsoft.com/office/drawing/2014/main" id="{F10D5120-91AF-045C-EB44-52CBA5F9DE86}"/>
              </a:ext>
            </a:extLst>
          </p:cNvPr>
          <p:cNvSpPr/>
          <p:nvPr/>
        </p:nvSpPr>
        <p:spPr>
          <a:xfrm>
            <a:off x="4795362" y="2005953"/>
            <a:ext cx="2587184" cy="225199"/>
          </a:xfrm>
          <a:prstGeom prst="ellipse">
            <a:avLst/>
          </a:prstGeom>
          <a:solidFill>
            <a:schemeClr val="accent5">
              <a:lumMod val="40000"/>
              <a:lumOff val="60000"/>
            </a:schemeClr>
          </a:solidFill>
          <a:ln w="8960" cap="flat">
            <a:noFill/>
            <a:prstDash val="solid"/>
            <a:miter/>
          </a:ln>
        </p:spPr>
        <p:txBody>
          <a:bodyPr/>
          <a:lstStyle/>
          <a:p>
            <a:endParaRPr lang="fr-FR">
              <a:solidFill>
                <a:schemeClr val="accent5">
                  <a:lumMod val="40000"/>
                  <a:lumOff val="60000"/>
                </a:schemeClr>
              </a:solidFill>
            </a:endParaRPr>
          </a:p>
        </p:txBody>
      </p:sp>
      <p:sp>
        <p:nvSpPr>
          <p:cNvPr id="10" name="Forme libre 9">
            <a:extLst>
              <a:ext uri="{FF2B5EF4-FFF2-40B4-BE49-F238E27FC236}">
                <a16:creationId xmlns:a16="http://schemas.microsoft.com/office/drawing/2014/main" id="{BF442F6C-AE76-CFE6-05BC-9AFAC476F214}"/>
              </a:ext>
            </a:extLst>
          </p:cNvPr>
          <p:cNvSpPr/>
          <p:nvPr/>
        </p:nvSpPr>
        <p:spPr>
          <a:xfrm>
            <a:off x="5772767" y="1501100"/>
            <a:ext cx="632491" cy="652035"/>
          </a:xfrm>
          <a:custGeom>
            <a:avLst/>
            <a:gdLst>
              <a:gd name="csX0" fmla="*/ 491236 w 491325"/>
              <a:gd name="csY0" fmla="*/ 0 h 506507"/>
              <a:gd name="csX1" fmla="*/ 0 w 491325"/>
              <a:gd name="csY1" fmla="*/ 0 h 506507"/>
              <a:gd name="csX2" fmla="*/ 134682 w 491325"/>
              <a:gd name="csY2" fmla="*/ 271010 h 506507"/>
              <a:gd name="csX3" fmla="*/ 134682 w 491325"/>
              <a:gd name="csY3" fmla="*/ 277731 h 506507"/>
              <a:gd name="csX4" fmla="*/ 115237 w 491325"/>
              <a:gd name="csY4" fmla="*/ 297178 h 506507"/>
              <a:gd name="csX5" fmla="*/ 75182 w 491325"/>
              <a:gd name="csY5" fmla="*/ 297178 h 506507"/>
              <a:gd name="csX6" fmla="*/ 61472 w 491325"/>
              <a:gd name="csY6" fmla="*/ 330338 h 506507"/>
              <a:gd name="csX7" fmla="*/ 231908 w 491325"/>
              <a:gd name="csY7" fmla="*/ 500794 h 506507"/>
              <a:gd name="csX8" fmla="*/ 259418 w 491325"/>
              <a:gd name="csY8" fmla="*/ 500794 h 506507"/>
              <a:gd name="csX9" fmla="*/ 429854 w 491325"/>
              <a:gd name="csY9" fmla="*/ 330338 h 506507"/>
              <a:gd name="csX10" fmla="*/ 416144 w 491325"/>
              <a:gd name="csY10" fmla="*/ 297178 h 506507"/>
              <a:gd name="csX11" fmla="*/ 376089 w 491325"/>
              <a:gd name="csY11" fmla="*/ 297178 h 506507"/>
              <a:gd name="csX12" fmla="*/ 356643 w 491325"/>
              <a:gd name="csY12" fmla="*/ 277731 h 506507"/>
              <a:gd name="csX13" fmla="*/ 356643 w 491325"/>
              <a:gd name="csY13" fmla="*/ 271010 h 506507"/>
              <a:gd name="csX14" fmla="*/ 491326 w 491325"/>
              <a:gd name="csY14" fmla="*/ 0 h 506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91325" h="506507">
                <a:moveTo>
                  <a:pt x="491236" y="0"/>
                </a:moveTo>
                <a:lnTo>
                  <a:pt x="0" y="0"/>
                </a:lnTo>
                <a:cubicBezTo>
                  <a:pt x="83605" y="65870"/>
                  <a:pt x="134682" y="164541"/>
                  <a:pt x="134682" y="271010"/>
                </a:cubicBezTo>
                <a:lnTo>
                  <a:pt x="134682" y="277731"/>
                </a:lnTo>
                <a:cubicBezTo>
                  <a:pt x="134682" y="288485"/>
                  <a:pt x="125990" y="297178"/>
                  <a:pt x="115237" y="297178"/>
                </a:cubicBezTo>
                <a:lnTo>
                  <a:pt x="75182" y="297178"/>
                </a:lnTo>
                <a:cubicBezTo>
                  <a:pt x="57887" y="297178"/>
                  <a:pt x="49195" y="318149"/>
                  <a:pt x="61472" y="330338"/>
                </a:cubicBezTo>
                <a:lnTo>
                  <a:pt x="231908" y="500794"/>
                </a:lnTo>
                <a:cubicBezTo>
                  <a:pt x="239525" y="508412"/>
                  <a:pt x="251801" y="508412"/>
                  <a:pt x="259418" y="500794"/>
                </a:cubicBezTo>
                <a:lnTo>
                  <a:pt x="429854" y="330338"/>
                </a:lnTo>
                <a:cubicBezTo>
                  <a:pt x="442131" y="318060"/>
                  <a:pt x="433439" y="297178"/>
                  <a:pt x="416144" y="297178"/>
                </a:cubicBezTo>
                <a:lnTo>
                  <a:pt x="376089" y="297178"/>
                </a:lnTo>
                <a:cubicBezTo>
                  <a:pt x="365336" y="297178"/>
                  <a:pt x="356643" y="288485"/>
                  <a:pt x="356643" y="277731"/>
                </a:cubicBezTo>
                <a:lnTo>
                  <a:pt x="356643" y="271010"/>
                </a:lnTo>
                <a:cubicBezTo>
                  <a:pt x="356643" y="164541"/>
                  <a:pt x="407721" y="65870"/>
                  <a:pt x="491326" y="0"/>
                </a:cubicBezTo>
                <a:close/>
              </a:path>
            </a:pathLst>
          </a:custGeom>
          <a:solidFill>
            <a:schemeClr val="bg2">
              <a:lumMod val="75000"/>
            </a:schemeClr>
          </a:solidFill>
          <a:ln w="8960" cap="flat">
            <a:noFill/>
            <a:prstDash val="solid"/>
            <a:miter/>
          </a:ln>
          <a:effectLst>
            <a:outerShdw blurRad="190500" dist="38100" dir="5400000" algn="t" rotWithShape="0">
              <a:prstClr val="black">
                <a:alpha val="20000"/>
              </a:prstClr>
            </a:outerShdw>
          </a:effectLst>
        </p:spPr>
        <p:txBody>
          <a:bodyPr/>
          <a:lstStyle/>
          <a:p>
            <a:endParaRPr lang="fr-FR"/>
          </a:p>
        </p:txBody>
      </p:sp>
      <p:sp>
        <p:nvSpPr>
          <p:cNvPr id="3" name="TextBox 2">
            <a:extLst>
              <a:ext uri="{FF2B5EF4-FFF2-40B4-BE49-F238E27FC236}">
                <a16:creationId xmlns:a16="http://schemas.microsoft.com/office/drawing/2014/main" id="{971CE37A-2EA3-4645-2C03-793BABD07C75}"/>
              </a:ext>
            </a:extLst>
          </p:cNvPr>
          <p:cNvSpPr txBox="1"/>
          <p:nvPr/>
        </p:nvSpPr>
        <p:spPr>
          <a:xfrm>
            <a:off x="5866719" y="2285036"/>
            <a:ext cx="444353" cy="400110"/>
          </a:xfrm>
          <a:prstGeom prst="rect">
            <a:avLst/>
          </a:prstGeom>
          <a:noFill/>
        </p:spPr>
        <p:txBody>
          <a:bodyPr wrap="none" rtlCol="0" anchor="ctr">
            <a:spAutoFit/>
          </a:bodyPr>
          <a:lstStyle/>
          <a:p>
            <a:pPr algn="ctr"/>
            <a:r>
              <a:rPr lang="en-US" sz="2000" b="1"/>
              <a:t>01</a:t>
            </a:r>
          </a:p>
        </p:txBody>
      </p:sp>
      <p:sp>
        <p:nvSpPr>
          <p:cNvPr id="11" name="TextBox 10">
            <a:extLst>
              <a:ext uri="{FF2B5EF4-FFF2-40B4-BE49-F238E27FC236}">
                <a16:creationId xmlns:a16="http://schemas.microsoft.com/office/drawing/2014/main" id="{496E8524-E548-6AAF-FFEC-95564890C8CB}"/>
              </a:ext>
            </a:extLst>
          </p:cNvPr>
          <p:cNvSpPr txBox="1"/>
          <p:nvPr/>
        </p:nvSpPr>
        <p:spPr>
          <a:xfrm>
            <a:off x="5866719" y="3588980"/>
            <a:ext cx="444353" cy="400110"/>
          </a:xfrm>
          <a:prstGeom prst="rect">
            <a:avLst/>
          </a:prstGeom>
          <a:noFill/>
        </p:spPr>
        <p:txBody>
          <a:bodyPr wrap="none" rtlCol="0" anchor="ctr">
            <a:spAutoFit/>
          </a:bodyPr>
          <a:lstStyle/>
          <a:p>
            <a:pPr algn="ctr"/>
            <a:r>
              <a:rPr lang="en-US" sz="2000" b="1"/>
              <a:t>02</a:t>
            </a:r>
          </a:p>
        </p:txBody>
      </p:sp>
      <p:sp>
        <p:nvSpPr>
          <p:cNvPr id="12" name="TextBox 11">
            <a:extLst>
              <a:ext uri="{FF2B5EF4-FFF2-40B4-BE49-F238E27FC236}">
                <a16:creationId xmlns:a16="http://schemas.microsoft.com/office/drawing/2014/main" id="{C0538591-6D2A-394D-3D5F-604348CBB2C4}"/>
              </a:ext>
            </a:extLst>
          </p:cNvPr>
          <p:cNvSpPr txBox="1"/>
          <p:nvPr/>
        </p:nvSpPr>
        <p:spPr>
          <a:xfrm>
            <a:off x="5866719" y="4627104"/>
            <a:ext cx="444353" cy="400110"/>
          </a:xfrm>
          <a:prstGeom prst="rect">
            <a:avLst/>
          </a:prstGeom>
          <a:noFill/>
        </p:spPr>
        <p:txBody>
          <a:bodyPr wrap="none" rtlCol="0" anchor="ctr">
            <a:spAutoFit/>
          </a:bodyPr>
          <a:lstStyle/>
          <a:p>
            <a:pPr algn="ctr"/>
            <a:r>
              <a:rPr lang="en-US" sz="2000" b="1"/>
              <a:t>03</a:t>
            </a:r>
          </a:p>
        </p:txBody>
      </p:sp>
      <p:sp>
        <p:nvSpPr>
          <p:cNvPr id="14" name="TextBox 13">
            <a:extLst>
              <a:ext uri="{FF2B5EF4-FFF2-40B4-BE49-F238E27FC236}">
                <a16:creationId xmlns:a16="http://schemas.microsoft.com/office/drawing/2014/main" id="{D722451E-7F13-2C43-869C-63664D36688F}"/>
              </a:ext>
            </a:extLst>
          </p:cNvPr>
          <p:cNvSpPr txBox="1"/>
          <p:nvPr/>
        </p:nvSpPr>
        <p:spPr>
          <a:xfrm>
            <a:off x="7797143" y="2890588"/>
            <a:ext cx="3774300" cy="461665"/>
          </a:xfrm>
          <a:prstGeom prst="rect">
            <a:avLst/>
          </a:prstGeom>
          <a:noFill/>
        </p:spPr>
        <p:txBody>
          <a:bodyPr wrap="square" lIns="0" rIns="0" rtlCol="0" anchor="b">
            <a:spAutoFit/>
          </a:bodyPr>
          <a:lstStyle/>
          <a:p>
            <a:r>
              <a:rPr lang="en-US" sz="2400" b="1" noProof="1">
                <a:solidFill>
                  <a:schemeClr val="accent1"/>
                </a:solidFill>
              </a:rPr>
              <a:t>02 – Relationships Tested</a:t>
            </a:r>
          </a:p>
        </p:txBody>
      </p:sp>
      <p:sp>
        <p:nvSpPr>
          <p:cNvPr id="17" name="TextBox 16">
            <a:extLst>
              <a:ext uri="{FF2B5EF4-FFF2-40B4-BE49-F238E27FC236}">
                <a16:creationId xmlns:a16="http://schemas.microsoft.com/office/drawing/2014/main" id="{0392127C-2BD2-4755-F486-5EDA428D2FED}"/>
              </a:ext>
            </a:extLst>
          </p:cNvPr>
          <p:cNvSpPr txBox="1"/>
          <p:nvPr/>
        </p:nvSpPr>
        <p:spPr>
          <a:xfrm>
            <a:off x="1326942" y="3797282"/>
            <a:ext cx="3216034" cy="461665"/>
          </a:xfrm>
          <a:prstGeom prst="rect">
            <a:avLst/>
          </a:prstGeom>
          <a:noFill/>
        </p:spPr>
        <p:txBody>
          <a:bodyPr wrap="square" lIns="0" rIns="0" rtlCol="0" anchor="b">
            <a:spAutoFit/>
          </a:bodyPr>
          <a:lstStyle/>
          <a:p>
            <a:pPr algn="r"/>
            <a:r>
              <a:rPr lang="en-US" sz="2400" b="1">
                <a:solidFill>
                  <a:schemeClr val="accent2"/>
                </a:solidFill>
              </a:rPr>
              <a:t>03 – Key Takeaways</a:t>
            </a:r>
          </a:p>
        </p:txBody>
      </p:sp>
      <p:grpSp>
        <p:nvGrpSpPr>
          <p:cNvPr id="19" name="Group 18">
            <a:extLst>
              <a:ext uri="{FF2B5EF4-FFF2-40B4-BE49-F238E27FC236}">
                <a16:creationId xmlns:a16="http://schemas.microsoft.com/office/drawing/2014/main" id="{AD7627F3-BDD0-BBE3-E530-821E896DFEA6}"/>
              </a:ext>
            </a:extLst>
          </p:cNvPr>
          <p:cNvGrpSpPr/>
          <p:nvPr/>
        </p:nvGrpSpPr>
        <p:grpSpPr>
          <a:xfrm>
            <a:off x="1189640" y="2116247"/>
            <a:ext cx="2798246" cy="1290153"/>
            <a:chOff x="332936" y="2627766"/>
            <a:chExt cx="2926080" cy="1290153"/>
          </a:xfrm>
        </p:grpSpPr>
        <p:sp>
          <p:nvSpPr>
            <p:cNvPr id="20" name="TextBox 19">
              <a:extLst>
                <a:ext uri="{FF2B5EF4-FFF2-40B4-BE49-F238E27FC236}">
                  <a16:creationId xmlns:a16="http://schemas.microsoft.com/office/drawing/2014/main" id="{175C19C6-BB50-0D78-3D2F-81DF1EB86B48}"/>
                </a:ext>
              </a:extLst>
            </p:cNvPr>
            <p:cNvSpPr txBox="1"/>
            <p:nvPr/>
          </p:nvSpPr>
          <p:spPr>
            <a:xfrm>
              <a:off x="332936" y="2627766"/>
              <a:ext cx="2926080" cy="461665"/>
            </a:xfrm>
            <a:prstGeom prst="rect">
              <a:avLst/>
            </a:prstGeom>
            <a:noFill/>
          </p:spPr>
          <p:txBody>
            <a:bodyPr wrap="square" lIns="0" rIns="0" rtlCol="0" anchor="b">
              <a:spAutoFit/>
            </a:bodyPr>
            <a:lstStyle/>
            <a:p>
              <a:pPr algn="r"/>
              <a:r>
                <a:rPr lang="en-US" sz="2400" b="1" noProof="1">
                  <a:solidFill>
                    <a:schemeClr val="accent5"/>
                  </a:solidFill>
                </a:rPr>
                <a:t>01 - Method</a:t>
              </a:r>
            </a:p>
          </p:txBody>
        </p:sp>
        <p:sp>
          <p:nvSpPr>
            <p:cNvPr id="21" name="TextBox 20">
              <a:extLst>
                <a:ext uri="{FF2B5EF4-FFF2-40B4-BE49-F238E27FC236}">
                  <a16:creationId xmlns:a16="http://schemas.microsoft.com/office/drawing/2014/main" id="{43C83280-C8BA-E617-18CC-BCC59EB58863}"/>
                </a:ext>
              </a:extLst>
            </p:cNvPr>
            <p:cNvSpPr txBox="1"/>
            <p:nvPr/>
          </p:nvSpPr>
          <p:spPr>
            <a:xfrm>
              <a:off x="332936" y="3086922"/>
              <a:ext cx="2926080"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a:t>Linear regression used to estimate causal effects</a:t>
              </a:r>
            </a:p>
            <a:p>
              <a:pPr marL="171450" lvl="1" indent="-171450">
                <a:buFont typeface="Arial" panose="020B0604020202020204" pitchFamily="34" charset="0"/>
                <a:buChar char="•"/>
              </a:pPr>
              <a:r>
                <a:rPr lang="en-US" sz="1200"/>
                <a:t>Controlled for variables identified in DAG</a:t>
              </a:r>
            </a:p>
          </p:txBody>
        </p:sp>
      </p:grpSp>
      <p:sp>
        <p:nvSpPr>
          <p:cNvPr id="22" name="TextBox 21">
            <a:extLst>
              <a:ext uri="{FF2B5EF4-FFF2-40B4-BE49-F238E27FC236}">
                <a16:creationId xmlns:a16="http://schemas.microsoft.com/office/drawing/2014/main" id="{30349292-F5FF-3FCA-3DB2-0487B6959AB0}"/>
              </a:ext>
            </a:extLst>
          </p:cNvPr>
          <p:cNvSpPr txBox="1"/>
          <p:nvPr/>
        </p:nvSpPr>
        <p:spPr>
          <a:xfrm>
            <a:off x="1456830" y="4258947"/>
            <a:ext cx="3306316"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a:t>Multiple factors significantly impact lethality</a:t>
            </a:r>
          </a:p>
          <a:p>
            <a:pPr marL="171450" lvl="1" indent="-171450">
              <a:buFont typeface="Arial" panose="020B0604020202020204" pitchFamily="34" charset="0"/>
              <a:buChar char="•"/>
            </a:pPr>
            <a:r>
              <a:rPr lang="en-US" sz="1200"/>
              <a:t>Effects depend on interactions between variables</a:t>
            </a:r>
          </a:p>
          <a:p>
            <a:pPr marL="171450" lvl="1" indent="-171450">
              <a:buFont typeface="Arial" panose="020B0604020202020204" pitchFamily="34" charset="0"/>
              <a:buChar char="•"/>
            </a:pPr>
            <a:r>
              <a:rPr lang="en-US" sz="1200"/>
              <a:t>Observational data limits full causal certainty</a:t>
            </a:r>
          </a:p>
        </p:txBody>
      </p:sp>
      <p:sp>
        <p:nvSpPr>
          <p:cNvPr id="23" name="TextBox 22">
            <a:extLst>
              <a:ext uri="{FF2B5EF4-FFF2-40B4-BE49-F238E27FC236}">
                <a16:creationId xmlns:a16="http://schemas.microsoft.com/office/drawing/2014/main" id="{FEF3DA14-B3C0-A582-6B8B-327147CD9720}"/>
              </a:ext>
            </a:extLst>
          </p:cNvPr>
          <p:cNvSpPr txBox="1"/>
          <p:nvPr/>
        </p:nvSpPr>
        <p:spPr>
          <a:xfrm>
            <a:off x="8190021" y="3337403"/>
            <a:ext cx="2798246"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a:t>Weather → Lethality</a:t>
            </a:r>
          </a:p>
          <a:p>
            <a:pPr marL="171450" lvl="1" indent="-171450">
              <a:buFont typeface="Arial" panose="020B0604020202020204" pitchFamily="34" charset="0"/>
              <a:buChar char="•"/>
            </a:pPr>
            <a:r>
              <a:rPr lang="en-US" sz="1200"/>
              <a:t>Pilot Error → Lethality</a:t>
            </a:r>
          </a:p>
          <a:p>
            <a:pPr marL="171450" lvl="1" indent="-171450">
              <a:buFont typeface="Arial" panose="020B0604020202020204" pitchFamily="34" charset="0"/>
              <a:buChar char="•"/>
            </a:pPr>
            <a:r>
              <a:rPr lang="en-US" sz="1200"/>
              <a:t>Mechanical → Lethality</a:t>
            </a:r>
          </a:p>
          <a:p>
            <a:pPr marL="171450" lvl="1" indent="-171450">
              <a:buFont typeface="Arial" panose="020B0604020202020204" pitchFamily="34" charset="0"/>
              <a:buChar char="•"/>
            </a:pPr>
            <a:r>
              <a:rPr lang="en-US" sz="1200"/>
              <a:t>Fuel, CFIT, etc.</a:t>
            </a:r>
          </a:p>
        </p:txBody>
      </p:sp>
      <p:sp>
        <p:nvSpPr>
          <p:cNvPr id="13" name="TextBox 12">
            <a:extLst>
              <a:ext uri="{FF2B5EF4-FFF2-40B4-BE49-F238E27FC236}">
                <a16:creationId xmlns:a16="http://schemas.microsoft.com/office/drawing/2014/main" id="{4019CA42-4FAA-FE29-F46C-D4B3E2272C2F}"/>
              </a:ext>
            </a:extLst>
          </p:cNvPr>
          <p:cNvSpPr txBox="1"/>
          <p:nvPr/>
        </p:nvSpPr>
        <p:spPr>
          <a:xfrm>
            <a:off x="10817817" y="6426631"/>
            <a:ext cx="857573" cy="307777"/>
          </a:xfrm>
          <a:prstGeom prst="rect">
            <a:avLst/>
          </a:prstGeom>
          <a:noFill/>
        </p:spPr>
        <p:txBody>
          <a:bodyPr wrap="square" rtlCol="0">
            <a:spAutoFit/>
          </a:bodyPr>
          <a:lstStyle/>
          <a:p>
            <a:r>
              <a:rPr lang="en-US"/>
              <a:t>Jordan</a:t>
            </a:r>
          </a:p>
        </p:txBody>
      </p:sp>
    </p:spTree>
    <p:extLst>
      <p:ext uri="{BB962C8B-B14F-4D97-AF65-F5344CB8AC3E}">
        <p14:creationId xmlns:p14="http://schemas.microsoft.com/office/powerpoint/2010/main" val="717188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CF4A5-A041-FC74-F2B8-FD1778C31271}"/>
              </a:ext>
            </a:extLst>
          </p:cNvPr>
          <p:cNvSpPr>
            <a:spLocks noGrp="1"/>
          </p:cNvSpPr>
          <p:nvPr>
            <p:ph type="title"/>
          </p:nvPr>
        </p:nvSpPr>
        <p:spPr/>
        <p:txBody>
          <a:bodyPr/>
          <a:lstStyle/>
          <a:p>
            <a:r>
              <a:rPr lang="en-US"/>
              <a:t>Average Treatment Effect Results</a:t>
            </a:r>
          </a:p>
        </p:txBody>
      </p:sp>
      <p:graphicFrame>
        <p:nvGraphicFramePr>
          <p:cNvPr id="4" name="Table 3">
            <a:extLst>
              <a:ext uri="{FF2B5EF4-FFF2-40B4-BE49-F238E27FC236}">
                <a16:creationId xmlns:a16="http://schemas.microsoft.com/office/drawing/2014/main" id="{FB1BF3A5-CBA2-0CA0-D2F4-AD4A3468DB41}"/>
              </a:ext>
            </a:extLst>
          </p:cNvPr>
          <p:cNvGraphicFramePr>
            <a:graphicFrameLocks noGrp="1"/>
          </p:cNvGraphicFramePr>
          <p:nvPr>
            <p:extLst>
              <p:ext uri="{D42A27DB-BD31-4B8C-83A1-F6EECF244321}">
                <p14:modId xmlns:p14="http://schemas.microsoft.com/office/powerpoint/2010/main" val="2849926"/>
              </p:ext>
            </p:extLst>
          </p:nvPr>
        </p:nvGraphicFramePr>
        <p:xfrm>
          <a:off x="1661652" y="1393371"/>
          <a:ext cx="8868695" cy="4725711"/>
        </p:xfrm>
        <a:graphic>
          <a:graphicData uri="http://schemas.openxmlformats.org/drawingml/2006/table">
            <a:tbl>
              <a:tblPr firstRow="1" bandRow="1">
                <a:effectLst>
                  <a:outerShdw blurRad="50800" dist="38100" dir="8100000" algn="tr" rotWithShape="0">
                    <a:prstClr val="black">
                      <a:alpha val="40000"/>
                    </a:prstClr>
                  </a:outerShdw>
                </a:effectLst>
                <a:tableStyleId>{7DF18680-E054-41AD-8BC1-D1AEF772440D}</a:tableStyleId>
              </a:tblPr>
              <a:tblGrid>
                <a:gridCol w="2502226">
                  <a:extLst>
                    <a:ext uri="{9D8B030D-6E8A-4147-A177-3AD203B41FA5}">
                      <a16:colId xmlns:a16="http://schemas.microsoft.com/office/drawing/2014/main" val="1115683742"/>
                    </a:ext>
                  </a:extLst>
                </a:gridCol>
                <a:gridCol w="1675273">
                  <a:extLst>
                    <a:ext uri="{9D8B030D-6E8A-4147-A177-3AD203B41FA5}">
                      <a16:colId xmlns:a16="http://schemas.microsoft.com/office/drawing/2014/main" val="2514695833"/>
                    </a:ext>
                  </a:extLst>
                </a:gridCol>
                <a:gridCol w="4691196">
                  <a:extLst>
                    <a:ext uri="{9D8B030D-6E8A-4147-A177-3AD203B41FA5}">
                      <a16:colId xmlns:a16="http://schemas.microsoft.com/office/drawing/2014/main" val="2029893162"/>
                    </a:ext>
                  </a:extLst>
                </a:gridCol>
              </a:tblGrid>
              <a:tr h="456499">
                <a:tc>
                  <a:txBody>
                    <a:bodyPr/>
                    <a:lstStyle/>
                    <a:p>
                      <a:pPr algn="ctr" fontAlgn="ctr">
                        <a:buNone/>
                      </a:pPr>
                      <a:r>
                        <a:rPr lang="en-US" sz="2000" b="1" u="none" strike="noStrike">
                          <a:solidFill>
                            <a:srgbClr val="FFFFFF"/>
                          </a:solidFill>
                          <a:effectLst/>
                        </a:rPr>
                        <a:t>Treatment</a:t>
                      </a:r>
                      <a:endParaRPr lang="en-US" sz="2000" b="1" i="0" u="none" strike="noStrike">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US" sz="2000" b="1" u="none" strike="noStrike">
                          <a:solidFill>
                            <a:srgbClr val="FFFFFF"/>
                          </a:solidFill>
                          <a:effectLst/>
                        </a:rPr>
                        <a:t>ATE</a:t>
                      </a:r>
                      <a:endParaRPr lang="en-US" sz="2000" b="1" i="0" u="none" strike="noStrike">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US" sz="2000" b="1" u="none" strike="noStrike">
                          <a:solidFill>
                            <a:srgbClr val="FFFFFF"/>
                          </a:solidFill>
                          <a:effectLst/>
                        </a:rPr>
                        <a:t>Interpretation</a:t>
                      </a:r>
                      <a:endParaRPr lang="en-US" sz="2000" b="1" i="0" u="none" strike="noStrike">
                        <a:solidFill>
                          <a:srgbClr val="FFFFF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4001541478"/>
                  </a:ext>
                </a:extLst>
              </a:tr>
              <a:tr h="456499">
                <a:tc>
                  <a:txBody>
                    <a:bodyPr/>
                    <a:lstStyle/>
                    <a:p>
                      <a:pPr algn="ctr" fontAlgn="b">
                        <a:buNone/>
                      </a:pPr>
                      <a:r>
                        <a:rPr lang="en-US" sz="2000" b="1" u="none" strike="noStrike">
                          <a:solidFill>
                            <a:srgbClr val="000000"/>
                          </a:solidFill>
                          <a:effectLst/>
                        </a:rPr>
                        <a:t>Ran out of fuel</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-20.19%</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Strongly protective</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87924500"/>
                  </a:ext>
                </a:extLst>
              </a:tr>
              <a:tr h="456499">
                <a:tc>
                  <a:txBody>
                    <a:bodyPr/>
                    <a:lstStyle/>
                    <a:p>
                      <a:pPr algn="ctr" fontAlgn="b">
                        <a:buNone/>
                      </a:pPr>
                      <a:r>
                        <a:rPr lang="en-US" sz="2000" b="1" u="none" strike="noStrike">
                          <a:solidFill>
                            <a:srgbClr val="000000"/>
                          </a:solidFill>
                          <a:effectLst/>
                        </a:rPr>
                        <a:t>Mechanical Failure</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-9.62%</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Protective</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505687751"/>
                  </a:ext>
                </a:extLst>
              </a:tr>
              <a:tr h="456499">
                <a:tc>
                  <a:txBody>
                    <a:bodyPr/>
                    <a:lstStyle/>
                    <a:p>
                      <a:pPr algn="ctr" fontAlgn="b">
                        <a:buNone/>
                      </a:pPr>
                      <a:r>
                        <a:rPr lang="en-US" sz="2000" b="1" u="none" strike="noStrike">
                          <a:solidFill>
                            <a:srgbClr val="000000"/>
                          </a:solidFill>
                          <a:effectLst/>
                        </a:rPr>
                        <a:t>Control Flight into Terrain (CFIT)</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6.68%</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Harmful</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609792728"/>
                  </a:ext>
                </a:extLst>
              </a:tr>
              <a:tr h="456499">
                <a:tc>
                  <a:txBody>
                    <a:bodyPr/>
                    <a:lstStyle/>
                    <a:p>
                      <a:pPr algn="ctr" fontAlgn="b">
                        <a:buNone/>
                      </a:pPr>
                      <a:r>
                        <a:rPr lang="en-US" sz="2000" b="1" u="none" strike="noStrike">
                          <a:solidFill>
                            <a:srgbClr val="000000"/>
                          </a:solidFill>
                          <a:effectLst/>
                        </a:rPr>
                        <a:t>Pilot error</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-3.57%</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Weakly protective</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704593268"/>
                  </a:ext>
                </a:extLst>
              </a:tr>
              <a:tr h="456499">
                <a:tc>
                  <a:txBody>
                    <a:bodyPr/>
                    <a:lstStyle/>
                    <a:p>
                      <a:pPr algn="ctr" fontAlgn="b">
                        <a:buNone/>
                      </a:pPr>
                      <a:r>
                        <a:rPr lang="en-US" sz="2000" b="1" u="none" strike="noStrike">
                          <a:solidFill>
                            <a:srgbClr val="000000"/>
                          </a:solidFill>
                          <a:effectLst/>
                        </a:rPr>
                        <a:t>Bad Weather</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1.99%</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Weakly harmful (direct only)</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882572487"/>
                  </a:ext>
                </a:extLst>
              </a:tr>
              <a:tr h="456499">
                <a:tc>
                  <a:txBody>
                    <a:bodyPr/>
                    <a:lstStyle/>
                    <a:p>
                      <a:pPr algn="ctr" fontAlgn="b">
                        <a:buNone/>
                      </a:pPr>
                      <a:r>
                        <a:rPr lang="en-US" sz="2000" b="1" u="none" strike="noStrike">
                          <a:solidFill>
                            <a:srgbClr val="000000"/>
                          </a:solidFill>
                          <a:effectLst/>
                        </a:rPr>
                        <a:t>Collision</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0.00%</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No directed path</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678018337"/>
                  </a:ext>
                </a:extLst>
              </a:tr>
              <a:tr h="456499">
                <a:tc>
                  <a:txBody>
                    <a:bodyPr/>
                    <a:lstStyle/>
                    <a:p>
                      <a:pPr algn="ctr" fontAlgn="b">
                        <a:buNone/>
                      </a:pPr>
                      <a:r>
                        <a:rPr lang="en-US" sz="2000" b="1" u="none" strike="noStrike">
                          <a:solidFill>
                            <a:srgbClr val="000000"/>
                          </a:solidFill>
                          <a:effectLst/>
                        </a:rPr>
                        <a:t>Fire</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0.00%</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No directed path</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578250611"/>
                  </a:ext>
                </a:extLst>
              </a:tr>
              <a:tr h="456499">
                <a:tc>
                  <a:txBody>
                    <a:bodyPr/>
                    <a:lstStyle/>
                    <a:p>
                      <a:pPr algn="ctr" fontAlgn="b">
                        <a:buNone/>
                      </a:pPr>
                      <a:r>
                        <a:rPr lang="en-US" sz="2000" b="1" u="none" strike="noStrike">
                          <a:solidFill>
                            <a:srgbClr val="000000"/>
                          </a:solidFill>
                          <a:effectLst/>
                        </a:rPr>
                        <a:t>Sabotage</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0.00%</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No directed path</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055510960"/>
                  </a:ext>
                </a:extLst>
              </a:tr>
              <a:tr h="456499">
                <a:tc>
                  <a:txBody>
                    <a:bodyPr/>
                    <a:lstStyle/>
                    <a:p>
                      <a:pPr algn="ctr" fontAlgn="b">
                        <a:buNone/>
                      </a:pPr>
                      <a:r>
                        <a:rPr lang="en-US" sz="2000" b="1" u="none" strike="noStrike">
                          <a:solidFill>
                            <a:srgbClr val="000000"/>
                          </a:solidFill>
                          <a:effectLst/>
                        </a:rPr>
                        <a:t>Shot Down</a:t>
                      </a:r>
                      <a:endParaRPr lang="en-US" sz="2000" b="1"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0.00%</a:t>
                      </a:r>
                      <a:endParaRPr lang="en-US" sz="2000" b="0" i="0" u="none" strike="noStrike">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sz="2000" b="0" u="none" strike="noStrike">
                          <a:solidFill>
                            <a:srgbClr val="000000"/>
                          </a:solidFill>
                          <a:effectLst/>
                        </a:rPr>
                        <a:t>No directed path</a:t>
                      </a:r>
                      <a:endParaRPr lang="en-US" sz="20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472058953"/>
                  </a:ext>
                </a:extLst>
              </a:tr>
            </a:tbl>
          </a:graphicData>
        </a:graphic>
      </p:graphicFrame>
      <p:sp>
        <p:nvSpPr>
          <p:cNvPr id="6" name="TextBox 5">
            <a:extLst>
              <a:ext uri="{FF2B5EF4-FFF2-40B4-BE49-F238E27FC236}">
                <a16:creationId xmlns:a16="http://schemas.microsoft.com/office/drawing/2014/main" id="{4E08A935-57D0-4CF7-4F5B-F1FF8E03193C}"/>
              </a:ext>
            </a:extLst>
          </p:cNvPr>
          <p:cNvSpPr txBox="1"/>
          <p:nvPr/>
        </p:nvSpPr>
        <p:spPr>
          <a:xfrm>
            <a:off x="10817817" y="6426631"/>
            <a:ext cx="857573" cy="307777"/>
          </a:xfrm>
          <a:prstGeom prst="rect">
            <a:avLst/>
          </a:prstGeom>
          <a:noFill/>
        </p:spPr>
        <p:txBody>
          <a:bodyPr wrap="square" rtlCol="0">
            <a:spAutoFit/>
          </a:bodyPr>
          <a:lstStyle/>
          <a:p>
            <a:r>
              <a:rPr lang="en-US"/>
              <a:t>Seth</a:t>
            </a:r>
          </a:p>
        </p:txBody>
      </p:sp>
    </p:spTree>
    <p:extLst>
      <p:ext uri="{BB962C8B-B14F-4D97-AF65-F5344CB8AC3E}">
        <p14:creationId xmlns:p14="http://schemas.microsoft.com/office/powerpoint/2010/main" val="2097592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p:txBody>
          <a:bodyPr/>
          <a:lstStyle/>
          <a:p>
            <a:r>
              <a:rPr lang="en-US"/>
              <a:t>Conclusion</a:t>
            </a:r>
          </a:p>
        </p:txBody>
      </p:sp>
      <p:grpSp>
        <p:nvGrpSpPr>
          <p:cNvPr id="26" name="Group 25">
            <a:extLst>
              <a:ext uri="{FF2B5EF4-FFF2-40B4-BE49-F238E27FC236}">
                <a16:creationId xmlns:a16="http://schemas.microsoft.com/office/drawing/2014/main" id="{324BA0DC-2EFF-1027-B0C7-0599C4260C83}"/>
              </a:ext>
            </a:extLst>
          </p:cNvPr>
          <p:cNvGrpSpPr/>
          <p:nvPr/>
        </p:nvGrpSpPr>
        <p:grpSpPr>
          <a:xfrm>
            <a:off x="5891985" y="815121"/>
            <a:ext cx="1021890" cy="2794237"/>
            <a:chOff x="5449793" y="913370"/>
            <a:chExt cx="1021890" cy="2794237"/>
          </a:xfrm>
        </p:grpSpPr>
        <p:sp>
          <p:nvSpPr>
            <p:cNvPr id="3" name="Freeform: Shape 2">
              <a:extLst>
                <a:ext uri="{FF2B5EF4-FFF2-40B4-BE49-F238E27FC236}">
                  <a16:creationId xmlns:a16="http://schemas.microsoft.com/office/drawing/2014/main" id="{BCF0BD54-03A4-CF31-FDA5-07F0E2791096}"/>
                </a:ext>
              </a:extLst>
            </p:cNvPr>
            <p:cNvSpPr/>
            <p:nvPr/>
          </p:nvSpPr>
          <p:spPr>
            <a:xfrm flipH="1">
              <a:off x="5987371" y="913370"/>
              <a:ext cx="215457" cy="2794236"/>
            </a:xfrm>
            <a:custGeom>
              <a:avLst/>
              <a:gdLst>
                <a:gd name="connsiteX0" fmla="*/ 215457 w 215457"/>
                <a:gd name="connsiteY0" fmla="*/ 0 h 2716260"/>
                <a:gd name="connsiteX1" fmla="*/ 0 w 215457"/>
                <a:gd name="connsiteY1" fmla="*/ 0 h 2716260"/>
                <a:gd name="connsiteX2" fmla="*/ 0 w 215457"/>
                <a:gd name="connsiteY2" fmla="*/ 2716260 h 2716260"/>
                <a:gd name="connsiteX3" fmla="*/ 215457 w 215457"/>
                <a:gd name="connsiteY3" fmla="*/ 2716260 h 2716260"/>
                <a:gd name="connsiteX0" fmla="*/ 215457 w 215457"/>
                <a:gd name="connsiteY0" fmla="*/ 0 h 2716260"/>
                <a:gd name="connsiteX1" fmla="*/ 0 w 215457"/>
                <a:gd name="connsiteY1" fmla="*/ 0 h 2716260"/>
                <a:gd name="connsiteX2" fmla="*/ 0 w 215457"/>
                <a:gd name="connsiteY2" fmla="*/ 2716260 h 2716260"/>
                <a:gd name="connsiteX3" fmla="*/ 109209 w 215457"/>
                <a:gd name="connsiteY3" fmla="*/ 2715655 h 2716260"/>
                <a:gd name="connsiteX4" fmla="*/ 215457 w 215457"/>
                <a:gd name="connsiteY4" fmla="*/ 2716260 h 2716260"/>
                <a:gd name="connsiteX5" fmla="*/ 215457 w 215457"/>
                <a:gd name="connsiteY5" fmla="*/ 0 h 2716260"/>
                <a:gd name="connsiteX0" fmla="*/ 215457 w 215457"/>
                <a:gd name="connsiteY0" fmla="*/ 0 h 2794236"/>
                <a:gd name="connsiteX1" fmla="*/ 0 w 215457"/>
                <a:gd name="connsiteY1" fmla="*/ 0 h 2794236"/>
                <a:gd name="connsiteX2" fmla="*/ 0 w 215457"/>
                <a:gd name="connsiteY2" fmla="*/ 2716260 h 2794236"/>
                <a:gd name="connsiteX3" fmla="*/ 99684 w 215457"/>
                <a:gd name="connsiteY3" fmla="*/ 2794236 h 2794236"/>
                <a:gd name="connsiteX4" fmla="*/ 215457 w 215457"/>
                <a:gd name="connsiteY4" fmla="*/ 2716260 h 2794236"/>
                <a:gd name="connsiteX5" fmla="*/ 215457 w 215457"/>
                <a:gd name="connsiteY5" fmla="*/ 0 h 2794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57" h="2794236">
                  <a:moveTo>
                    <a:pt x="215457" y="0"/>
                  </a:moveTo>
                  <a:lnTo>
                    <a:pt x="0" y="0"/>
                  </a:lnTo>
                  <a:lnTo>
                    <a:pt x="0" y="2716260"/>
                  </a:lnTo>
                  <a:lnTo>
                    <a:pt x="99684" y="2794236"/>
                  </a:lnTo>
                  <a:lnTo>
                    <a:pt x="215457" y="2716260"/>
                  </a:lnTo>
                  <a:lnTo>
                    <a:pt x="215457" y="0"/>
                  </a:lnTo>
                  <a:close/>
                </a:path>
              </a:pathLst>
            </a:custGeom>
            <a:solidFill>
              <a:schemeClr val="accent4">
                <a:lumMod val="75000"/>
              </a:schemeClr>
            </a:solidFill>
            <a:ln w="3049" cap="flat">
              <a:noFill/>
              <a:prstDash val="solid"/>
              <a:miter/>
            </a:ln>
          </p:spPr>
          <p:txBody>
            <a:bodyPr wrap="square" rtlCol="0" anchor="t">
              <a:noAutofit/>
            </a:bodyPr>
            <a:lstStyle/>
            <a:p>
              <a:pPr algn="ctr"/>
              <a:endParaRPr lang="en-US" sz="1400" b="1"/>
            </a:p>
          </p:txBody>
        </p:sp>
        <p:sp>
          <p:nvSpPr>
            <p:cNvPr id="4" name="Freeform: Shape 3">
              <a:extLst>
                <a:ext uri="{FF2B5EF4-FFF2-40B4-BE49-F238E27FC236}">
                  <a16:creationId xmlns:a16="http://schemas.microsoft.com/office/drawing/2014/main" id="{07078928-42EB-F290-9A51-72EAC93D217A}"/>
                </a:ext>
              </a:extLst>
            </p:cNvPr>
            <p:cNvSpPr/>
            <p:nvPr/>
          </p:nvSpPr>
          <p:spPr>
            <a:xfrm flipH="1">
              <a:off x="5718581" y="913370"/>
              <a:ext cx="215458" cy="2794237"/>
            </a:xfrm>
            <a:custGeom>
              <a:avLst/>
              <a:gdLst>
                <a:gd name="connsiteX0" fmla="*/ 215458 w 215458"/>
                <a:gd name="connsiteY0" fmla="*/ 0 h 2716260"/>
                <a:gd name="connsiteX1" fmla="*/ 0 w 215458"/>
                <a:gd name="connsiteY1" fmla="*/ 0 h 2716260"/>
                <a:gd name="connsiteX2" fmla="*/ 0 w 215458"/>
                <a:gd name="connsiteY2" fmla="*/ 2716260 h 2716260"/>
                <a:gd name="connsiteX3" fmla="*/ 215458 w 215458"/>
                <a:gd name="connsiteY3" fmla="*/ 2716260 h 2716260"/>
                <a:gd name="connsiteX0" fmla="*/ 215458 w 215458"/>
                <a:gd name="connsiteY0" fmla="*/ 0 h 2716260"/>
                <a:gd name="connsiteX1" fmla="*/ 0 w 215458"/>
                <a:gd name="connsiteY1" fmla="*/ 0 h 2716260"/>
                <a:gd name="connsiteX2" fmla="*/ 0 w 215458"/>
                <a:gd name="connsiteY2" fmla="*/ 2716260 h 2716260"/>
                <a:gd name="connsiteX3" fmla="*/ 114264 w 215458"/>
                <a:gd name="connsiteY3" fmla="*/ 2713274 h 2716260"/>
                <a:gd name="connsiteX4" fmla="*/ 215458 w 215458"/>
                <a:gd name="connsiteY4" fmla="*/ 2716260 h 2716260"/>
                <a:gd name="connsiteX5" fmla="*/ 215458 w 215458"/>
                <a:gd name="connsiteY5" fmla="*/ 0 h 2716260"/>
                <a:gd name="connsiteX0" fmla="*/ 215458 w 215458"/>
                <a:gd name="connsiteY0" fmla="*/ 0 h 2794237"/>
                <a:gd name="connsiteX1" fmla="*/ 0 w 215458"/>
                <a:gd name="connsiteY1" fmla="*/ 0 h 2794237"/>
                <a:gd name="connsiteX2" fmla="*/ 0 w 215458"/>
                <a:gd name="connsiteY2" fmla="*/ 2716260 h 2794237"/>
                <a:gd name="connsiteX3" fmla="*/ 130933 w 215458"/>
                <a:gd name="connsiteY3" fmla="*/ 2794237 h 2794237"/>
                <a:gd name="connsiteX4" fmla="*/ 215458 w 215458"/>
                <a:gd name="connsiteY4" fmla="*/ 2716260 h 2794237"/>
                <a:gd name="connsiteX5" fmla="*/ 215458 w 215458"/>
                <a:gd name="connsiteY5" fmla="*/ 0 h 279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58" h="2794237">
                  <a:moveTo>
                    <a:pt x="215458" y="0"/>
                  </a:moveTo>
                  <a:lnTo>
                    <a:pt x="0" y="0"/>
                  </a:lnTo>
                  <a:lnTo>
                    <a:pt x="0" y="2716260"/>
                  </a:lnTo>
                  <a:lnTo>
                    <a:pt x="130933" y="2794237"/>
                  </a:lnTo>
                  <a:lnTo>
                    <a:pt x="215458" y="2716260"/>
                  </a:lnTo>
                  <a:lnTo>
                    <a:pt x="215458" y="0"/>
                  </a:lnTo>
                  <a:close/>
                </a:path>
              </a:pathLst>
            </a:custGeom>
            <a:solidFill>
              <a:schemeClr val="accent3">
                <a:lumMod val="75000"/>
              </a:schemeClr>
            </a:solidFill>
            <a:ln w="3049" cap="flat">
              <a:noFill/>
              <a:prstDash val="solid"/>
              <a:miter/>
            </a:ln>
          </p:spPr>
          <p:txBody>
            <a:bodyPr wrap="square" rtlCol="0" anchor="t">
              <a:noAutofit/>
            </a:bodyPr>
            <a:lstStyle/>
            <a:p>
              <a:pPr algn="ctr"/>
              <a:endParaRPr lang="en-US" sz="1400" b="1"/>
            </a:p>
          </p:txBody>
        </p:sp>
        <p:sp>
          <p:nvSpPr>
            <p:cNvPr id="5" name="Freeform: Shape 4">
              <a:extLst>
                <a:ext uri="{FF2B5EF4-FFF2-40B4-BE49-F238E27FC236}">
                  <a16:creationId xmlns:a16="http://schemas.microsoft.com/office/drawing/2014/main" id="{92308911-AB3F-FAFA-D0CD-6D69A56DC769}"/>
                </a:ext>
              </a:extLst>
            </p:cNvPr>
            <p:cNvSpPr/>
            <p:nvPr/>
          </p:nvSpPr>
          <p:spPr>
            <a:xfrm flipH="1">
              <a:off x="5449793" y="913370"/>
              <a:ext cx="215457" cy="2763280"/>
            </a:xfrm>
            <a:custGeom>
              <a:avLst/>
              <a:gdLst>
                <a:gd name="connsiteX0" fmla="*/ 215457 w 215457"/>
                <a:gd name="connsiteY0" fmla="*/ 0 h 2716260"/>
                <a:gd name="connsiteX1" fmla="*/ 0 w 215457"/>
                <a:gd name="connsiteY1" fmla="*/ 0 h 2716260"/>
                <a:gd name="connsiteX2" fmla="*/ 0 w 215457"/>
                <a:gd name="connsiteY2" fmla="*/ 2716260 h 2716260"/>
                <a:gd name="connsiteX3" fmla="*/ 215457 w 215457"/>
                <a:gd name="connsiteY3" fmla="*/ 2716260 h 2716260"/>
                <a:gd name="connsiteX0" fmla="*/ 215457 w 215457"/>
                <a:gd name="connsiteY0" fmla="*/ 0 h 2716260"/>
                <a:gd name="connsiteX1" fmla="*/ 0 w 215457"/>
                <a:gd name="connsiteY1" fmla="*/ 0 h 2716260"/>
                <a:gd name="connsiteX2" fmla="*/ 0 w 215457"/>
                <a:gd name="connsiteY2" fmla="*/ 2716260 h 2716260"/>
                <a:gd name="connsiteX3" fmla="*/ 112175 w 215457"/>
                <a:gd name="connsiteY3" fmla="*/ 2715655 h 2716260"/>
                <a:gd name="connsiteX4" fmla="*/ 215457 w 215457"/>
                <a:gd name="connsiteY4" fmla="*/ 2716260 h 2716260"/>
                <a:gd name="connsiteX5" fmla="*/ 215457 w 215457"/>
                <a:gd name="connsiteY5" fmla="*/ 0 h 2716260"/>
                <a:gd name="connsiteX0" fmla="*/ 215457 w 215457"/>
                <a:gd name="connsiteY0" fmla="*/ 0 h 2763280"/>
                <a:gd name="connsiteX1" fmla="*/ 0 w 215457"/>
                <a:gd name="connsiteY1" fmla="*/ 0 h 2763280"/>
                <a:gd name="connsiteX2" fmla="*/ 0 w 215457"/>
                <a:gd name="connsiteY2" fmla="*/ 2716260 h 2763280"/>
                <a:gd name="connsiteX3" fmla="*/ 143131 w 215457"/>
                <a:gd name="connsiteY3" fmla="*/ 2763280 h 2763280"/>
                <a:gd name="connsiteX4" fmla="*/ 215457 w 215457"/>
                <a:gd name="connsiteY4" fmla="*/ 2716260 h 2763280"/>
                <a:gd name="connsiteX5" fmla="*/ 215457 w 215457"/>
                <a:gd name="connsiteY5" fmla="*/ 0 h 276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57" h="2763280">
                  <a:moveTo>
                    <a:pt x="215457" y="0"/>
                  </a:moveTo>
                  <a:lnTo>
                    <a:pt x="0" y="0"/>
                  </a:lnTo>
                  <a:lnTo>
                    <a:pt x="0" y="2716260"/>
                  </a:lnTo>
                  <a:lnTo>
                    <a:pt x="143131" y="2763280"/>
                  </a:lnTo>
                  <a:lnTo>
                    <a:pt x="215457" y="2716260"/>
                  </a:lnTo>
                  <a:lnTo>
                    <a:pt x="215457" y="0"/>
                  </a:lnTo>
                  <a:close/>
                </a:path>
              </a:pathLst>
            </a:custGeom>
            <a:solidFill>
              <a:schemeClr val="accent2">
                <a:lumMod val="75000"/>
              </a:schemeClr>
            </a:solidFill>
            <a:ln w="3049" cap="flat">
              <a:noFill/>
              <a:prstDash val="solid"/>
              <a:miter/>
            </a:ln>
          </p:spPr>
          <p:txBody>
            <a:bodyPr wrap="square" rtlCol="0" anchor="t">
              <a:noAutofit/>
            </a:bodyPr>
            <a:lstStyle/>
            <a:p>
              <a:pPr algn="ctr"/>
              <a:endParaRPr lang="en-US" sz="1400" b="1"/>
            </a:p>
          </p:txBody>
        </p:sp>
        <p:sp>
          <p:nvSpPr>
            <p:cNvPr id="6" name="Freeform: Shape 5">
              <a:extLst>
                <a:ext uri="{FF2B5EF4-FFF2-40B4-BE49-F238E27FC236}">
                  <a16:creationId xmlns:a16="http://schemas.microsoft.com/office/drawing/2014/main" id="{9B99ACCB-571F-BDEA-5A11-F1D195E6286F}"/>
                </a:ext>
              </a:extLst>
            </p:cNvPr>
            <p:cNvSpPr/>
            <p:nvPr/>
          </p:nvSpPr>
          <p:spPr>
            <a:xfrm>
              <a:off x="6256159" y="913370"/>
              <a:ext cx="215524" cy="2779949"/>
            </a:xfrm>
            <a:custGeom>
              <a:avLst/>
              <a:gdLst>
                <a:gd name="connsiteX0" fmla="*/ 0 w 215524"/>
                <a:gd name="connsiteY0" fmla="*/ 0 h 2716260"/>
                <a:gd name="connsiteX1" fmla="*/ 215524 w 215524"/>
                <a:gd name="connsiteY1" fmla="*/ 0 h 2716260"/>
                <a:gd name="connsiteX2" fmla="*/ 215524 w 215524"/>
                <a:gd name="connsiteY2" fmla="*/ 2716260 h 2716260"/>
                <a:gd name="connsiteX3" fmla="*/ 0 w 215524"/>
                <a:gd name="connsiteY3" fmla="*/ 2716260 h 2716260"/>
                <a:gd name="connsiteX0" fmla="*/ 0 w 215524"/>
                <a:gd name="connsiteY0" fmla="*/ 0 h 2716260"/>
                <a:gd name="connsiteX1" fmla="*/ 215524 w 215524"/>
                <a:gd name="connsiteY1" fmla="*/ 0 h 2716260"/>
                <a:gd name="connsiteX2" fmla="*/ 215524 w 215524"/>
                <a:gd name="connsiteY2" fmla="*/ 2716260 h 2716260"/>
                <a:gd name="connsiteX3" fmla="*/ 123210 w 215524"/>
                <a:gd name="connsiteY3" fmla="*/ 2713274 h 2716260"/>
                <a:gd name="connsiteX4" fmla="*/ 0 w 215524"/>
                <a:gd name="connsiteY4" fmla="*/ 2716260 h 2716260"/>
                <a:gd name="connsiteX5" fmla="*/ 0 w 215524"/>
                <a:gd name="connsiteY5" fmla="*/ 0 h 2716260"/>
                <a:gd name="connsiteX0" fmla="*/ 0 w 215524"/>
                <a:gd name="connsiteY0" fmla="*/ 0 h 2779949"/>
                <a:gd name="connsiteX1" fmla="*/ 215524 w 215524"/>
                <a:gd name="connsiteY1" fmla="*/ 0 h 2779949"/>
                <a:gd name="connsiteX2" fmla="*/ 215524 w 215524"/>
                <a:gd name="connsiteY2" fmla="*/ 2716260 h 2779949"/>
                <a:gd name="connsiteX3" fmla="*/ 135116 w 215524"/>
                <a:gd name="connsiteY3" fmla="*/ 2779949 h 2779949"/>
                <a:gd name="connsiteX4" fmla="*/ 0 w 215524"/>
                <a:gd name="connsiteY4" fmla="*/ 2716260 h 2779949"/>
                <a:gd name="connsiteX5" fmla="*/ 0 w 215524"/>
                <a:gd name="connsiteY5" fmla="*/ 0 h 277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524" h="2779949">
                  <a:moveTo>
                    <a:pt x="0" y="0"/>
                  </a:moveTo>
                  <a:lnTo>
                    <a:pt x="215524" y="0"/>
                  </a:lnTo>
                  <a:lnTo>
                    <a:pt x="215524" y="2716260"/>
                  </a:lnTo>
                  <a:lnTo>
                    <a:pt x="135116" y="2779949"/>
                  </a:lnTo>
                  <a:lnTo>
                    <a:pt x="0" y="2716260"/>
                  </a:lnTo>
                  <a:lnTo>
                    <a:pt x="0" y="0"/>
                  </a:lnTo>
                  <a:close/>
                </a:path>
              </a:pathLst>
            </a:custGeom>
            <a:solidFill>
              <a:schemeClr val="accent5">
                <a:lumMod val="75000"/>
              </a:schemeClr>
            </a:solidFill>
            <a:ln w="3049" cap="flat">
              <a:noFill/>
              <a:prstDash val="solid"/>
              <a:miter/>
            </a:ln>
          </p:spPr>
          <p:txBody>
            <a:bodyPr wrap="square" rtlCol="0" anchor="t">
              <a:noAutofit/>
            </a:bodyPr>
            <a:lstStyle/>
            <a:p>
              <a:pPr algn="ctr"/>
              <a:endParaRPr lang="en-US" sz="1400" b="1">
                <a:solidFill>
                  <a:schemeClr val="bg2"/>
                </a:solidFill>
              </a:endParaRPr>
            </a:p>
          </p:txBody>
        </p:sp>
      </p:grpSp>
      <p:grpSp>
        <p:nvGrpSpPr>
          <p:cNvPr id="25" name="Group 24">
            <a:extLst>
              <a:ext uri="{FF2B5EF4-FFF2-40B4-BE49-F238E27FC236}">
                <a16:creationId xmlns:a16="http://schemas.microsoft.com/office/drawing/2014/main" id="{F0C0BF04-75E8-93F2-9046-B3DBF7214183}"/>
              </a:ext>
            </a:extLst>
          </p:cNvPr>
          <p:cNvGrpSpPr/>
          <p:nvPr/>
        </p:nvGrpSpPr>
        <p:grpSpPr>
          <a:xfrm>
            <a:off x="1109004" y="3317418"/>
            <a:ext cx="10184038" cy="3195176"/>
            <a:chOff x="-3" y="3314057"/>
            <a:chExt cx="10184038" cy="3195176"/>
          </a:xfrm>
        </p:grpSpPr>
        <p:sp>
          <p:nvSpPr>
            <p:cNvPr id="9" name="Freeform: Shape 8">
              <a:extLst>
                <a:ext uri="{FF2B5EF4-FFF2-40B4-BE49-F238E27FC236}">
                  <a16:creationId xmlns:a16="http://schemas.microsoft.com/office/drawing/2014/main" id="{5C92078E-7476-61D2-A45C-ABC4ABF6A6DC}"/>
                </a:ext>
              </a:extLst>
            </p:cNvPr>
            <p:cNvSpPr/>
            <p:nvPr/>
          </p:nvSpPr>
          <p:spPr>
            <a:xfrm flipH="1">
              <a:off x="-3" y="3509791"/>
              <a:ext cx="4960538" cy="2794237"/>
            </a:xfrm>
            <a:custGeom>
              <a:avLst/>
              <a:gdLst>
                <a:gd name="connsiteX0" fmla="*/ 218806 w 5665251"/>
                <a:gd name="connsiteY0" fmla="*/ 0 h 2674397"/>
                <a:gd name="connsiteX1" fmla="*/ 0 w 5665251"/>
                <a:gd name="connsiteY1" fmla="*/ 0 h 2674397"/>
                <a:gd name="connsiteX2" fmla="*/ 3148718 w 5665251"/>
                <a:gd name="connsiteY2" fmla="*/ 2674397 h 2674397"/>
                <a:gd name="connsiteX3" fmla="*/ 5665251 w 5665251"/>
                <a:gd name="connsiteY3" fmla="*/ 2674397 h 2674397"/>
              </a:gdLst>
              <a:ahLst/>
              <a:cxnLst>
                <a:cxn ang="0">
                  <a:pos x="connsiteX0" y="connsiteY0"/>
                </a:cxn>
                <a:cxn ang="0">
                  <a:pos x="connsiteX1" y="connsiteY1"/>
                </a:cxn>
                <a:cxn ang="0">
                  <a:pos x="connsiteX2" y="connsiteY2"/>
                </a:cxn>
                <a:cxn ang="0">
                  <a:pos x="connsiteX3" y="connsiteY3"/>
                </a:cxn>
              </a:cxnLst>
              <a:rect l="l" t="t" r="r" b="b"/>
              <a:pathLst>
                <a:path w="5665251" h="2674397">
                  <a:moveTo>
                    <a:pt x="218806" y="0"/>
                  </a:moveTo>
                  <a:lnTo>
                    <a:pt x="0" y="0"/>
                  </a:lnTo>
                  <a:lnTo>
                    <a:pt x="3148718" y="2674397"/>
                  </a:lnTo>
                  <a:lnTo>
                    <a:pt x="5665251" y="2674397"/>
                  </a:lnTo>
                  <a:close/>
                </a:path>
              </a:pathLst>
            </a:custGeom>
            <a:solidFill>
              <a:schemeClr val="accent2"/>
            </a:solidFill>
            <a:ln w="3049"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7AAF54E-2A65-4CD9-4C59-73EEB1858DE5}"/>
                </a:ext>
              </a:extLst>
            </p:cNvPr>
            <p:cNvSpPr/>
            <p:nvPr/>
          </p:nvSpPr>
          <p:spPr>
            <a:xfrm flipH="1">
              <a:off x="2642715" y="3509792"/>
              <a:ext cx="2598051" cy="2794236"/>
            </a:xfrm>
            <a:custGeom>
              <a:avLst/>
              <a:gdLst>
                <a:gd name="connsiteX0" fmla="*/ 210326 w 2684217"/>
                <a:gd name="connsiteY0" fmla="*/ 0 h 2674397"/>
                <a:gd name="connsiteX1" fmla="*/ 0 w 2684217"/>
                <a:gd name="connsiteY1" fmla="*/ 0 h 2674397"/>
                <a:gd name="connsiteX2" fmla="*/ 1327819 w 2684217"/>
                <a:gd name="connsiteY2" fmla="*/ 2674397 h 2674397"/>
                <a:gd name="connsiteX3" fmla="*/ 2684217 w 2684217"/>
                <a:gd name="connsiteY3" fmla="*/ 2674397 h 2674397"/>
              </a:gdLst>
              <a:ahLst/>
              <a:cxnLst>
                <a:cxn ang="0">
                  <a:pos x="connsiteX0" y="connsiteY0"/>
                </a:cxn>
                <a:cxn ang="0">
                  <a:pos x="connsiteX1" y="connsiteY1"/>
                </a:cxn>
                <a:cxn ang="0">
                  <a:pos x="connsiteX2" y="connsiteY2"/>
                </a:cxn>
                <a:cxn ang="0">
                  <a:pos x="connsiteX3" y="connsiteY3"/>
                </a:cxn>
              </a:cxnLst>
              <a:rect l="l" t="t" r="r" b="b"/>
              <a:pathLst>
                <a:path w="2684217" h="2674397">
                  <a:moveTo>
                    <a:pt x="210326" y="0"/>
                  </a:moveTo>
                  <a:lnTo>
                    <a:pt x="0" y="0"/>
                  </a:lnTo>
                  <a:lnTo>
                    <a:pt x="1327819" y="2674397"/>
                  </a:lnTo>
                  <a:lnTo>
                    <a:pt x="2684217" y="2674397"/>
                  </a:lnTo>
                  <a:close/>
                </a:path>
              </a:pathLst>
            </a:custGeom>
            <a:solidFill>
              <a:schemeClr val="accent3"/>
            </a:solidFill>
            <a:ln w="3049"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033F9C10-0DEE-FC36-83FA-78EEF034D0F0}"/>
                </a:ext>
              </a:extLst>
            </p:cNvPr>
            <p:cNvSpPr/>
            <p:nvPr/>
          </p:nvSpPr>
          <p:spPr>
            <a:xfrm rot="21309483">
              <a:off x="5735920" y="3314057"/>
              <a:ext cx="4448115" cy="3195176"/>
            </a:xfrm>
            <a:custGeom>
              <a:avLst/>
              <a:gdLst>
                <a:gd name="connsiteX0" fmla="*/ 0 w 2685037"/>
                <a:gd name="connsiteY0" fmla="*/ 0 h 2674397"/>
                <a:gd name="connsiteX1" fmla="*/ 210389 w 2685037"/>
                <a:gd name="connsiteY1" fmla="*/ 0 h 2674397"/>
                <a:gd name="connsiteX2" fmla="*/ 2685037 w 2685037"/>
                <a:gd name="connsiteY2" fmla="*/ 2674397 h 2674397"/>
                <a:gd name="connsiteX3" fmla="*/ 1328224 w 2685037"/>
                <a:gd name="connsiteY3" fmla="*/ 2674397 h 2674397"/>
                <a:gd name="csX0" fmla="*/ 0 w 2654605"/>
                <a:gd name="csY0" fmla="*/ 0 h 2859222"/>
                <a:gd name="csX1" fmla="*/ 210389 w 2654605"/>
                <a:gd name="csY1" fmla="*/ 0 h 2859222"/>
                <a:gd name="csX2" fmla="*/ 2654605 w 2654605"/>
                <a:gd name="csY2" fmla="*/ 2859222 h 2859222"/>
                <a:gd name="csX3" fmla="*/ 1328224 w 2654605"/>
                <a:gd name="csY3" fmla="*/ 2674397 h 2859222"/>
                <a:gd name="csX4" fmla="*/ 0 w 2654605"/>
                <a:gd name="csY4" fmla="*/ 0 h 2859222"/>
                <a:gd name="csX0" fmla="*/ 0 w 2906309"/>
                <a:gd name="csY0" fmla="*/ 0 h 3064622"/>
                <a:gd name="csX1" fmla="*/ 462093 w 2906309"/>
                <a:gd name="csY1" fmla="*/ 205400 h 3064622"/>
                <a:gd name="csX2" fmla="*/ 2906309 w 2906309"/>
                <a:gd name="csY2" fmla="*/ 3064622 h 3064622"/>
                <a:gd name="csX3" fmla="*/ 1579928 w 2906309"/>
                <a:gd name="csY3" fmla="*/ 2879797 h 3064622"/>
                <a:gd name="csX4" fmla="*/ 0 w 2906309"/>
                <a:gd name="csY4" fmla="*/ 0 h 3064622"/>
                <a:gd name="csX0" fmla="*/ 0 w 2906309"/>
                <a:gd name="csY0" fmla="*/ 0 h 3064622"/>
                <a:gd name="csX1" fmla="*/ 219094 w 2906309"/>
                <a:gd name="csY1" fmla="*/ 20426 h 3064622"/>
                <a:gd name="csX2" fmla="*/ 2906309 w 2906309"/>
                <a:gd name="csY2" fmla="*/ 3064622 h 3064622"/>
                <a:gd name="csX3" fmla="*/ 1579928 w 2906309"/>
                <a:gd name="csY3" fmla="*/ 2879797 h 3064622"/>
                <a:gd name="csX4" fmla="*/ 0 w 2906309"/>
                <a:gd name="csY4" fmla="*/ 0 h 3064622"/>
                <a:gd name="csX0" fmla="*/ 0 w 2906309"/>
                <a:gd name="csY0" fmla="*/ 34447 h 3099069"/>
                <a:gd name="csX1" fmla="*/ 594533 w 2906309"/>
                <a:gd name="csY1" fmla="*/ 0 h 3099069"/>
                <a:gd name="csX2" fmla="*/ 2906309 w 2906309"/>
                <a:gd name="csY2" fmla="*/ 3099069 h 3099069"/>
                <a:gd name="csX3" fmla="*/ 1579928 w 2906309"/>
                <a:gd name="csY3" fmla="*/ 2914244 h 3099069"/>
                <a:gd name="csX4" fmla="*/ 0 w 2906309"/>
                <a:gd name="csY4" fmla="*/ 34447 h 3099069"/>
                <a:gd name="csX0" fmla="*/ 0 w 2906309"/>
                <a:gd name="csY0" fmla="*/ 9762 h 3074384"/>
                <a:gd name="csX1" fmla="*/ 131885 w 2906309"/>
                <a:gd name="csY1" fmla="*/ 0 h 3074384"/>
                <a:gd name="csX2" fmla="*/ 2906309 w 2906309"/>
                <a:gd name="csY2" fmla="*/ 3074384 h 3074384"/>
                <a:gd name="csX3" fmla="*/ 1579928 w 2906309"/>
                <a:gd name="csY3" fmla="*/ 2889559 h 3074384"/>
                <a:gd name="csX4" fmla="*/ 0 w 2906309"/>
                <a:gd name="csY4" fmla="*/ 9762 h 3074384"/>
                <a:gd name="csX0" fmla="*/ 0 w 2906309"/>
                <a:gd name="csY0" fmla="*/ 0 h 3064622"/>
                <a:gd name="csX1" fmla="*/ 141642 w 2906309"/>
                <a:gd name="csY1" fmla="*/ 49486 h 3064622"/>
                <a:gd name="csX2" fmla="*/ 2906309 w 2906309"/>
                <a:gd name="csY2" fmla="*/ 3064622 h 3064622"/>
                <a:gd name="csX3" fmla="*/ 1579928 w 2906309"/>
                <a:gd name="csY3" fmla="*/ 2879797 h 3064622"/>
                <a:gd name="csX4" fmla="*/ 0 w 2906309"/>
                <a:gd name="csY4" fmla="*/ 0 h 3064622"/>
                <a:gd name="csX0" fmla="*/ 0 w 2906309"/>
                <a:gd name="csY0" fmla="*/ 0 h 3064622"/>
                <a:gd name="csX1" fmla="*/ 129944 w 2906309"/>
                <a:gd name="csY1" fmla="*/ 23851 h 3064622"/>
                <a:gd name="csX2" fmla="*/ 2906309 w 2906309"/>
                <a:gd name="csY2" fmla="*/ 3064622 h 3064622"/>
                <a:gd name="csX3" fmla="*/ 1579928 w 2906309"/>
                <a:gd name="csY3" fmla="*/ 2879797 h 3064622"/>
                <a:gd name="csX4" fmla="*/ 0 w 2906309"/>
                <a:gd name="csY4" fmla="*/ 0 h 3064622"/>
                <a:gd name="csX0" fmla="*/ 0 w 2906309"/>
                <a:gd name="csY0" fmla="*/ 0 h 3064622"/>
                <a:gd name="csX1" fmla="*/ 130221 w 2906309"/>
                <a:gd name="csY1" fmla="*/ 19049 h 3064622"/>
                <a:gd name="csX2" fmla="*/ 2906309 w 2906309"/>
                <a:gd name="csY2" fmla="*/ 3064622 h 3064622"/>
                <a:gd name="csX3" fmla="*/ 1579928 w 2906309"/>
                <a:gd name="csY3" fmla="*/ 2879797 h 3064622"/>
                <a:gd name="csX4" fmla="*/ 0 w 2906309"/>
                <a:gd name="csY4" fmla="*/ 0 h 3064622"/>
              </a:gdLst>
              <a:ahLst/>
              <a:cxnLst>
                <a:cxn ang="0">
                  <a:pos x="csX0" y="csY0"/>
                </a:cxn>
                <a:cxn ang="0">
                  <a:pos x="csX1" y="csY1"/>
                </a:cxn>
                <a:cxn ang="0">
                  <a:pos x="csX2" y="csY2"/>
                </a:cxn>
                <a:cxn ang="0">
                  <a:pos x="csX3" y="csY3"/>
                </a:cxn>
                <a:cxn ang="0">
                  <a:pos x="csX4" y="csY4"/>
                </a:cxn>
              </a:cxnLst>
              <a:rect l="l" t="t" r="r" b="b"/>
              <a:pathLst>
                <a:path w="2906309" h="3064622">
                  <a:moveTo>
                    <a:pt x="0" y="0"/>
                  </a:moveTo>
                  <a:lnTo>
                    <a:pt x="130221" y="19049"/>
                  </a:lnTo>
                  <a:lnTo>
                    <a:pt x="2906309" y="3064622"/>
                  </a:lnTo>
                  <a:lnTo>
                    <a:pt x="1579928" y="2879797"/>
                  </a:lnTo>
                  <a:lnTo>
                    <a:pt x="0" y="0"/>
                  </a:lnTo>
                  <a:close/>
                </a:path>
              </a:pathLst>
            </a:custGeom>
            <a:solidFill>
              <a:schemeClr val="accent5"/>
            </a:solidFill>
            <a:ln w="3049" cap="flat">
              <a:noFill/>
              <a:prstDash val="solid"/>
              <a:miter/>
            </a:ln>
          </p:spPr>
          <p:txBody>
            <a:bodyPr wrap="square" rtlCol="0" anchor="ctr">
              <a:noAutofit/>
            </a:bodyPr>
            <a:lstStyle/>
            <a:p>
              <a:endParaRPr lang="en-US"/>
            </a:p>
          </p:txBody>
        </p:sp>
      </p:grpSp>
      <p:grpSp>
        <p:nvGrpSpPr>
          <p:cNvPr id="13" name="Group 12">
            <a:extLst>
              <a:ext uri="{FF2B5EF4-FFF2-40B4-BE49-F238E27FC236}">
                <a16:creationId xmlns:a16="http://schemas.microsoft.com/office/drawing/2014/main" id="{EA8EE5DC-5D69-F585-D621-C15AFD633C6E}"/>
              </a:ext>
            </a:extLst>
          </p:cNvPr>
          <p:cNvGrpSpPr/>
          <p:nvPr/>
        </p:nvGrpSpPr>
        <p:grpSpPr>
          <a:xfrm>
            <a:off x="7914556" y="2839173"/>
            <a:ext cx="3608464" cy="1947170"/>
            <a:chOff x="8856663" y="1554442"/>
            <a:chExt cx="2991394" cy="2123618"/>
          </a:xfrm>
        </p:grpSpPr>
        <p:sp>
          <p:nvSpPr>
            <p:cNvPr id="14" name="TextBox 13">
              <a:extLst>
                <a:ext uri="{FF2B5EF4-FFF2-40B4-BE49-F238E27FC236}">
                  <a16:creationId xmlns:a16="http://schemas.microsoft.com/office/drawing/2014/main" id="{7C12F6A2-D870-0FA9-CD05-603ED4344686}"/>
                </a:ext>
              </a:extLst>
            </p:cNvPr>
            <p:cNvSpPr txBox="1"/>
            <p:nvPr/>
          </p:nvSpPr>
          <p:spPr>
            <a:xfrm>
              <a:off x="8856663" y="1554442"/>
              <a:ext cx="2926080" cy="461665"/>
            </a:xfrm>
            <a:prstGeom prst="rect">
              <a:avLst/>
            </a:prstGeom>
            <a:noFill/>
          </p:spPr>
          <p:txBody>
            <a:bodyPr wrap="square" lIns="0" rIns="0" rtlCol="0" anchor="b">
              <a:spAutoFit/>
            </a:bodyPr>
            <a:lstStyle/>
            <a:p>
              <a:r>
                <a:rPr lang="en-US" sz="2400" b="1" noProof="1"/>
                <a:t>Future Works</a:t>
              </a:r>
            </a:p>
          </p:txBody>
        </p:sp>
        <p:sp>
          <p:nvSpPr>
            <p:cNvPr id="15" name="TextBox 14">
              <a:extLst>
                <a:ext uri="{FF2B5EF4-FFF2-40B4-BE49-F238E27FC236}">
                  <a16:creationId xmlns:a16="http://schemas.microsoft.com/office/drawing/2014/main" id="{20CBEA77-3E7F-04B3-71EA-45C4109ADD49}"/>
                </a:ext>
              </a:extLst>
            </p:cNvPr>
            <p:cNvSpPr txBox="1"/>
            <p:nvPr/>
          </p:nvSpPr>
          <p:spPr>
            <a:xfrm>
              <a:off x="8921977" y="1925881"/>
              <a:ext cx="2926080" cy="1752179"/>
            </a:xfrm>
            <a:prstGeom prst="rect">
              <a:avLst/>
            </a:prstGeom>
            <a:noFill/>
          </p:spPr>
          <p:txBody>
            <a:bodyPr wrap="square" lIns="0" rIns="0" rtlCol="0" anchor="t">
              <a:spAutoFit/>
            </a:bodyPr>
            <a:lstStyle/>
            <a:p>
              <a:pPr marL="742950" lvl="1" indent="-285750">
                <a:lnSpc>
                  <a:spcPct val="120000"/>
                </a:lnSpc>
                <a:buFont typeface="Arial"/>
                <a:buChar char="•"/>
              </a:pPr>
              <a:r>
                <a:rPr lang="en-US" sz="1200"/>
                <a:t>Improve labeling using advanced NLP techniques</a:t>
              </a:r>
            </a:p>
            <a:p>
              <a:pPr marL="742950" lvl="1" indent="-285750">
                <a:lnSpc>
                  <a:spcPct val="120000"/>
                </a:lnSpc>
                <a:buFont typeface="Arial"/>
                <a:buChar char="•"/>
              </a:pPr>
              <a:r>
                <a:rPr lang="en-US" sz="1200"/>
                <a:t>Incorporate additional variables (aircraft type)</a:t>
              </a:r>
            </a:p>
            <a:p>
              <a:pPr marL="742950" lvl="1" indent="-285750">
                <a:lnSpc>
                  <a:spcPct val="120000"/>
                </a:lnSpc>
                <a:buFont typeface="Arial"/>
                <a:buChar char="•"/>
              </a:pPr>
              <a:r>
                <a:rPr lang="en-US" sz="1200"/>
                <a:t>Apply alternative causal discovery methods (e.g., KCI)</a:t>
              </a:r>
            </a:p>
            <a:p>
              <a:pPr algn="just"/>
              <a:endParaRPr lang="en-US" sz="1200" noProof="1">
                <a:solidFill>
                  <a:schemeClr val="tx1">
                    <a:lumMod val="65000"/>
                    <a:lumOff val="35000"/>
                  </a:schemeClr>
                </a:solidFill>
              </a:endParaRPr>
            </a:p>
          </p:txBody>
        </p:sp>
      </p:grpSp>
      <p:grpSp>
        <p:nvGrpSpPr>
          <p:cNvPr id="16" name="Group 15">
            <a:extLst>
              <a:ext uri="{FF2B5EF4-FFF2-40B4-BE49-F238E27FC236}">
                <a16:creationId xmlns:a16="http://schemas.microsoft.com/office/drawing/2014/main" id="{4FC4A349-FEAA-038C-FEB7-A53718CA09C3}"/>
              </a:ext>
            </a:extLst>
          </p:cNvPr>
          <p:cNvGrpSpPr/>
          <p:nvPr/>
        </p:nvGrpSpPr>
        <p:grpSpPr>
          <a:xfrm>
            <a:off x="1236379" y="3218237"/>
            <a:ext cx="2926080" cy="1290153"/>
            <a:chOff x="332936" y="2627766"/>
            <a:chExt cx="2926080" cy="1290153"/>
          </a:xfrm>
        </p:grpSpPr>
        <p:sp>
          <p:nvSpPr>
            <p:cNvPr id="17" name="TextBox 16">
              <a:extLst>
                <a:ext uri="{FF2B5EF4-FFF2-40B4-BE49-F238E27FC236}">
                  <a16:creationId xmlns:a16="http://schemas.microsoft.com/office/drawing/2014/main" id="{8074D8D1-6FA5-20DB-A917-889337C11366}"/>
                </a:ext>
              </a:extLst>
            </p:cNvPr>
            <p:cNvSpPr txBox="1"/>
            <p:nvPr/>
          </p:nvSpPr>
          <p:spPr>
            <a:xfrm>
              <a:off x="332936" y="2627766"/>
              <a:ext cx="2803513" cy="461665"/>
            </a:xfrm>
            <a:prstGeom prst="rect">
              <a:avLst/>
            </a:prstGeom>
            <a:noFill/>
          </p:spPr>
          <p:txBody>
            <a:bodyPr wrap="square" lIns="0" rIns="0" rtlCol="0" anchor="b">
              <a:spAutoFit/>
            </a:bodyPr>
            <a:lstStyle/>
            <a:p>
              <a:pPr algn="r"/>
              <a:r>
                <a:rPr lang="en-US" sz="2400" b="1" noProof="1"/>
                <a:t>Impact</a:t>
              </a:r>
            </a:p>
          </p:txBody>
        </p:sp>
        <p:sp>
          <p:nvSpPr>
            <p:cNvPr id="18" name="TextBox 17">
              <a:extLst>
                <a:ext uri="{FF2B5EF4-FFF2-40B4-BE49-F238E27FC236}">
                  <a16:creationId xmlns:a16="http://schemas.microsoft.com/office/drawing/2014/main" id="{1F2FA29C-2EB7-2703-69E4-34EBCF084FF8}"/>
                </a:ext>
              </a:extLst>
            </p:cNvPr>
            <p:cNvSpPr txBox="1"/>
            <p:nvPr/>
          </p:nvSpPr>
          <p:spPr>
            <a:xfrm>
              <a:off x="332936" y="3086922"/>
              <a:ext cx="2926080"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a:t>Enables data-driven aviation risk assessment</a:t>
              </a:r>
            </a:p>
            <a:p>
              <a:pPr marL="171450" lvl="1" indent="-171450">
                <a:buFont typeface="Arial" panose="020B0604020202020204" pitchFamily="34" charset="0"/>
                <a:buChar char="•"/>
              </a:pPr>
              <a:r>
                <a:rPr lang="en-US" sz="1200"/>
                <a:t>Supports improved safety policies and operational decisions</a:t>
              </a:r>
            </a:p>
          </p:txBody>
        </p:sp>
      </p:grpSp>
      <p:grpSp>
        <p:nvGrpSpPr>
          <p:cNvPr id="19" name="Group 18">
            <a:extLst>
              <a:ext uri="{FF2B5EF4-FFF2-40B4-BE49-F238E27FC236}">
                <a16:creationId xmlns:a16="http://schemas.microsoft.com/office/drawing/2014/main" id="{001768F3-D78F-BB68-9011-4D8F87F4EB50}"/>
              </a:ext>
            </a:extLst>
          </p:cNvPr>
          <p:cNvGrpSpPr/>
          <p:nvPr/>
        </p:nvGrpSpPr>
        <p:grpSpPr>
          <a:xfrm>
            <a:off x="7979869" y="1273431"/>
            <a:ext cx="3282925" cy="1465213"/>
            <a:chOff x="8921977" y="1464216"/>
            <a:chExt cx="2926080" cy="1641668"/>
          </a:xfrm>
        </p:grpSpPr>
        <p:sp>
          <p:nvSpPr>
            <p:cNvPr id="20" name="TextBox 19">
              <a:extLst>
                <a:ext uri="{FF2B5EF4-FFF2-40B4-BE49-F238E27FC236}">
                  <a16:creationId xmlns:a16="http://schemas.microsoft.com/office/drawing/2014/main" id="{8F2EB8F8-0E83-CECC-C6D4-85356E1045E3}"/>
                </a:ext>
              </a:extLst>
            </p:cNvPr>
            <p:cNvSpPr txBox="1"/>
            <p:nvPr/>
          </p:nvSpPr>
          <p:spPr>
            <a:xfrm>
              <a:off x="8921977" y="1464216"/>
              <a:ext cx="2926080" cy="461665"/>
            </a:xfrm>
            <a:prstGeom prst="rect">
              <a:avLst/>
            </a:prstGeom>
            <a:noFill/>
          </p:spPr>
          <p:txBody>
            <a:bodyPr wrap="square" lIns="0" rIns="0" rtlCol="0" anchor="b">
              <a:spAutoFit/>
            </a:bodyPr>
            <a:lstStyle/>
            <a:p>
              <a:r>
                <a:rPr lang="en-US" sz="2400" b="1" noProof="1"/>
                <a:t>Limitations</a:t>
              </a:r>
            </a:p>
          </p:txBody>
        </p:sp>
        <p:sp>
          <p:nvSpPr>
            <p:cNvPr id="21" name="TextBox 20">
              <a:extLst>
                <a:ext uri="{FF2B5EF4-FFF2-40B4-BE49-F238E27FC236}">
                  <a16:creationId xmlns:a16="http://schemas.microsoft.com/office/drawing/2014/main" id="{090BEC70-2A01-2099-0B16-7B4119E1BD1D}"/>
                </a:ext>
              </a:extLst>
            </p:cNvPr>
            <p:cNvSpPr txBox="1"/>
            <p:nvPr/>
          </p:nvSpPr>
          <p:spPr>
            <a:xfrm>
              <a:off x="8921977" y="1925881"/>
              <a:ext cx="2926080" cy="1180003"/>
            </a:xfrm>
            <a:prstGeom prst="rect">
              <a:avLst/>
            </a:prstGeom>
            <a:noFill/>
          </p:spPr>
          <p:txBody>
            <a:bodyPr wrap="square" lIns="0" rIns="0" rtlCol="0" anchor="t">
              <a:spAutoFit/>
            </a:bodyPr>
            <a:lstStyle/>
            <a:p>
              <a:pPr marL="742950" lvl="1" indent="-285750">
                <a:lnSpc>
                  <a:spcPct val="120000"/>
                </a:lnSpc>
                <a:buFont typeface="Arial"/>
                <a:buChar char="•"/>
              </a:pPr>
              <a:r>
                <a:rPr lang="en-US" sz="1200"/>
                <a:t>Observational data limits full causal certainty</a:t>
              </a:r>
            </a:p>
            <a:p>
              <a:pPr marL="742950" lvl="1" indent="-285750">
                <a:lnSpc>
                  <a:spcPct val="120000"/>
                </a:lnSpc>
                <a:buFont typeface="Arial"/>
                <a:buChar char="•"/>
              </a:pPr>
              <a:r>
                <a:rPr lang="en-US" sz="1200"/>
                <a:t>Presence of hidden confounders (e.g., risk tolerance, mission type)</a:t>
              </a:r>
            </a:p>
          </p:txBody>
        </p:sp>
      </p:grpSp>
      <p:sp>
        <p:nvSpPr>
          <p:cNvPr id="24" name="TextBox 23">
            <a:extLst>
              <a:ext uri="{FF2B5EF4-FFF2-40B4-BE49-F238E27FC236}">
                <a16:creationId xmlns:a16="http://schemas.microsoft.com/office/drawing/2014/main" id="{83AC7663-E4A7-1D05-2F90-ACFE3D6B9E2D}"/>
              </a:ext>
            </a:extLst>
          </p:cNvPr>
          <p:cNvSpPr txBox="1"/>
          <p:nvPr/>
        </p:nvSpPr>
        <p:spPr>
          <a:xfrm>
            <a:off x="1212123" y="2201877"/>
            <a:ext cx="2926080"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a:t>Causal modeling provides deeper insights than correlation-based analysis</a:t>
            </a:r>
          </a:p>
          <a:p>
            <a:pPr marL="171450" lvl="1" indent="-171450">
              <a:buFont typeface="Arial" panose="020B0604020202020204" pitchFamily="34" charset="0"/>
              <a:buChar char="•"/>
            </a:pPr>
            <a:r>
              <a:rPr lang="en-US" sz="1200"/>
              <a:t>Weather and CFIT are primary drivers of crash severity</a:t>
            </a:r>
          </a:p>
        </p:txBody>
      </p:sp>
      <p:sp>
        <p:nvSpPr>
          <p:cNvPr id="27" name="TextBox 26">
            <a:extLst>
              <a:ext uri="{FF2B5EF4-FFF2-40B4-BE49-F238E27FC236}">
                <a16:creationId xmlns:a16="http://schemas.microsoft.com/office/drawing/2014/main" id="{4FAF7D07-3997-7B8C-060E-6538281E1921}"/>
              </a:ext>
            </a:extLst>
          </p:cNvPr>
          <p:cNvSpPr txBox="1"/>
          <p:nvPr/>
        </p:nvSpPr>
        <p:spPr>
          <a:xfrm>
            <a:off x="1158791" y="1741467"/>
            <a:ext cx="2926080" cy="461665"/>
          </a:xfrm>
          <a:prstGeom prst="rect">
            <a:avLst/>
          </a:prstGeom>
          <a:noFill/>
        </p:spPr>
        <p:txBody>
          <a:bodyPr wrap="square" lIns="0" rIns="0" rtlCol="0" anchor="b">
            <a:spAutoFit/>
          </a:bodyPr>
          <a:lstStyle/>
          <a:p>
            <a:pPr algn="r"/>
            <a:r>
              <a:rPr lang="en-US" sz="2400" b="1" noProof="1"/>
              <a:t>Key Takeaways</a:t>
            </a:r>
          </a:p>
        </p:txBody>
      </p:sp>
      <p:pic>
        <p:nvPicPr>
          <p:cNvPr id="32" name="Graphic 31" descr="Old Key with solid fill">
            <a:extLst>
              <a:ext uri="{FF2B5EF4-FFF2-40B4-BE49-F238E27FC236}">
                <a16:creationId xmlns:a16="http://schemas.microsoft.com/office/drawing/2014/main" id="{6D65B3C6-D595-7C1A-3803-C60616A631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16134" y="5437712"/>
            <a:ext cx="672607" cy="672607"/>
          </a:xfrm>
          <a:prstGeom prst="rect">
            <a:avLst/>
          </a:prstGeom>
        </p:spPr>
      </p:pic>
      <p:sp>
        <p:nvSpPr>
          <p:cNvPr id="34" name="Freeform: Shape 33">
            <a:extLst>
              <a:ext uri="{FF2B5EF4-FFF2-40B4-BE49-F238E27FC236}">
                <a16:creationId xmlns:a16="http://schemas.microsoft.com/office/drawing/2014/main" id="{15A2C6F0-A34E-3939-A2E5-08B1799F9673}"/>
              </a:ext>
            </a:extLst>
          </p:cNvPr>
          <p:cNvSpPr/>
          <p:nvPr/>
        </p:nvSpPr>
        <p:spPr>
          <a:xfrm>
            <a:off x="6427894" y="3513154"/>
            <a:ext cx="2693478" cy="2794236"/>
          </a:xfrm>
          <a:custGeom>
            <a:avLst/>
            <a:gdLst>
              <a:gd name="connsiteX0" fmla="*/ 210326 w 2684217"/>
              <a:gd name="connsiteY0" fmla="*/ 0 h 2674397"/>
              <a:gd name="connsiteX1" fmla="*/ 0 w 2684217"/>
              <a:gd name="connsiteY1" fmla="*/ 0 h 2674397"/>
              <a:gd name="connsiteX2" fmla="*/ 1327819 w 2684217"/>
              <a:gd name="connsiteY2" fmla="*/ 2674397 h 2674397"/>
              <a:gd name="connsiteX3" fmla="*/ 2684217 w 2684217"/>
              <a:gd name="connsiteY3" fmla="*/ 2674397 h 2674397"/>
            </a:gdLst>
            <a:ahLst/>
            <a:cxnLst>
              <a:cxn ang="0">
                <a:pos x="connsiteX0" y="connsiteY0"/>
              </a:cxn>
              <a:cxn ang="0">
                <a:pos x="connsiteX1" y="connsiteY1"/>
              </a:cxn>
              <a:cxn ang="0">
                <a:pos x="connsiteX2" y="connsiteY2"/>
              </a:cxn>
              <a:cxn ang="0">
                <a:pos x="connsiteX3" y="connsiteY3"/>
              </a:cxn>
            </a:cxnLst>
            <a:rect l="l" t="t" r="r" b="b"/>
            <a:pathLst>
              <a:path w="2684217" h="2674397">
                <a:moveTo>
                  <a:pt x="210326" y="0"/>
                </a:moveTo>
                <a:lnTo>
                  <a:pt x="0" y="0"/>
                </a:lnTo>
                <a:lnTo>
                  <a:pt x="1327819" y="2674397"/>
                </a:lnTo>
                <a:lnTo>
                  <a:pt x="2684217" y="2674397"/>
                </a:lnTo>
                <a:close/>
              </a:path>
            </a:pathLst>
          </a:custGeom>
          <a:solidFill>
            <a:schemeClr val="accent4"/>
          </a:solidFill>
          <a:ln w="3049" cap="flat">
            <a:noFill/>
            <a:prstDash val="solid"/>
            <a:miter/>
          </a:ln>
        </p:spPr>
        <p:txBody>
          <a:bodyPr wrap="square" rtlCol="0" anchor="ctr">
            <a:noAutofit/>
          </a:bodyPr>
          <a:lstStyle/>
          <a:p>
            <a:endParaRPr lang="en-US"/>
          </a:p>
        </p:txBody>
      </p:sp>
      <p:pic>
        <p:nvPicPr>
          <p:cNvPr id="38" name="Graphic 37" descr="Future with solid fill">
            <a:extLst>
              <a:ext uri="{FF2B5EF4-FFF2-40B4-BE49-F238E27FC236}">
                <a16:creationId xmlns:a16="http://schemas.microsoft.com/office/drawing/2014/main" id="{04D6C164-189B-93CB-BB37-9FCD3BA3C1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16362" y="5590801"/>
            <a:ext cx="601055" cy="601055"/>
          </a:xfrm>
          <a:prstGeom prst="rect">
            <a:avLst/>
          </a:prstGeom>
        </p:spPr>
      </p:pic>
      <p:pic>
        <p:nvPicPr>
          <p:cNvPr id="41" name="Graphic 40" descr="Exclamation mark with solid fill">
            <a:extLst>
              <a:ext uri="{FF2B5EF4-FFF2-40B4-BE49-F238E27FC236}">
                <a16:creationId xmlns:a16="http://schemas.microsoft.com/office/drawing/2014/main" id="{EAFCDCFD-2E6D-B145-E3FC-D279731571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14556" y="5561763"/>
            <a:ext cx="610522" cy="610522"/>
          </a:xfrm>
          <a:prstGeom prst="rect">
            <a:avLst/>
          </a:prstGeom>
        </p:spPr>
      </p:pic>
      <p:pic>
        <p:nvPicPr>
          <p:cNvPr id="43" name="Graphic 42" descr="Splash1 with solid fill">
            <a:extLst>
              <a:ext uri="{FF2B5EF4-FFF2-40B4-BE49-F238E27FC236}">
                <a16:creationId xmlns:a16="http://schemas.microsoft.com/office/drawing/2014/main" id="{FD06E498-D7CD-6657-78FB-CB00F64FE95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34682" y="5561763"/>
            <a:ext cx="628438" cy="628438"/>
          </a:xfrm>
          <a:prstGeom prst="rect">
            <a:avLst/>
          </a:prstGeom>
        </p:spPr>
      </p:pic>
      <p:sp>
        <p:nvSpPr>
          <p:cNvPr id="7" name="TextBox 6">
            <a:extLst>
              <a:ext uri="{FF2B5EF4-FFF2-40B4-BE49-F238E27FC236}">
                <a16:creationId xmlns:a16="http://schemas.microsoft.com/office/drawing/2014/main" id="{C4DA0A18-77EB-33A3-2C18-CDA2C95297A1}"/>
              </a:ext>
            </a:extLst>
          </p:cNvPr>
          <p:cNvSpPr txBox="1"/>
          <p:nvPr/>
        </p:nvSpPr>
        <p:spPr>
          <a:xfrm>
            <a:off x="10817817" y="6426631"/>
            <a:ext cx="857573" cy="307777"/>
          </a:xfrm>
          <a:prstGeom prst="rect">
            <a:avLst/>
          </a:prstGeom>
          <a:noFill/>
        </p:spPr>
        <p:txBody>
          <a:bodyPr wrap="square" rtlCol="0">
            <a:spAutoFit/>
          </a:bodyPr>
          <a:lstStyle/>
          <a:p>
            <a:r>
              <a:rPr lang="en-US"/>
              <a:t>Brock</a:t>
            </a:r>
          </a:p>
        </p:txBody>
      </p:sp>
    </p:spTree>
    <p:extLst>
      <p:ext uri="{BB962C8B-B14F-4D97-AF65-F5344CB8AC3E}">
        <p14:creationId xmlns:p14="http://schemas.microsoft.com/office/powerpoint/2010/main" val="1938641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F8DCD-F98B-4319-34CF-73C1D4FBC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F6177-2E5B-ECD5-1E45-9402215E3648}"/>
              </a:ext>
            </a:extLst>
          </p:cNvPr>
          <p:cNvSpPr>
            <a:spLocks noGrp="1"/>
          </p:cNvSpPr>
          <p:nvPr>
            <p:ph type="title"/>
          </p:nvPr>
        </p:nvSpPr>
        <p:spPr/>
        <p:txBody>
          <a:bodyPr/>
          <a:lstStyle/>
          <a:p>
            <a:r>
              <a:rPr lang="en-US"/>
              <a:t>References</a:t>
            </a:r>
          </a:p>
        </p:txBody>
      </p:sp>
      <p:graphicFrame>
        <p:nvGraphicFramePr>
          <p:cNvPr id="8" name="Content Placeholder 7">
            <a:extLst>
              <a:ext uri="{FF2B5EF4-FFF2-40B4-BE49-F238E27FC236}">
                <a16:creationId xmlns:a16="http://schemas.microsoft.com/office/drawing/2014/main" id="{444C6600-D369-5754-17FB-B236E2C69B1D}"/>
              </a:ext>
            </a:extLst>
          </p:cNvPr>
          <p:cNvGraphicFramePr>
            <a:graphicFrameLocks noGrp="1"/>
          </p:cNvGraphicFramePr>
          <p:nvPr>
            <p:ph idx="4294967295"/>
            <p:extLst>
              <p:ext uri="{D42A27DB-BD31-4B8C-83A1-F6EECF244321}">
                <p14:modId xmlns:p14="http://schemas.microsoft.com/office/powerpoint/2010/main" val="3682928545"/>
              </p:ext>
            </p:extLst>
          </p:nvPr>
        </p:nvGraphicFramePr>
        <p:xfrm>
          <a:off x="0" y="1536700"/>
          <a:ext cx="10290175" cy="4554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AB859739-5424-B6AC-B2CF-E7539A5C4B10}"/>
              </a:ext>
            </a:extLst>
          </p:cNvPr>
          <p:cNvSpPr txBox="1"/>
          <p:nvPr/>
        </p:nvSpPr>
        <p:spPr>
          <a:xfrm>
            <a:off x="10817817" y="6426631"/>
            <a:ext cx="857573" cy="307777"/>
          </a:xfrm>
          <a:prstGeom prst="rect">
            <a:avLst/>
          </a:prstGeom>
          <a:noFill/>
        </p:spPr>
        <p:txBody>
          <a:bodyPr wrap="square" rtlCol="0">
            <a:spAutoFit/>
          </a:bodyPr>
          <a:lstStyle/>
          <a:p>
            <a:r>
              <a:rPr lang="en-US"/>
              <a:t>Clancy</a:t>
            </a:r>
          </a:p>
        </p:txBody>
      </p:sp>
    </p:spTree>
    <p:extLst>
      <p:ext uri="{BB962C8B-B14F-4D97-AF65-F5344CB8AC3E}">
        <p14:creationId xmlns:p14="http://schemas.microsoft.com/office/powerpoint/2010/main" val="239043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ociology Major for College: Émile Durkheim Theories">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012cdfd-021c-42b1-a595-62461c0458f3" xsi:nil="true"/>
    <lcf76f155ced4ddcb4097134ff3c332f xmlns="c983c866-c113-4e13-9595-49130615d1c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76DAAC96B60144AD9D45D0DE95DD51" ma:contentTypeVersion="10" ma:contentTypeDescription="Create a new document." ma:contentTypeScope="" ma:versionID="4f869096d7547f8fa220409ac400f3c7">
  <xsd:schema xmlns:xsd="http://www.w3.org/2001/XMLSchema" xmlns:xs="http://www.w3.org/2001/XMLSchema" xmlns:p="http://schemas.microsoft.com/office/2006/metadata/properties" xmlns:ns2="c983c866-c113-4e13-9595-49130615d1c5" xmlns:ns3="2012cdfd-021c-42b1-a595-62461c0458f3" targetNamespace="http://schemas.microsoft.com/office/2006/metadata/properties" ma:root="true" ma:fieldsID="fc102c2c886a1190c794b08cf94478ac" ns2:_="" ns3:_="">
    <xsd:import namespace="c983c866-c113-4e13-9595-49130615d1c5"/>
    <xsd:import namespace="2012cdfd-021c-42b1-a595-62461c0458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83c866-c113-4e13-9595-49130615d1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4ee6b6e-1dad-49a7-85d1-bf6bd71129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12cdfd-021c-42b1-a595-62461c0458f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a11e49e-7ef9-4b53-a625-14170420bfb8}" ma:internalName="TaxCatchAll" ma:showField="CatchAllData" ma:web="2012cdfd-021c-42b1-a595-62461c0458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1EA7DC-F727-4E6D-A07E-21F5E719CB63}">
  <ds:schemaRefs>
    <ds:schemaRef ds:uri="http://schemas.microsoft.com/sharepoint/v3/contenttype/forms"/>
  </ds:schemaRefs>
</ds:datastoreItem>
</file>

<file path=customXml/itemProps2.xml><?xml version="1.0" encoding="utf-8"?>
<ds:datastoreItem xmlns:ds="http://schemas.openxmlformats.org/officeDocument/2006/customXml" ds:itemID="{BC9C3160-C75C-4A0C-96EF-4DCB21F4A085}">
  <ds:schemaRef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2012cdfd-021c-42b1-a595-62461c0458f3"/>
    <ds:schemaRef ds:uri="c983c866-c113-4e13-9595-49130615d1c5"/>
    <ds:schemaRef ds:uri="http://www.w3.org/XML/1998/namespace"/>
    <ds:schemaRef ds:uri="http://purl.org/dc/terms/"/>
  </ds:schemaRefs>
</ds:datastoreItem>
</file>

<file path=customXml/itemProps3.xml><?xml version="1.0" encoding="utf-8"?>
<ds:datastoreItem xmlns:ds="http://schemas.openxmlformats.org/officeDocument/2006/customXml" ds:itemID="{0C5510C4-B7F9-42B6-8B17-87B2930033AA}">
  <ds:schemaRefs>
    <ds:schemaRef ds:uri="2012cdfd-021c-42b1-a595-62461c0458f3"/>
    <ds:schemaRef ds:uri="c983c866-c113-4e13-9595-49130615d1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Sociology Major for College_ Émile Durkheim Theories by Slidesgo</Template>
  <TotalTime>0</TotalTime>
  <Words>2013</Words>
  <Application>Microsoft Office PowerPoint</Application>
  <PresentationFormat>Widescreen</PresentationFormat>
  <Paragraphs>455</Paragraphs>
  <Slides>17</Slides>
  <Notes>17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Aptos Narrow</vt:lpstr>
      <vt:lpstr>Arial</vt:lpstr>
      <vt:lpstr>Calibri</vt:lpstr>
      <vt:lpstr>Cambria Math</vt:lpstr>
      <vt:lpstr>Dosis</vt:lpstr>
      <vt:lpstr>Farro</vt:lpstr>
      <vt:lpstr>Farro Medium</vt:lpstr>
      <vt:lpstr>Nunito Light</vt:lpstr>
      <vt:lpstr>Proxima Nova</vt:lpstr>
      <vt:lpstr>Proxima Nova Semibold</vt:lpstr>
      <vt:lpstr>Sociology Major for College: Émile Durkheim Theories</vt:lpstr>
      <vt:lpstr>Slidesgo Final Pages</vt:lpstr>
      <vt:lpstr>A Causal Analysis of Aviation Fatalities and Their Contributing Factors </vt:lpstr>
      <vt:lpstr>Introduction of Presenters</vt:lpstr>
      <vt:lpstr>Why Statistics are Important</vt:lpstr>
      <vt:lpstr>What Drives Aviation Fatalities in Fatal Crashes?</vt:lpstr>
      <vt:lpstr>From Raw Data to a Causal Problem</vt:lpstr>
      <vt:lpstr>Results – Data Preparation &amp; Classification</vt:lpstr>
      <vt:lpstr>Causal Modeling Approach</vt:lpstr>
      <vt:lpstr>Causal Discovery Algorithm </vt:lpstr>
      <vt:lpstr>Assumptions</vt:lpstr>
      <vt:lpstr>Quantifying Causal Effects </vt:lpstr>
      <vt:lpstr>Isolation of Causal Effect</vt:lpstr>
      <vt:lpstr>Results – Causal Structure Modeling</vt:lpstr>
      <vt:lpstr>Results – Key Causal Findings</vt:lpstr>
      <vt:lpstr>Results – Causal Impact on Lethality</vt:lpstr>
      <vt:lpstr>Average Treatment Effect Results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Causal Analysis of Aviation Fatalities and Their Contributing Factors</dc:title>
  <dc:creator>Clancy Crawford</dc:creator>
  <cp:lastModifiedBy>Crawford, Clancy K.</cp:lastModifiedBy>
  <cp:revision>2</cp:revision>
  <dcterms:created xsi:type="dcterms:W3CDTF">2026-04-13T20:37:08Z</dcterms:created>
  <dcterms:modified xsi:type="dcterms:W3CDTF">2026-06-26T17:44:12Z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0x010100C276DAAC96B60144AD9D45D0DE95DD51</vt:lpwstr>
  </property>
  <property fmtid="{D5CDD505-2E9C-101B-9397-08002B2CF9AE}" pid="3" name="MediaServiceImageTags">
    <vt:lpwstr/>
  </property>
</Properties>
</file>